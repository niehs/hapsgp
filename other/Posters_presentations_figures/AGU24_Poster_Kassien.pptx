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61" r:id="rId2"/>
  </p:sldIdLst>
  <p:sldSz cx="43891200" cy="32918400"/>
  <p:notesSz cx="14833600" cy="9448800"/>
  <p:embeddedFontLst>
    <p:embeddedFont>
      <p:font typeface="Calibri" panose="020F0502020204030204" pitchFamily="34" charset="0"/>
      <p:regular r:id="rId5"/>
      <p:bold r:id="rId6"/>
      <p:italic r:id="rId7"/>
      <p:boldItalic r:id="rId8"/>
    </p:embeddedFont>
    <p:embeddedFont>
      <p:font typeface="Cambria Math" panose="02040503050406030204" pitchFamily="18" charset="0"/>
      <p:regular r:id="rId9"/>
    </p:embeddedFont>
  </p:embeddedFont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16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1pPr>
    <a:lvl2pPr marL="384048" algn="l" rtl="0" fontAlgn="base">
      <a:spcBef>
        <a:spcPct val="0"/>
      </a:spcBef>
      <a:spcAft>
        <a:spcPct val="0"/>
      </a:spcAft>
      <a:defRPr sz="2016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2pPr>
    <a:lvl3pPr marL="768096" algn="l" rtl="0" fontAlgn="base">
      <a:spcBef>
        <a:spcPct val="0"/>
      </a:spcBef>
      <a:spcAft>
        <a:spcPct val="0"/>
      </a:spcAft>
      <a:defRPr sz="2016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3pPr>
    <a:lvl4pPr marL="1152144" algn="l" rtl="0" fontAlgn="base">
      <a:spcBef>
        <a:spcPct val="0"/>
      </a:spcBef>
      <a:spcAft>
        <a:spcPct val="0"/>
      </a:spcAft>
      <a:defRPr sz="2016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4pPr>
    <a:lvl5pPr marL="1536192" algn="l" rtl="0" fontAlgn="base">
      <a:spcBef>
        <a:spcPct val="0"/>
      </a:spcBef>
      <a:spcAft>
        <a:spcPct val="0"/>
      </a:spcAft>
      <a:defRPr sz="2016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5pPr>
    <a:lvl6pPr marL="1920240" algn="l" defTabSz="768096" rtl="0" eaLnBrk="1" latinLnBrk="0" hangingPunct="1">
      <a:defRPr sz="2016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6pPr>
    <a:lvl7pPr marL="2304288" algn="l" defTabSz="768096" rtl="0" eaLnBrk="1" latinLnBrk="0" hangingPunct="1">
      <a:defRPr sz="2016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7pPr>
    <a:lvl8pPr marL="2688336" algn="l" defTabSz="768096" rtl="0" eaLnBrk="1" latinLnBrk="0" hangingPunct="1">
      <a:defRPr sz="2016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8pPr>
    <a:lvl9pPr marL="3072384" algn="l" defTabSz="768096" rtl="0" eaLnBrk="1" latinLnBrk="0" hangingPunct="1">
      <a:defRPr sz="2016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74" userDrawn="1">
          <p15:clr>
            <a:srgbClr val="A4A3A4"/>
          </p15:clr>
        </p15:guide>
        <p15:guide id="2" orient="horz" pos="511" userDrawn="1">
          <p15:clr>
            <a:srgbClr val="A4A3A4"/>
          </p15:clr>
        </p15:guide>
        <p15:guide id="3" orient="horz" pos="20147" userDrawn="1">
          <p15:clr>
            <a:srgbClr val="A4A3A4"/>
          </p15:clr>
        </p15:guide>
        <p15:guide id="4" orient="horz" pos="1178" userDrawn="1">
          <p15:clr>
            <a:srgbClr val="A4A3A4"/>
          </p15:clr>
        </p15:guide>
        <p15:guide id="5" orient="horz" pos="19204" userDrawn="1">
          <p15:clr>
            <a:srgbClr val="A4A3A4"/>
          </p15:clr>
        </p15:guide>
        <p15:guide id="6" pos="13824" userDrawn="1">
          <p15:clr>
            <a:srgbClr val="A4A3A4"/>
          </p15:clr>
        </p15:guide>
        <p15:guide id="7" pos="741" userDrawn="1">
          <p15:clr>
            <a:srgbClr val="A4A3A4"/>
          </p15:clr>
        </p15:guide>
        <p15:guide id="8" pos="2690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81E57"/>
    <a:srgbClr val="134679"/>
    <a:srgbClr val="CC0000"/>
    <a:srgbClr val="6666FF"/>
    <a:srgbClr val="00CCFF"/>
    <a:srgbClr val="33CCFF"/>
    <a:srgbClr val="66CCFF"/>
    <a:srgbClr val="DDF2FF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25"/>
    <p:restoredTop sz="95630"/>
  </p:normalViewPr>
  <p:slideViewPr>
    <p:cSldViewPr showGuides="1">
      <p:cViewPr>
        <p:scale>
          <a:sx n="33" d="100"/>
          <a:sy n="33" d="100"/>
        </p:scale>
        <p:origin x="1064" y="-1424"/>
      </p:cViewPr>
      <p:guideLst>
        <p:guide orient="horz" pos="2474"/>
        <p:guide orient="horz" pos="511"/>
        <p:guide orient="horz" pos="20147"/>
        <p:guide orient="horz" pos="1178"/>
        <p:guide orient="horz" pos="19204"/>
        <p:guide pos="13824"/>
        <p:guide pos="741"/>
        <p:guide pos="26907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3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viewProps" Target="viewProps.xml"/><Relationship Id="rId5" Type="http://schemas.openxmlformats.org/officeDocument/2006/relationships/font" Target="fonts/font1.fntdata"/><Relationship Id="rId10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9" Type="http://schemas.openxmlformats.org/officeDocument/2006/relationships/font" Target="fonts/font5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64325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8606" tIns="69299" rIns="138606" bIns="69299" numCol="1" anchor="t" anchorCtr="0" compatLnSpc="1">
            <a:prstTxWarp prst="textNoShape">
              <a:avLst/>
            </a:prstTxWarp>
          </a:bodyPr>
          <a:lstStyle>
            <a:lvl1pPr defTabSz="1385888">
              <a:defRPr sz="18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8401050" y="0"/>
            <a:ext cx="64325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8606" tIns="69299" rIns="138606" bIns="69299" numCol="1" anchor="t" anchorCtr="0" compatLnSpc="1">
            <a:prstTxWarp prst="textNoShape">
              <a:avLst/>
            </a:prstTxWarp>
          </a:bodyPr>
          <a:lstStyle>
            <a:lvl1pPr algn="r" defTabSz="1385888">
              <a:defRPr sz="18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24925"/>
            <a:ext cx="64325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8606" tIns="69299" rIns="138606" bIns="69299" numCol="1" anchor="b" anchorCtr="0" compatLnSpc="1">
            <a:prstTxWarp prst="textNoShape">
              <a:avLst/>
            </a:prstTxWarp>
          </a:bodyPr>
          <a:lstStyle>
            <a:lvl1pPr defTabSz="1385888">
              <a:defRPr sz="18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8401050" y="8924925"/>
            <a:ext cx="64325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8606" tIns="69299" rIns="138606" bIns="69299" numCol="1" anchor="b" anchorCtr="0" compatLnSpc="1">
            <a:prstTxWarp prst="textNoShape">
              <a:avLst/>
            </a:prstTxWarp>
          </a:bodyPr>
          <a:lstStyle>
            <a:lvl1pPr algn="r" defTabSz="1385888">
              <a:defRPr sz="1800"/>
            </a:lvl1pPr>
          </a:lstStyle>
          <a:p>
            <a:fld id="{33A113B0-A691-4317-9D32-EBD83EB1540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65435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6427788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8402638" y="0"/>
            <a:ext cx="6427787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5054600" y="708025"/>
            <a:ext cx="4724400" cy="3543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482725" y="4487863"/>
            <a:ext cx="11868150" cy="425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84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74138"/>
            <a:ext cx="6427788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4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8402638" y="8974138"/>
            <a:ext cx="6427787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6FF68CD-ACE0-4259-BE69-B3BCDFBE50C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9822110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008" kern="1200">
        <a:solidFill>
          <a:schemeClr val="tx1"/>
        </a:solidFill>
        <a:latin typeface="Times New Roman" pitchFamily="18" charset="0"/>
        <a:ea typeface="MS PGothic" pitchFamily="34" charset="-128"/>
        <a:cs typeface="ＭＳ Ｐゴシック" pitchFamily="-109" charset="-128"/>
      </a:defRPr>
    </a:lvl1pPr>
    <a:lvl2pPr marL="384048" algn="l" rtl="0" eaLnBrk="0" fontAlgn="base" hangingPunct="0">
      <a:spcBef>
        <a:spcPct val="30000"/>
      </a:spcBef>
      <a:spcAft>
        <a:spcPct val="0"/>
      </a:spcAft>
      <a:defRPr sz="1008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2pPr>
    <a:lvl3pPr marL="768096" algn="l" rtl="0" eaLnBrk="0" fontAlgn="base" hangingPunct="0">
      <a:spcBef>
        <a:spcPct val="30000"/>
      </a:spcBef>
      <a:spcAft>
        <a:spcPct val="0"/>
      </a:spcAft>
      <a:defRPr sz="1008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3pPr>
    <a:lvl4pPr marL="1152144" algn="l" rtl="0" eaLnBrk="0" fontAlgn="base" hangingPunct="0">
      <a:spcBef>
        <a:spcPct val="30000"/>
      </a:spcBef>
      <a:spcAft>
        <a:spcPct val="0"/>
      </a:spcAft>
      <a:defRPr sz="1008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4pPr>
    <a:lvl5pPr marL="1536192" algn="l" rtl="0" eaLnBrk="0" fontAlgn="base" hangingPunct="0">
      <a:spcBef>
        <a:spcPct val="30000"/>
      </a:spcBef>
      <a:spcAft>
        <a:spcPct val="0"/>
      </a:spcAft>
      <a:defRPr sz="1008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5pPr>
    <a:lvl6pPr marL="1920240" algn="l" defTabSz="768096" rtl="0" eaLnBrk="1" latinLnBrk="0" hangingPunct="1">
      <a:defRPr sz="1008" kern="1200">
        <a:solidFill>
          <a:schemeClr val="tx1"/>
        </a:solidFill>
        <a:latin typeface="+mn-lt"/>
        <a:ea typeface="+mn-ea"/>
        <a:cs typeface="+mn-cs"/>
      </a:defRPr>
    </a:lvl6pPr>
    <a:lvl7pPr marL="2304288" algn="l" defTabSz="768096" rtl="0" eaLnBrk="1" latinLnBrk="0" hangingPunct="1">
      <a:defRPr sz="1008" kern="1200">
        <a:solidFill>
          <a:schemeClr val="tx1"/>
        </a:solidFill>
        <a:latin typeface="+mn-lt"/>
        <a:ea typeface="+mn-ea"/>
        <a:cs typeface="+mn-cs"/>
      </a:defRPr>
    </a:lvl7pPr>
    <a:lvl8pPr marL="2688336" algn="l" defTabSz="768096" rtl="0" eaLnBrk="1" latinLnBrk="0" hangingPunct="1">
      <a:defRPr sz="1008" kern="1200">
        <a:solidFill>
          <a:schemeClr val="tx1"/>
        </a:solidFill>
        <a:latin typeface="+mn-lt"/>
        <a:ea typeface="+mn-ea"/>
        <a:cs typeface="+mn-cs"/>
      </a:defRPr>
    </a:lvl8pPr>
    <a:lvl9pPr marL="3072384" algn="l" defTabSz="768096" rtl="0" eaLnBrk="1" latinLnBrk="0" hangingPunct="1">
      <a:defRPr sz="100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CBD41AA2-B506-4F29-8ABB-42FDC11FA708}" type="slidenum">
              <a:rPr lang="en-US" altLang="en-US" sz="1200"/>
              <a:pPr eaLnBrk="1" hangingPunct="1"/>
              <a:t>1</a:t>
            </a:fld>
            <a:endParaRPr lang="en-US" altLang="en-US" sz="1200"/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054600" y="708025"/>
            <a:ext cx="4724400" cy="3543300"/>
          </a:xfrm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dirty="0"/>
              <a:t>References – Kyle 2021 paper</a:t>
            </a:r>
          </a:p>
        </p:txBody>
      </p:sp>
    </p:spTree>
    <p:extLst>
      <p:ext uri="{BB962C8B-B14F-4D97-AF65-F5344CB8AC3E}">
        <p14:creationId xmlns:p14="http://schemas.microsoft.com/office/powerpoint/2010/main" val="35590454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569" y="10225954"/>
            <a:ext cx="37308064" cy="705672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136" y="18654280"/>
            <a:ext cx="30724929" cy="8411441"/>
          </a:xfrm>
        </p:spPr>
        <p:txBody>
          <a:bodyPr/>
          <a:lstStyle>
            <a:lvl1pPr marL="0" indent="0" algn="ctr">
              <a:buNone/>
              <a:defRPr/>
            </a:lvl1pPr>
            <a:lvl2pPr marL="374081" indent="0" algn="ctr">
              <a:buNone/>
              <a:defRPr/>
            </a:lvl2pPr>
            <a:lvl3pPr marL="748162" indent="0" algn="ctr">
              <a:buNone/>
              <a:defRPr/>
            </a:lvl3pPr>
            <a:lvl4pPr marL="1122243" indent="0" algn="ctr">
              <a:buNone/>
              <a:defRPr/>
            </a:lvl4pPr>
            <a:lvl5pPr marL="1496324" indent="0" algn="ctr">
              <a:buNone/>
              <a:defRPr/>
            </a:lvl5pPr>
            <a:lvl6pPr marL="1870405" indent="0" algn="ctr">
              <a:buNone/>
              <a:defRPr/>
            </a:lvl6pPr>
            <a:lvl7pPr marL="2244486" indent="0" algn="ctr">
              <a:buNone/>
              <a:defRPr/>
            </a:lvl7pPr>
            <a:lvl8pPr marL="2618567" indent="0" algn="ctr">
              <a:buNone/>
              <a:defRPr/>
            </a:lvl8pPr>
            <a:lvl9pPr marL="2992648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1419260-C900-4237-BA68-07974F351BA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4491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A62BA36-5BBF-48EA-8544-58D058E4831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2659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1" y="21153293"/>
            <a:ext cx="37308064" cy="6537181"/>
          </a:xfrm>
        </p:spPr>
        <p:txBody>
          <a:bodyPr anchor="t"/>
          <a:lstStyle>
            <a:lvl1pPr algn="l">
              <a:defRPr sz="327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1" y="13952393"/>
            <a:ext cx="37308064" cy="7200900"/>
          </a:xfrm>
        </p:spPr>
        <p:txBody>
          <a:bodyPr anchor="b"/>
          <a:lstStyle>
            <a:lvl1pPr marL="0" indent="0">
              <a:buNone/>
              <a:defRPr sz="1636"/>
            </a:lvl1pPr>
            <a:lvl2pPr marL="374081" indent="0">
              <a:buNone/>
              <a:defRPr sz="1473"/>
            </a:lvl2pPr>
            <a:lvl3pPr marL="748162" indent="0">
              <a:buNone/>
              <a:defRPr sz="1309"/>
            </a:lvl3pPr>
            <a:lvl4pPr marL="1122243" indent="0">
              <a:buNone/>
              <a:defRPr sz="1145"/>
            </a:lvl4pPr>
            <a:lvl5pPr marL="1496324" indent="0">
              <a:buNone/>
              <a:defRPr sz="1145"/>
            </a:lvl5pPr>
            <a:lvl6pPr marL="1870405" indent="0">
              <a:buNone/>
              <a:defRPr sz="1145"/>
            </a:lvl6pPr>
            <a:lvl7pPr marL="2244486" indent="0">
              <a:buNone/>
              <a:defRPr sz="1145"/>
            </a:lvl7pPr>
            <a:lvl8pPr marL="2618567" indent="0">
              <a:buNone/>
              <a:defRPr sz="1145"/>
            </a:lvl8pPr>
            <a:lvl9pPr marL="2992648" indent="0">
              <a:buNone/>
              <a:defRPr sz="114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9BB527-D6C2-4929-BE39-EA4C1AFE25D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7851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92929" y="9508981"/>
            <a:ext cx="18587357" cy="19751819"/>
          </a:xfrm>
        </p:spPr>
        <p:txBody>
          <a:bodyPr/>
          <a:lstStyle>
            <a:lvl1pPr>
              <a:defRPr sz="2291"/>
            </a:lvl1pPr>
            <a:lvl2pPr>
              <a:defRPr sz="1964"/>
            </a:lvl2pPr>
            <a:lvl3pPr>
              <a:defRPr sz="1636"/>
            </a:lvl3pPr>
            <a:lvl4pPr>
              <a:defRPr sz="1473"/>
            </a:lvl4pPr>
            <a:lvl5pPr>
              <a:defRPr sz="1473"/>
            </a:lvl5pPr>
            <a:lvl6pPr>
              <a:defRPr sz="1473"/>
            </a:lvl6pPr>
            <a:lvl7pPr>
              <a:defRPr sz="1473"/>
            </a:lvl7pPr>
            <a:lvl8pPr>
              <a:defRPr sz="1473"/>
            </a:lvl8pPr>
            <a:lvl9pPr>
              <a:defRPr sz="147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10914" y="9508981"/>
            <a:ext cx="18587357" cy="19751819"/>
          </a:xfrm>
        </p:spPr>
        <p:txBody>
          <a:bodyPr/>
          <a:lstStyle>
            <a:lvl1pPr>
              <a:defRPr sz="2291"/>
            </a:lvl1pPr>
            <a:lvl2pPr>
              <a:defRPr sz="1964"/>
            </a:lvl2pPr>
            <a:lvl3pPr>
              <a:defRPr sz="1636"/>
            </a:lvl3pPr>
            <a:lvl4pPr>
              <a:defRPr sz="1473"/>
            </a:lvl4pPr>
            <a:lvl5pPr>
              <a:defRPr sz="1473"/>
            </a:lvl5pPr>
            <a:lvl6pPr>
              <a:defRPr sz="1473"/>
            </a:lvl6pPr>
            <a:lvl7pPr>
              <a:defRPr sz="1473"/>
            </a:lvl7pPr>
            <a:lvl8pPr>
              <a:defRPr sz="1473"/>
            </a:lvl8pPr>
            <a:lvl9pPr>
              <a:defRPr sz="147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786CF7-327F-41C4-9BFD-E6A93E3E9A4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7559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833" y="1318347"/>
            <a:ext cx="39501536" cy="5486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833" y="7368454"/>
            <a:ext cx="19392900" cy="3070514"/>
          </a:xfrm>
        </p:spPr>
        <p:txBody>
          <a:bodyPr anchor="b"/>
          <a:lstStyle>
            <a:lvl1pPr marL="0" indent="0">
              <a:buNone/>
              <a:defRPr sz="1964" b="1"/>
            </a:lvl1pPr>
            <a:lvl2pPr marL="374081" indent="0">
              <a:buNone/>
              <a:defRPr sz="1636" b="1"/>
            </a:lvl2pPr>
            <a:lvl3pPr marL="748162" indent="0">
              <a:buNone/>
              <a:defRPr sz="1473" b="1"/>
            </a:lvl3pPr>
            <a:lvl4pPr marL="1122243" indent="0">
              <a:buNone/>
              <a:defRPr sz="1309" b="1"/>
            </a:lvl4pPr>
            <a:lvl5pPr marL="1496324" indent="0">
              <a:buNone/>
              <a:defRPr sz="1309" b="1"/>
            </a:lvl5pPr>
            <a:lvl6pPr marL="1870405" indent="0">
              <a:buNone/>
              <a:defRPr sz="1309" b="1"/>
            </a:lvl6pPr>
            <a:lvl7pPr marL="2244486" indent="0">
              <a:buNone/>
              <a:defRPr sz="1309" b="1"/>
            </a:lvl7pPr>
            <a:lvl8pPr marL="2618567" indent="0">
              <a:buNone/>
              <a:defRPr sz="1309" b="1"/>
            </a:lvl8pPr>
            <a:lvl9pPr marL="2992648" indent="0">
              <a:buNone/>
              <a:defRPr sz="130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4833" y="10438968"/>
            <a:ext cx="19392900" cy="18966007"/>
          </a:xfrm>
        </p:spPr>
        <p:txBody>
          <a:bodyPr/>
          <a:lstStyle>
            <a:lvl1pPr>
              <a:defRPr sz="1964"/>
            </a:lvl1pPr>
            <a:lvl2pPr>
              <a:defRPr sz="1636"/>
            </a:lvl2pPr>
            <a:lvl3pPr>
              <a:defRPr sz="1473"/>
            </a:lvl3pPr>
            <a:lvl4pPr>
              <a:defRPr sz="1309"/>
            </a:lvl4pPr>
            <a:lvl5pPr>
              <a:defRPr sz="1309"/>
            </a:lvl5pPr>
            <a:lvl6pPr>
              <a:defRPr sz="1309"/>
            </a:lvl6pPr>
            <a:lvl7pPr>
              <a:defRPr sz="1309"/>
            </a:lvl7pPr>
            <a:lvl8pPr>
              <a:defRPr sz="1309"/>
            </a:lvl8pPr>
            <a:lvl9pPr>
              <a:defRPr sz="130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6664" y="7368454"/>
            <a:ext cx="19399704" cy="3070514"/>
          </a:xfrm>
        </p:spPr>
        <p:txBody>
          <a:bodyPr anchor="b"/>
          <a:lstStyle>
            <a:lvl1pPr marL="0" indent="0">
              <a:buNone/>
              <a:defRPr sz="1964" b="1"/>
            </a:lvl1pPr>
            <a:lvl2pPr marL="374081" indent="0">
              <a:buNone/>
              <a:defRPr sz="1636" b="1"/>
            </a:lvl2pPr>
            <a:lvl3pPr marL="748162" indent="0">
              <a:buNone/>
              <a:defRPr sz="1473" b="1"/>
            </a:lvl3pPr>
            <a:lvl4pPr marL="1122243" indent="0">
              <a:buNone/>
              <a:defRPr sz="1309" b="1"/>
            </a:lvl4pPr>
            <a:lvl5pPr marL="1496324" indent="0">
              <a:buNone/>
              <a:defRPr sz="1309" b="1"/>
            </a:lvl5pPr>
            <a:lvl6pPr marL="1870405" indent="0">
              <a:buNone/>
              <a:defRPr sz="1309" b="1"/>
            </a:lvl6pPr>
            <a:lvl7pPr marL="2244486" indent="0">
              <a:buNone/>
              <a:defRPr sz="1309" b="1"/>
            </a:lvl7pPr>
            <a:lvl8pPr marL="2618567" indent="0">
              <a:buNone/>
              <a:defRPr sz="1309" b="1"/>
            </a:lvl8pPr>
            <a:lvl9pPr marL="2992648" indent="0">
              <a:buNone/>
              <a:defRPr sz="130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6664" y="10438968"/>
            <a:ext cx="19399704" cy="18966007"/>
          </a:xfrm>
        </p:spPr>
        <p:txBody>
          <a:bodyPr/>
          <a:lstStyle>
            <a:lvl1pPr>
              <a:defRPr sz="1964"/>
            </a:lvl1pPr>
            <a:lvl2pPr>
              <a:defRPr sz="1636"/>
            </a:lvl2pPr>
            <a:lvl3pPr>
              <a:defRPr sz="1473"/>
            </a:lvl3pPr>
            <a:lvl4pPr>
              <a:defRPr sz="1309"/>
            </a:lvl4pPr>
            <a:lvl5pPr>
              <a:defRPr sz="1309"/>
            </a:lvl5pPr>
            <a:lvl6pPr>
              <a:defRPr sz="1309"/>
            </a:lvl6pPr>
            <a:lvl7pPr>
              <a:defRPr sz="1309"/>
            </a:lvl7pPr>
            <a:lvl8pPr>
              <a:defRPr sz="1309"/>
            </a:lvl8pPr>
            <a:lvl9pPr>
              <a:defRPr sz="130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B9F686-EA2A-4652-98E6-A5DFF65FEC2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5569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A51CD17-730E-427E-AFBB-F3E636BDC5B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070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8064B6C-88DE-48D9-AEF3-16E56BE017C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4776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833" y="1310554"/>
            <a:ext cx="14439900" cy="5577320"/>
          </a:xfrm>
        </p:spPr>
        <p:txBody>
          <a:bodyPr anchor="b"/>
          <a:lstStyle>
            <a:lvl1pPr algn="l">
              <a:defRPr sz="1636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59968" y="1310554"/>
            <a:ext cx="24536400" cy="28094420"/>
          </a:xfrm>
        </p:spPr>
        <p:txBody>
          <a:bodyPr/>
          <a:lstStyle>
            <a:lvl1pPr>
              <a:defRPr sz="2618"/>
            </a:lvl1pPr>
            <a:lvl2pPr>
              <a:defRPr sz="2291"/>
            </a:lvl2pPr>
            <a:lvl3pPr>
              <a:defRPr sz="1964"/>
            </a:lvl3pPr>
            <a:lvl4pPr>
              <a:defRPr sz="1636"/>
            </a:lvl4pPr>
            <a:lvl5pPr>
              <a:defRPr sz="1636"/>
            </a:lvl5pPr>
            <a:lvl6pPr>
              <a:defRPr sz="1636"/>
            </a:lvl6pPr>
            <a:lvl7pPr>
              <a:defRPr sz="1636"/>
            </a:lvl7pPr>
            <a:lvl8pPr>
              <a:defRPr sz="1636"/>
            </a:lvl8pPr>
            <a:lvl9pPr>
              <a:defRPr sz="163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4833" y="6887874"/>
            <a:ext cx="14439900" cy="22517100"/>
          </a:xfrm>
        </p:spPr>
        <p:txBody>
          <a:bodyPr/>
          <a:lstStyle>
            <a:lvl1pPr marL="0" indent="0">
              <a:buNone/>
              <a:defRPr sz="1145"/>
            </a:lvl1pPr>
            <a:lvl2pPr marL="374081" indent="0">
              <a:buNone/>
              <a:defRPr sz="982"/>
            </a:lvl2pPr>
            <a:lvl3pPr marL="748162" indent="0">
              <a:buNone/>
              <a:defRPr sz="818"/>
            </a:lvl3pPr>
            <a:lvl4pPr marL="1122243" indent="0">
              <a:buNone/>
              <a:defRPr sz="736"/>
            </a:lvl4pPr>
            <a:lvl5pPr marL="1496324" indent="0">
              <a:buNone/>
              <a:defRPr sz="736"/>
            </a:lvl5pPr>
            <a:lvl6pPr marL="1870405" indent="0">
              <a:buNone/>
              <a:defRPr sz="736"/>
            </a:lvl6pPr>
            <a:lvl7pPr marL="2244486" indent="0">
              <a:buNone/>
              <a:defRPr sz="736"/>
            </a:lvl7pPr>
            <a:lvl8pPr marL="2618567" indent="0">
              <a:buNone/>
              <a:defRPr sz="736"/>
            </a:lvl8pPr>
            <a:lvl9pPr marL="2992648" indent="0">
              <a:buNone/>
              <a:defRPr sz="73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A5614B4-99F9-4605-BC6A-F2871D9D363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3376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2436" y="23043141"/>
            <a:ext cx="26335264" cy="2719820"/>
          </a:xfrm>
        </p:spPr>
        <p:txBody>
          <a:bodyPr anchor="b"/>
          <a:lstStyle>
            <a:lvl1pPr algn="l">
              <a:defRPr sz="1636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2436" y="2941927"/>
            <a:ext cx="26335264" cy="19750520"/>
          </a:xfrm>
        </p:spPr>
        <p:txBody>
          <a:bodyPr/>
          <a:lstStyle>
            <a:lvl1pPr marL="0" indent="0">
              <a:buNone/>
              <a:defRPr sz="2618"/>
            </a:lvl1pPr>
            <a:lvl2pPr marL="374081" indent="0">
              <a:buNone/>
              <a:defRPr sz="2291"/>
            </a:lvl2pPr>
            <a:lvl3pPr marL="748162" indent="0">
              <a:buNone/>
              <a:defRPr sz="1964"/>
            </a:lvl3pPr>
            <a:lvl4pPr marL="1122243" indent="0">
              <a:buNone/>
              <a:defRPr sz="1636"/>
            </a:lvl4pPr>
            <a:lvl5pPr marL="1496324" indent="0">
              <a:buNone/>
              <a:defRPr sz="1636"/>
            </a:lvl5pPr>
            <a:lvl6pPr marL="1870405" indent="0">
              <a:buNone/>
              <a:defRPr sz="1636"/>
            </a:lvl6pPr>
            <a:lvl7pPr marL="2244486" indent="0">
              <a:buNone/>
              <a:defRPr sz="1636"/>
            </a:lvl7pPr>
            <a:lvl8pPr marL="2618567" indent="0">
              <a:buNone/>
              <a:defRPr sz="1636"/>
            </a:lvl8pPr>
            <a:lvl9pPr marL="2992648" indent="0">
              <a:buNone/>
              <a:defRPr sz="1636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2436" y="25762961"/>
            <a:ext cx="26335264" cy="3864119"/>
          </a:xfrm>
        </p:spPr>
        <p:txBody>
          <a:bodyPr/>
          <a:lstStyle>
            <a:lvl1pPr marL="0" indent="0">
              <a:buNone/>
              <a:defRPr sz="1145"/>
            </a:lvl1pPr>
            <a:lvl2pPr marL="374081" indent="0">
              <a:buNone/>
              <a:defRPr sz="982"/>
            </a:lvl2pPr>
            <a:lvl3pPr marL="748162" indent="0">
              <a:buNone/>
              <a:defRPr sz="818"/>
            </a:lvl3pPr>
            <a:lvl4pPr marL="1122243" indent="0">
              <a:buNone/>
              <a:defRPr sz="736"/>
            </a:lvl4pPr>
            <a:lvl5pPr marL="1496324" indent="0">
              <a:buNone/>
              <a:defRPr sz="736"/>
            </a:lvl5pPr>
            <a:lvl6pPr marL="1870405" indent="0">
              <a:buNone/>
              <a:defRPr sz="736"/>
            </a:lvl6pPr>
            <a:lvl7pPr marL="2244486" indent="0">
              <a:buNone/>
              <a:defRPr sz="736"/>
            </a:lvl7pPr>
            <a:lvl8pPr marL="2618567" indent="0">
              <a:buNone/>
              <a:defRPr sz="736"/>
            </a:lvl8pPr>
            <a:lvl9pPr marL="2992648" indent="0">
              <a:buNone/>
              <a:defRPr sz="73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460CECD-1780-48D5-8A4D-8AF4739E28E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90208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EEBBB9A-CFED-4E44-A46F-563DBFFCAB5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2895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271936" y="2925041"/>
            <a:ext cx="9326336" cy="263357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92929" y="2925041"/>
            <a:ext cx="27848379" cy="263357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B5ACDF-9DD8-414B-997B-02AAF168AF3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8628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292929" y="2925041"/>
            <a:ext cx="37305343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22481" tIns="261240" rIns="522481" bIns="26124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92929" y="9508981"/>
            <a:ext cx="37305343" cy="197518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22481" tIns="261240" rIns="522481" bIns="26124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292929" y="29993359"/>
            <a:ext cx="9144000" cy="21924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522481" tIns="261240" rIns="522481" bIns="261240" numCol="1" anchor="t" anchorCtr="0" compatLnSpc="1">
            <a:prstTxWarp prst="textNoShape">
              <a:avLst/>
            </a:prstTxWarp>
          </a:bodyPr>
          <a:lstStyle>
            <a:lvl1pPr>
              <a:defRPr sz="6546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995072" y="29993359"/>
            <a:ext cx="13901057" cy="21924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522481" tIns="261240" rIns="522481" bIns="261240" numCol="1" anchor="t" anchorCtr="0" compatLnSpc="1">
            <a:prstTxWarp prst="textNoShape">
              <a:avLst/>
            </a:prstTxWarp>
          </a:bodyPr>
          <a:lstStyle>
            <a:lvl1pPr algn="ctr">
              <a:defRPr sz="6546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1454271" y="29993359"/>
            <a:ext cx="9144000" cy="21924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522481" tIns="261240" rIns="522481" bIns="261240" numCol="1" anchor="t" anchorCtr="0" compatLnSpc="1">
            <a:prstTxWarp prst="textNoShape">
              <a:avLst/>
            </a:prstTxWarp>
          </a:bodyPr>
          <a:lstStyle>
            <a:lvl1pPr algn="r">
              <a:defRPr sz="6546"/>
            </a:lvl1pPr>
          </a:lstStyle>
          <a:p>
            <a:fld id="{DC5CFE56-7B21-4685-B9BD-3B5C9D9BEBE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274656" rtl="0" eaLnBrk="0" fontAlgn="base" hangingPunct="0">
        <a:spcBef>
          <a:spcPct val="0"/>
        </a:spcBef>
        <a:spcAft>
          <a:spcPct val="0"/>
        </a:spcAft>
        <a:defRPr sz="20537">
          <a:solidFill>
            <a:schemeClr val="tx2"/>
          </a:solidFill>
          <a:latin typeface="+mj-lt"/>
          <a:ea typeface="MS PGothic" pitchFamily="34" charset="-128"/>
          <a:cs typeface="ＭＳ Ｐゴシック" pitchFamily="-109" charset="-128"/>
        </a:defRPr>
      </a:lvl1pPr>
      <a:lvl2pPr algn="ctr" defTabSz="4274656" rtl="0" eaLnBrk="0" fontAlgn="base" hangingPunct="0">
        <a:spcBef>
          <a:spcPct val="0"/>
        </a:spcBef>
        <a:spcAft>
          <a:spcPct val="0"/>
        </a:spcAft>
        <a:defRPr sz="20537">
          <a:solidFill>
            <a:schemeClr val="tx2"/>
          </a:solidFill>
          <a:latin typeface="Times New Roman" pitchFamily="18" charset="0"/>
          <a:ea typeface="MS PGothic" pitchFamily="34" charset="-128"/>
          <a:cs typeface="ＭＳ Ｐゴシック" pitchFamily="-109" charset="-128"/>
        </a:defRPr>
      </a:lvl2pPr>
      <a:lvl3pPr algn="ctr" defTabSz="4274656" rtl="0" eaLnBrk="0" fontAlgn="base" hangingPunct="0">
        <a:spcBef>
          <a:spcPct val="0"/>
        </a:spcBef>
        <a:spcAft>
          <a:spcPct val="0"/>
        </a:spcAft>
        <a:defRPr sz="20537">
          <a:solidFill>
            <a:schemeClr val="tx2"/>
          </a:solidFill>
          <a:latin typeface="Times New Roman" pitchFamily="18" charset="0"/>
          <a:ea typeface="MS PGothic" pitchFamily="34" charset="-128"/>
          <a:cs typeface="ＭＳ Ｐゴシック" pitchFamily="-109" charset="-128"/>
        </a:defRPr>
      </a:lvl3pPr>
      <a:lvl4pPr algn="ctr" defTabSz="4274656" rtl="0" eaLnBrk="0" fontAlgn="base" hangingPunct="0">
        <a:spcBef>
          <a:spcPct val="0"/>
        </a:spcBef>
        <a:spcAft>
          <a:spcPct val="0"/>
        </a:spcAft>
        <a:defRPr sz="20537">
          <a:solidFill>
            <a:schemeClr val="tx2"/>
          </a:solidFill>
          <a:latin typeface="Times New Roman" pitchFamily="18" charset="0"/>
          <a:ea typeface="MS PGothic" pitchFamily="34" charset="-128"/>
          <a:cs typeface="ＭＳ Ｐゴシック" pitchFamily="-109" charset="-128"/>
        </a:defRPr>
      </a:lvl4pPr>
      <a:lvl5pPr algn="ctr" defTabSz="4274656" rtl="0" eaLnBrk="0" fontAlgn="base" hangingPunct="0">
        <a:spcBef>
          <a:spcPct val="0"/>
        </a:spcBef>
        <a:spcAft>
          <a:spcPct val="0"/>
        </a:spcAft>
        <a:defRPr sz="20537">
          <a:solidFill>
            <a:schemeClr val="tx2"/>
          </a:solidFill>
          <a:latin typeface="Times New Roman" pitchFamily="18" charset="0"/>
          <a:ea typeface="MS PGothic" pitchFamily="34" charset="-128"/>
          <a:cs typeface="ＭＳ Ｐゴシック" pitchFamily="-109" charset="-128"/>
        </a:defRPr>
      </a:lvl5pPr>
      <a:lvl6pPr marL="374081" algn="ctr" defTabSz="4274656" rtl="0" fontAlgn="base">
        <a:spcBef>
          <a:spcPct val="0"/>
        </a:spcBef>
        <a:spcAft>
          <a:spcPct val="0"/>
        </a:spcAft>
        <a:defRPr sz="20537">
          <a:solidFill>
            <a:schemeClr val="tx2"/>
          </a:solidFill>
          <a:latin typeface="Times New Roman" pitchFamily="18" charset="0"/>
        </a:defRPr>
      </a:lvl6pPr>
      <a:lvl7pPr marL="748162" algn="ctr" defTabSz="4274656" rtl="0" fontAlgn="base">
        <a:spcBef>
          <a:spcPct val="0"/>
        </a:spcBef>
        <a:spcAft>
          <a:spcPct val="0"/>
        </a:spcAft>
        <a:defRPr sz="20537">
          <a:solidFill>
            <a:schemeClr val="tx2"/>
          </a:solidFill>
          <a:latin typeface="Times New Roman" pitchFamily="18" charset="0"/>
        </a:defRPr>
      </a:lvl7pPr>
      <a:lvl8pPr marL="1122243" algn="ctr" defTabSz="4274656" rtl="0" fontAlgn="base">
        <a:spcBef>
          <a:spcPct val="0"/>
        </a:spcBef>
        <a:spcAft>
          <a:spcPct val="0"/>
        </a:spcAft>
        <a:defRPr sz="20537">
          <a:solidFill>
            <a:schemeClr val="tx2"/>
          </a:solidFill>
          <a:latin typeface="Times New Roman" pitchFamily="18" charset="0"/>
        </a:defRPr>
      </a:lvl8pPr>
      <a:lvl9pPr marL="1496324" algn="ctr" defTabSz="4274656" rtl="0" fontAlgn="base">
        <a:spcBef>
          <a:spcPct val="0"/>
        </a:spcBef>
        <a:spcAft>
          <a:spcPct val="0"/>
        </a:spcAft>
        <a:defRPr sz="20537">
          <a:solidFill>
            <a:schemeClr val="tx2"/>
          </a:solidFill>
          <a:latin typeface="Times New Roman" pitchFamily="18" charset="0"/>
        </a:defRPr>
      </a:lvl9pPr>
    </p:titleStyle>
    <p:bodyStyle>
      <a:lvl1pPr marL="1602833" indent="-1602833" algn="l" defTabSz="4274656" rtl="0" eaLnBrk="0" fontAlgn="base" hangingPunct="0">
        <a:spcBef>
          <a:spcPct val="20000"/>
        </a:spcBef>
        <a:spcAft>
          <a:spcPct val="0"/>
        </a:spcAft>
        <a:buChar char="•"/>
        <a:defRPr sz="14973">
          <a:solidFill>
            <a:schemeClr val="tx1"/>
          </a:solidFill>
          <a:latin typeface="+mn-lt"/>
          <a:ea typeface="MS PGothic" pitchFamily="34" charset="-128"/>
          <a:cs typeface="ＭＳ Ｐゴシック" pitchFamily="-109" charset="-128"/>
        </a:defRPr>
      </a:lvl1pPr>
      <a:lvl2pPr marL="3473239" indent="-1336561" algn="l" defTabSz="4274656" rtl="0" eaLnBrk="0" fontAlgn="base" hangingPunct="0">
        <a:spcBef>
          <a:spcPct val="20000"/>
        </a:spcBef>
        <a:spcAft>
          <a:spcPct val="0"/>
        </a:spcAft>
        <a:buChar char="–"/>
        <a:defRPr sz="13091">
          <a:solidFill>
            <a:schemeClr val="tx1"/>
          </a:solidFill>
          <a:latin typeface="+mn-lt"/>
          <a:ea typeface="MS PGothic" pitchFamily="34" charset="-128"/>
        </a:defRPr>
      </a:lvl2pPr>
      <a:lvl3pPr marL="5343644" indent="-1068989" algn="l" defTabSz="4274656" rtl="0" eaLnBrk="0" fontAlgn="base" hangingPunct="0">
        <a:spcBef>
          <a:spcPct val="20000"/>
        </a:spcBef>
        <a:spcAft>
          <a:spcPct val="0"/>
        </a:spcAft>
        <a:buChar char="•"/>
        <a:defRPr sz="11209">
          <a:solidFill>
            <a:schemeClr val="tx1"/>
          </a:solidFill>
          <a:latin typeface="+mn-lt"/>
          <a:ea typeface="MS PGothic" pitchFamily="34" charset="-128"/>
        </a:defRPr>
      </a:lvl3pPr>
      <a:lvl4pPr marL="7480322" indent="-1067690" algn="l" defTabSz="4274656" rtl="0" eaLnBrk="0" fontAlgn="base" hangingPunct="0">
        <a:spcBef>
          <a:spcPct val="20000"/>
        </a:spcBef>
        <a:spcAft>
          <a:spcPct val="0"/>
        </a:spcAft>
        <a:buChar char="–"/>
        <a:defRPr sz="9327">
          <a:solidFill>
            <a:schemeClr val="tx1"/>
          </a:solidFill>
          <a:latin typeface="+mn-lt"/>
          <a:ea typeface="MS PGothic" pitchFamily="34" charset="-128"/>
        </a:defRPr>
      </a:lvl4pPr>
      <a:lvl5pPr marL="9618299" indent="-1067690" algn="l" defTabSz="4274656" rtl="0" eaLnBrk="0" fontAlgn="base" hangingPunct="0">
        <a:spcBef>
          <a:spcPct val="20000"/>
        </a:spcBef>
        <a:spcAft>
          <a:spcPct val="0"/>
        </a:spcAft>
        <a:buChar char="»"/>
        <a:defRPr sz="9327">
          <a:solidFill>
            <a:schemeClr val="tx1"/>
          </a:solidFill>
          <a:latin typeface="+mn-lt"/>
          <a:ea typeface="MS PGothic" pitchFamily="34" charset="-128"/>
        </a:defRPr>
      </a:lvl5pPr>
      <a:lvl6pPr marL="9992380" indent="-1067690" algn="l" defTabSz="4274656" rtl="0" fontAlgn="base">
        <a:spcBef>
          <a:spcPct val="20000"/>
        </a:spcBef>
        <a:spcAft>
          <a:spcPct val="0"/>
        </a:spcAft>
        <a:buChar char="»"/>
        <a:defRPr sz="9327">
          <a:solidFill>
            <a:schemeClr val="tx1"/>
          </a:solidFill>
          <a:latin typeface="+mn-lt"/>
        </a:defRPr>
      </a:lvl6pPr>
      <a:lvl7pPr marL="10366461" indent="-1067690" algn="l" defTabSz="4274656" rtl="0" fontAlgn="base">
        <a:spcBef>
          <a:spcPct val="20000"/>
        </a:spcBef>
        <a:spcAft>
          <a:spcPct val="0"/>
        </a:spcAft>
        <a:buChar char="»"/>
        <a:defRPr sz="9327">
          <a:solidFill>
            <a:schemeClr val="tx1"/>
          </a:solidFill>
          <a:latin typeface="+mn-lt"/>
        </a:defRPr>
      </a:lvl7pPr>
      <a:lvl8pPr marL="10740542" indent="-1067690" algn="l" defTabSz="4274656" rtl="0" fontAlgn="base">
        <a:spcBef>
          <a:spcPct val="20000"/>
        </a:spcBef>
        <a:spcAft>
          <a:spcPct val="0"/>
        </a:spcAft>
        <a:buChar char="»"/>
        <a:defRPr sz="9327">
          <a:solidFill>
            <a:schemeClr val="tx1"/>
          </a:solidFill>
          <a:latin typeface="+mn-lt"/>
        </a:defRPr>
      </a:lvl8pPr>
      <a:lvl9pPr marL="11114624" indent="-1067690" algn="l" defTabSz="4274656" rtl="0" fontAlgn="base">
        <a:spcBef>
          <a:spcPct val="20000"/>
        </a:spcBef>
        <a:spcAft>
          <a:spcPct val="0"/>
        </a:spcAft>
        <a:buChar char="»"/>
        <a:defRPr sz="9327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748162" rtl="0" eaLnBrk="1" latinLnBrk="0" hangingPunct="1">
        <a:defRPr sz="1473" kern="1200">
          <a:solidFill>
            <a:schemeClr val="tx1"/>
          </a:solidFill>
          <a:latin typeface="+mn-lt"/>
          <a:ea typeface="+mn-ea"/>
          <a:cs typeface="+mn-cs"/>
        </a:defRPr>
      </a:lvl1pPr>
      <a:lvl2pPr marL="374081" algn="l" defTabSz="748162" rtl="0" eaLnBrk="1" latinLnBrk="0" hangingPunct="1">
        <a:defRPr sz="1473" kern="1200">
          <a:solidFill>
            <a:schemeClr val="tx1"/>
          </a:solidFill>
          <a:latin typeface="+mn-lt"/>
          <a:ea typeface="+mn-ea"/>
          <a:cs typeface="+mn-cs"/>
        </a:defRPr>
      </a:lvl2pPr>
      <a:lvl3pPr marL="748162" algn="l" defTabSz="748162" rtl="0" eaLnBrk="1" latinLnBrk="0" hangingPunct="1">
        <a:defRPr sz="1473" kern="1200">
          <a:solidFill>
            <a:schemeClr val="tx1"/>
          </a:solidFill>
          <a:latin typeface="+mn-lt"/>
          <a:ea typeface="+mn-ea"/>
          <a:cs typeface="+mn-cs"/>
        </a:defRPr>
      </a:lvl3pPr>
      <a:lvl4pPr marL="1122243" algn="l" defTabSz="748162" rtl="0" eaLnBrk="1" latinLnBrk="0" hangingPunct="1">
        <a:defRPr sz="1473" kern="1200">
          <a:solidFill>
            <a:schemeClr val="tx1"/>
          </a:solidFill>
          <a:latin typeface="+mn-lt"/>
          <a:ea typeface="+mn-ea"/>
          <a:cs typeface="+mn-cs"/>
        </a:defRPr>
      </a:lvl4pPr>
      <a:lvl5pPr marL="1496324" algn="l" defTabSz="748162" rtl="0" eaLnBrk="1" latinLnBrk="0" hangingPunct="1">
        <a:defRPr sz="1473" kern="1200">
          <a:solidFill>
            <a:schemeClr val="tx1"/>
          </a:solidFill>
          <a:latin typeface="+mn-lt"/>
          <a:ea typeface="+mn-ea"/>
          <a:cs typeface="+mn-cs"/>
        </a:defRPr>
      </a:lvl5pPr>
      <a:lvl6pPr marL="1870405" algn="l" defTabSz="748162" rtl="0" eaLnBrk="1" latinLnBrk="0" hangingPunct="1">
        <a:defRPr sz="1473" kern="1200">
          <a:solidFill>
            <a:schemeClr val="tx1"/>
          </a:solidFill>
          <a:latin typeface="+mn-lt"/>
          <a:ea typeface="+mn-ea"/>
          <a:cs typeface="+mn-cs"/>
        </a:defRPr>
      </a:lvl6pPr>
      <a:lvl7pPr marL="2244486" algn="l" defTabSz="748162" rtl="0" eaLnBrk="1" latinLnBrk="0" hangingPunct="1">
        <a:defRPr sz="1473" kern="1200">
          <a:solidFill>
            <a:schemeClr val="tx1"/>
          </a:solidFill>
          <a:latin typeface="+mn-lt"/>
          <a:ea typeface="+mn-ea"/>
          <a:cs typeface="+mn-cs"/>
        </a:defRPr>
      </a:lvl7pPr>
      <a:lvl8pPr marL="2618567" algn="l" defTabSz="748162" rtl="0" eaLnBrk="1" latinLnBrk="0" hangingPunct="1">
        <a:defRPr sz="1473" kern="1200">
          <a:solidFill>
            <a:schemeClr val="tx1"/>
          </a:solidFill>
          <a:latin typeface="+mn-lt"/>
          <a:ea typeface="+mn-ea"/>
          <a:cs typeface="+mn-cs"/>
        </a:defRPr>
      </a:lvl8pPr>
      <a:lvl9pPr marL="2992648" algn="l" defTabSz="748162" rtl="0" eaLnBrk="1" latinLnBrk="0" hangingPunct="1">
        <a:defRPr sz="147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emf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12" Type="http://schemas.openxmlformats.org/officeDocument/2006/relationships/image" Target="../media/image10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emf"/><Relationship Id="rId5" Type="http://schemas.openxmlformats.org/officeDocument/2006/relationships/image" Target="../media/image3.emf"/><Relationship Id="rId15" Type="http://schemas.openxmlformats.org/officeDocument/2006/relationships/image" Target="../media/image13.png"/><Relationship Id="rId10" Type="http://schemas.openxmlformats.org/officeDocument/2006/relationships/image" Target="../media/image8.emf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6000">
              <a:srgbClr val="DDF2FF"/>
            </a:gs>
            <a:gs pos="0">
              <a:srgbClr val="13467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 descr="National Institute of Environmental Health Sciences&#10;&#10;Division of Translational Toxicology">
            <a:extLst>
              <a:ext uri="{FF2B5EF4-FFF2-40B4-BE49-F238E27FC236}">
                <a16:creationId xmlns:a16="http://schemas.microsoft.com/office/drawing/2014/main" id="{F4F1A18F-CA69-4530-B547-C5D162E8F6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43" y="-1"/>
            <a:ext cx="43886057" cy="2155119"/>
          </a:xfrm>
          <a:prstGeom prst="rect">
            <a:avLst/>
          </a:prstGeom>
        </p:spPr>
      </p:pic>
      <p:sp>
        <p:nvSpPr>
          <p:cNvPr id="93" name="Text Box 599">
            <a:extLst>
              <a:ext uri="{FF2B5EF4-FFF2-40B4-BE49-F238E27FC236}">
                <a16:creationId xmlns:a16="http://schemas.microsoft.com/office/drawing/2014/main" id="{0EB2CC0D-951F-4401-A858-467BA48E6C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929" y="2443274"/>
            <a:ext cx="42201184" cy="30435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 eaLnBrk="0" hangingPunct="0">
              <a:defRPr/>
            </a:pPr>
            <a:r>
              <a:rPr lang="en-US" sz="88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Mapping Exposures and Cumulative Risk of Hazardous Air Pollutants in the United Sta</a:t>
            </a:r>
            <a:r>
              <a:rPr lang="en-US" sz="7855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tes</a:t>
            </a:r>
          </a:p>
          <a:p>
            <a:pPr algn="ctr" eaLnBrk="0" hangingPunct="0">
              <a:defRPr/>
            </a:pPr>
            <a:r>
              <a:rPr lang="en-US" sz="5400" baseline="300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 </a:t>
            </a:r>
            <a:r>
              <a:rPr lang="en-US" sz="54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Mariana </a:t>
            </a:r>
            <a:r>
              <a:rPr lang="en-US" sz="5400" dirty="0" err="1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Alifa</a:t>
            </a:r>
            <a:r>
              <a:rPr lang="en-US" sz="54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Kassien*, </a:t>
            </a:r>
            <a:r>
              <a:rPr lang="en-US" sz="5400" baseline="300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 </a:t>
            </a:r>
            <a:r>
              <a:rPr lang="en-US" sz="54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Kyle P. Messier</a:t>
            </a:r>
          </a:p>
          <a:p>
            <a:pPr algn="ctr" eaLnBrk="0" hangingPunct="0">
              <a:defRPr/>
            </a:pPr>
            <a:endParaRPr lang="en-US" sz="2000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 eaLnBrk="0" hangingPunct="0">
              <a:defRPr/>
            </a:pPr>
            <a:r>
              <a:rPr lang="en-US" sz="4418" baseline="300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 </a:t>
            </a:r>
            <a:r>
              <a:rPr lang="en-US" sz="4418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Predictive Toxicology Branch, Division of Translational Toxicology, National Institute of Environmental Health Sciences, Durham, United States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19D3A90-4901-F981-6BD6-E0DB636A96D9}"/>
              </a:ext>
            </a:extLst>
          </p:cNvPr>
          <p:cNvSpPr/>
          <p:nvPr/>
        </p:nvSpPr>
        <p:spPr>
          <a:xfrm>
            <a:off x="14032317" y="6019617"/>
            <a:ext cx="15902726" cy="4580083"/>
          </a:xfrm>
          <a:prstGeom prst="roundRect">
            <a:avLst>
              <a:gd name="adj" fmla="val 10078"/>
            </a:avLst>
          </a:prstGeom>
          <a:solidFill>
            <a:srgbClr val="FFFFFF"/>
          </a:solidFill>
          <a:ln w="12700" cap="flat" cmpd="sng" algn="ctr">
            <a:solidFill>
              <a:schemeClr val="bg2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</a:pPr>
            <a:endParaRPr lang="en-US" sz="3600" kern="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14E170C-C2A0-2D66-ACEA-52723324ECCD}"/>
              </a:ext>
            </a:extLst>
          </p:cNvPr>
          <p:cNvSpPr/>
          <p:nvPr/>
        </p:nvSpPr>
        <p:spPr>
          <a:xfrm>
            <a:off x="30751321" y="6019617"/>
            <a:ext cx="12202950" cy="15631951"/>
          </a:xfrm>
          <a:prstGeom prst="roundRect">
            <a:avLst>
              <a:gd name="adj" fmla="val 4256"/>
            </a:avLst>
          </a:prstGeom>
          <a:solidFill>
            <a:srgbClr val="FFFFFF"/>
          </a:solidFill>
          <a:ln w="12700" cap="flat" cmpd="sng" algn="ctr">
            <a:solidFill>
              <a:schemeClr val="bg2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</a:pPr>
            <a:endParaRPr lang="en-US" sz="3600" kern="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E2B8FEA-A870-6569-FD9A-CCC567789389}"/>
              </a:ext>
            </a:extLst>
          </p:cNvPr>
          <p:cNvSpPr/>
          <p:nvPr/>
        </p:nvSpPr>
        <p:spPr>
          <a:xfrm>
            <a:off x="14086158" y="22261615"/>
            <a:ext cx="15781354" cy="9187268"/>
          </a:xfrm>
          <a:prstGeom prst="roundRect">
            <a:avLst>
              <a:gd name="adj" fmla="val 6188"/>
            </a:avLst>
          </a:prstGeom>
          <a:solidFill>
            <a:srgbClr val="FFFFFF"/>
          </a:solidFill>
          <a:ln w="12700" cap="flat" cmpd="sng" algn="ctr">
            <a:solidFill>
              <a:schemeClr val="bg2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</a:pPr>
            <a:endParaRPr lang="en-US" sz="3600" kern="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6AF815B-1991-01B5-4738-CE5425E70995}"/>
              </a:ext>
            </a:extLst>
          </p:cNvPr>
          <p:cNvSpPr/>
          <p:nvPr/>
        </p:nvSpPr>
        <p:spPr>
          <a:xfrm>
            <a:off x="866702" y="6019617"/>
            <a:ext cx="12339179" cy="21717183"/>
          </a:xfrm>
          <a:prstGeom prst="roundRect">
            <a:avLst>
              <a:gd name="adj" fmla="val 3423"/>
            </a:avLst>
          </a:prstGeom>
          <a:solidFill>
            <a:srgbClr val="FFFFFF"/>
          </a:solidFill>
          <a:ln w="12700" cap="flat" cmpd="sng" algn="ctr">
            <a:solidFill>
              <a:schemeClr val="bg2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</a:pPr>
            <a:endParaRPr lang="en-US" sz="3600" kern="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61BBCBCC-3F3F-F8D5-E750-CBF94D7DEA4F}"/>
              </a:ext>
            </a:extLst>
          </p:cNvPr>
          <p:cNvSpPr/>
          <p:nvPr/>
        </p:nvSpPr>
        <p:spPr>
          <a:xfrm>
            <a:off x="30685319" y="22261615"/>
            <a:ext cx="12339179" cy="9179053"/>
          </a:xfrm>
          <a:prstGeom prst="roundRect">
            <a:avLst>
              <a:gd name="adj" fmla="val 4530"/>
            </a:avLst>
          </a:prstGeom>
          <a:solidFill>
            <a:srgbClr val="FFFFFF"/>
          </a:solidFill>
          <a:ln w="12700" cap="flat" cmpd="sng" algn="ctr">
            <a:solidFill>
              <a:schemeClr val="bg2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</a:pPr>
            <a:endParaRPr lang="en-US" sz="3600" kern="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40" name="Picture 39" descr="National Institutes of Health • U.S. Department of Health and Human Sciences">
            <a:extLst>
              <a:ext uri="{FF2B5EF4-FFF2-40B4-BE49-F238E27FC236}">
                <a16:creationId xmlns:a16="http://schemas.microsoft.com/office/drawing/2014/main" id="{C9D082D5-3700-E3D9-046B-1DB1EB5D342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70149" y="31813197"/>
            <a:ext cx="11970327" cy="321203"/>
          </a:xfrm>
          <a:prstGeom prst="rect">
            <a:avLst/>
          </a:prstGeom>
        </p:spPr>
      </p:pic>
      <p:graphicFrame>
        <p:nvGraphicFramePr>
          <p:cNvPr id="1027" name="Table 1026">
            <a:extLst>
              <a:ext uri="{FF2B5EF4-FFF2-40B4-BE49-F238E27FC236}">
                <a16:creationId xmlns:a16="http://schemas.microsoft.com/office/drawing/2014/main" id="{E174C7F7-E29B-8CB6-B1C3-9E2B2D56C8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1085893"/>
              </p:ext>
            </p:extLst>
          </p:nvPr>
        </p:nvGraphicFramePr>
        <p:xfrm>
          <a:off x="2102774" y="13166203"/>
          <a:ext cx="9517844" cy="3568540"/>
        </p:xfrm>
        <a:graphic>
          <a:graphicData uri="http://schemas.openxmlformats.org/drawingml/2006/table">
            <a:tbl>
              <a:tblPr/>
              <a:tblGrid>
                <a:gridCol w="2298192">
                  <a:extLst>
                    <a:ext uri="{9D8B030D-6E8A-4147-A177-3AD203B41FA5}">
                      <a16:colId xmlns:a16="http://schemas.microsoft.com/office/drawing/2014/main" val="2903658656"/>
                    </a:ext>
                  </a:extLst>
                </a:gridCol>
                <a:gridCol w="1338093">
                  <a:extLst>
                    <a:ext uri="{9D8B030D-6E8A-4147-A177-3AD203B41FA5}">
                      <a16:colId xmlns:a16="http://schemas.microsoft.com/office/drawing/2014/main" val="2998076851"/>
                    </a:ext>
                  </a:extLst>
                </a:gridCol>
                <a:gridCol w="1338093">
                  <a:extLst>
                    <a:ext uri="{9D8B030D-6E8A-4147-A177-3AD203B41FA5}">
                      <a16:colId xmlns:a16="http://schemas.microsoft.com/office/drawing/2014/main" val="4214970485"/>
                    </a:ext>
                  </a:extLst>
                </a:gridCol>
                <a:gridCol w="1338093">
                  <a:extLst>
                    <a:ext uri="{9D8B030D-6E8A-4147-A177-3AD203B41FA5}">
                      <a16:colId xmlns:a16="http://schemas.microsoft.com/office/drawing/2014/main" val="3110733259"/>
                    </a:ext>
                  </a:extLst>
                </a:gridCol>
                <a:gridCol w="1632927">
                  <a:extLst>
                    <a:ext uri="{9D8B030D-6E8A-4147-A177-3AD203B41FA5}">
                      <a16:colId xmlns:a16="http://schemas.microsoft.com/office/drawing/2014/main" val="2398533915"/>
                    </a:ext>
                  </a:extLst>
                </a:gridCol>
                <a:gridCol w="1572446">
                  <a:extLst>
                    <a:ext uri="{9D8B030D-6E8A-4147-A177-3AD203B41FA5}">
                      <a16:colId xmlns:a16="http://schemas.microsoft.com/office/drawing/2014/main" val="316444843"/>
                    </a:ext>
                  </a:extLst>
                </a:gridCol>
              </a:tblGrid>
              <a:tr h="6418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Pollutant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2021 Sites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Mean MDL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Non-Detects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Below MDL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Mean days/site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4949484"/>
                  </a:ext>
                </a:extLst>
              </a:tr>
              <a:tr h="6613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Benzene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6252240"/>
                  </a:ext>
                </a:extLst>
              </a:tr>
              <a:tr h="6613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Carbon tetrachloride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25.8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010875"/>
                  </a:ext>
                </a:extLst>
              </a:tr>
              <a:tr h="6418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Chloroform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32.8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7267178"/>
                  </a:ext>
                </a:extLst>
              </a:tr>
              <a:tr h="6613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Hexane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780669"/>
                  </a:ext>
                </a:extLst>
              </a:tr>
            </a:tbl>
          </a:graphicData>
        </a:graphic>
      </p:graphicFrame>
      <p:sp>
        <p:nvSpPr>
          <p:cNvPr id="1030" name="TextBox 1029">
            <a:extLst>
              <a:ext uri="{FF2B5EF4-FFF2-40B4-BE49-F238E27FC236}">
                <a16:creationId xmlns:a16="http://schemas.microsoft.com/office/drawing/2014/main" id="{72E6568D-1196-62B3-00D0-34B27C93A068}"/>
              </a:ext>
            </a:extLst>
          </p:cNvPr>
          <p:cNvSpPr txBox="1"/>
          <p:nvPr/>
        </p:nvSpPr>
        <p:spPr>
          <a:xfrm>
            <a:off x="14776281" y="7184927"/>
            <a:ext cx="14358062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 algn="just" defTabSz="4273356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3800" dirty="0">
                <a:latin typeface="Calibri" panose="020F0502020204030204" pitchFamily="34" charset="0"/>
                <a:cs typeface="Calibri" panose="020F0502020204030204" pitchFamily="34" charset="0"/>
              </a:rPr>
              <a:t>Map </a:t>
            </a:r>
            <a:r>
              <a:rPr lang="en-US" sz="3800" b="1" dirty="0">
                <a:latin typeface="Calibri" panose="020F0502020204030204" pitchFamily="34" charset="0"/>
                <a:cs typeface="Calibri" panose="020F0502020204030204" pitchFamily="34" charset="0"/>
              </a:rPr>
              <a:t>HAPs concentratio</a:t>
            </a:r>
            <a:r>
              <a:rPr lang="en-US" sz="3800" dirty="0">
                <a:latin typeface="Calibri" panose="020F0502020204030204" pitchFamily="34" charset="0"/>
                <a:cs typeface="Calibri" panose="020F0502020204030204" pitchFamily="34" charset="0"/>
              </a:rPr>
              <a:t>ns in the United States for recent years</a:t>
            </a:r>
          </a:p>
          <a:p>
            <a:pPr marL="742950" indent="-742950" algn="just" defTabSz="4273356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3800" dirty="0">
                <a:latin typeface="Calibri" panose="020F0502020204030204" pitchFamily="34" charset="0"/>
                <a:cs typeface="Calibri" panose="020F0502020204030204" pitchFamily="34" charset="0"/>
              </a:rPr>
              <a:t>Use </a:t>
            </a:r>
            <a:r>
              <a:rPr lang="en-US" sz="3800" b="1" dirty="0">
                <a:latin typeface="Calibri" panose="020F0502020204030204" pitchFamily="34" charset="0"/>
                <a:cs typeface="Calibri" panose="020F0502020204030204" pitchFamily="34" charset="0"/>
              </a:rPr>
              <a:t>novel statistical and computational methods </a:t>
            </a:r>
            <a:r>
              <a:rPr lang="en-US" sz="3800" dirty="0">
                <a:latin typeface="Calibri" panose="020F0502020204030204" pitchFamily="34" charset="0"/>
                <a:cs typeface="Calibri" panose="020F0502020204030204" pitchFamily="34" charset="0"/>
              </a:rPr>
              <a:t>for large datasets in multivariate scenarios and missing/censored data</a:t>
            </a:r>
          </a:p>
          <a:p>
            <a:pPr marL="742950" indent="-742950" algn="just" defTabSz="4273356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3800" dirty="0">
                <a:latin typeface="Calibri" panose="020F0502020204030204" pitchFamily="34" charset="0"/>
                <a:cs typeface="Calibri" panose="020F0502020204030204" pitchFamily="34" charset="0"/>
              </a:rPr>
              <a:t>Develop an </a:t>
            </a:r>
            <a:r>
              <a:rPr lang="en-US" sz="3800" b="1" dirty="0">
                <a:latin typeface="Calibri" panose="020F0502020204030204" pitchFamily="34" charset="0"/>
                <a:cs typeface="Calibri" panose="020F0502020204030204" pitchFamily="34" charset="0"/>
              </a:rPr>
              <a:t>analysis pipeline </a:t>
            </a:r>
            <a:r>
              <a:rPr lang="en-US" sz="3800" dirty="0">
                <a:latin typeface="Calibri" panose="020F0502020204030204" pitchFamily="34" charset="0"/>
                <a:cs typeface="Calibri" panose="020F0502020204030204" pitchFamily="34" charset="0"/>
              </a:rPr>
              <a:t>for easy reproducibility and expansion</a:t>
            </a:r>
          </a:p>
        </p:txBody>
      </p:sp>
      <p:sp>
        <p:nvSpPr>
          <p:cNvPr id="1032" name="TextBox 1031">
            <a:extLst>
              <a:ext uri="{FF2B5EF4-FFF2-40B4-BE49-F238E27FC236}">
                <a16:creationId xmlns:a16="http://schemas.microsoft.com/office/drawing/2014/main" id="{1FDD6EB5-528A-9114-1D9F-A50C609492A0}"/>
              </a:ext>
            </a:extLst>
          </p:cNvPr>
          <p:cNvSpPr txBox="1"/>
          <p:nvPr/>
        </p:nvSpPr>
        <p:spPr>
          <a:xfrm>
            <a:off x="13981513" y="6242997"/>
            <a:ext cx="1590272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273356">
              <a:spcBef>
                <a:spcPts val="327"/>
              </a:spcBef>
            </a:pPr>
            <a:r>
              <a:rPr lang="en-US" sz="5000" b="1" dirty="0">
                <a:latin typeface="Calibri" panose="020F0502020204030204" pitchFamily="34" charset="0"/>
                <a:cs typeface="Calibri" panose="020F0502020204030204" pitchFamily="34" charset="0"/>
              </a:rPr>
              <a:t>Project  Objectives</a:t>
            </a:r>
          </a:p>
        </p:txBody>
      </p:sp>
      <p:sp>
        <p:nvSpPr>
          <p:cNvPr id="1034" name="TextBox 1033">
            <a:extLst>
              <a:ext uri="{FF2B5EF4-FFF2-40B4-BE49-F238E27FC236}">
                <a16:creationId xmlns:a16="http://schemas.microsoft.com/office/drawing/2014/main" id="{7D1683F0-C5F2-F6BD-830F-43899853C245}"/>
              </a:ext>
            </a:extLst>
          </p:cNvPr>
          <p:cNvSpPr txBox="1"/>
          <p:nvPr/>
        </p:nvSpPr>
        <p:spPr>
          <a:xfrm>
            <a:off x="902262" y="6325106"/>
            <a:ext cx="12313777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273356">
              <a:spcBef>
                <a:spcPts val="327"/>
              </a:spcBef>
            </a:pPr>
            <a:r>
              <a:rPr lang="en-US" sz="5000" b="1" dirty="0">
                <a:latin typeface="Calibri" panose="020F0502020204030204" pitchFamily="34" charset="0"/>
                <a:cs typeface="Calibri" panose="020F0502020204030204" pitchFamily="34" charset="0"/>
              </a:rPr>
              <a:t>Hazardous Air Pollutants (HAPs)</a:t>
            </a:r>
          </a:p>
        </p:txBody>
      </p:sp>
      <p:sp>
        <p:nvSpPr>
          <p:cNvPr id="1035" name="TextBox 1034">
            <a:extLst>
              <a:ext uri="{FF2B5EF4-FFF2-40B4-BE49-F238E27FC236}">
                <a16:creationId xmlns:a16="http://schemas.microsoft.com/office/drawing/2014/main" id="{CAF7D2B3-B7C7-4C62-00F0-901093C8FD4B}"/>
              </a:ext>
            </a:extLst>
          </p:cNvPr>
          <p:cNvSpPr txBox="1"/>
          <p:nvPr/>
        </p:nvSpPr>
        <p:spPr>
          <a:xfrm>
            <a:off x="14070919" y="22592729"/>
            <a:ext cx="1590272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273356">
              <a:spcBef>
                <a:spcPts val="327"/>
              </a:spcBef>
            </a:pPr>
            <a:r>
              <a:rPr lang="en-US" sz="5000" b="1" dirty="0">
                <a:latin typeface="Calibri" panose="020F0502020204030204" pitchFamily="34" charset="0"/>
                <a:cs typeface="Calibri" panose="020F0502020204030204" pitchFamily="34" charset="0"/>
              </a:rPr>
              <a:t>Multivariate, Penalized, Land-Use Regression Model </a:t>
            </a:r>
          </a:p>
        </p:txBody>
      </p:sp>
      <p:sp>
        <p:nvSpPr>
          <p:cNvPr id="1036" name="TextBox 1035">
            <a:extLst>
              <a:ext uri="{FF2B5EF4-FFF2-40B4-BE49-F238E27FC236}">
                <a16:creationId xmlns:a16="http://schemas.microsoft.com/office/drawing/2014/main" id="{98A01E1F-C918-E6C2-E19D-44F2C8DF2A7C}"/>
              </a:ext>
            </a:extLst>
          </p:cNvPr>
          <p:cNvSpPr txBox="1"/>
          <p:nvPr/>
        </p:nvSpPr>
        <p:spPr>
          <a:xfrm>
            <a:off x="1568384" y="12162358"/>
            <a:ext cx="588972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273356">
              <a:spcBef>
                <a:spcPts val="327"/>
              </a:spcBef>
            </a:pPr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Initial study: 4 HAPs, 2021</a:t>
            </a:r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68E0244D-BB93-B36D-42E5-A559FB83AC89}"/>
              </a:ext>
            </a:extLst>
          </p:cNvPr>
          <p:cNvSpPr txBox="1"/>
          <p:nvPr/>
        </p:nvSpPr>
        <p:spPr>
          <a:xfrm>
            <a:off x="30550841" y="6323153"/>
            <a:ext cx="12313777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273356">
              <a:spcBef>
                <a:spcPts val="327"/>
              </a:spcBef>
            </a:pPr>
            <a:r>
              <a:rPr lang="en-US" sz="5000" b="1" dirty="0">
                <a:latin typeface="Calibri" panose="020F0502020204030204" pitchFamily="34" charset="0"/>
                <a:cs typeface="Calibri" panose="020F0502020204030204" pitchFamily="34" charset="0"/>
              </a:rPr>
              <a:t>Preliminary results</a:t>
            </a:r>
          </a:p>
        </p:txBody>
      </p:sp>
      <p:sp>
        <p:nvSpPr>
          <p:cNvPr id="1038" name="TextBox 1037">
            <a:extLst>
              <a:ext uri="{FF2B5EF4-FFF2-40B4-BE49-F238E27FC236}">
                <a16:creationId xmlns:a16="http://schemas.microsoft.com/office/drawing/2014/main" id="{5BAFA9E0-34DC-0637-60DB-68629F004753}"/>
              </a:ext>
            </a:extLst>
          </p:cNvPr>
          <p:cNvSpPr txBox="1"/>
          <p:nvPr/>
        </p:nvSpPr>
        <p:spPr>
          <a:xfrm>
            <a:off x="1428300" y="7318507"/>
            <a:ext cx="11223640" cy="4723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defTabSz="4273356">
              <a:spcBef>
                <a:spcPts val="327"/>
              </a:spcBef>
              <a:buFont typeface="Arial" panose="020B0604020202020204" pitchFamily="34" charset="0"/>
              <a:buChar char="•"/>
            </a:pPr>
            <a:r>
              <a:rPr lang="en-US" sz="2900" b="1" dirty="0">
                <a:latin typeface="Calibri" panose="020F0502020204030204" pitchFamily="34" charset="0"/>
                <a:cs typeface="Calibri" panose="020F0502020204030204" pitchFamily="34" charset="0"/>
              </a:rPr>
              <a:t>188 compounds</a:t>
            </a:r>
            <a:r>
              <a:rPr lang="en-US" sz="2900" dirty="0">
                <a:latin typeface="Calibri" panose="020F0502020204030204" pitchFamily="34" charset="0"/>
                <a:cs typeface="Calibri" panose="020F0502020204030204" pitchFamily="34" charset="0"/>
              </a:rPr>
              <a:t> designated by EPA since 1990</a:t>
            </a:r>
          </a:p>
          <a:p>
            <a:pPr marL="457200" indent="-457200" defTabSz="4273356">
              <a:spcBef>
                <a:spcPts val="327"/>
              </a:spcBef>
              <a:buFont typeface="Arial" panose="020B0604020202020204" pitchFamily="34" charset="0"/>
              <a:buChar char="•"/>
            </a:pPr>
            <a:r>
              <a:rPr lang="en-US" sz="2900" dirty="0">
                <a:latin typeface="Calibri" panose="020F0502020204030204" pitchFamily="34" charset="0"/>
                <a:cs typeface="Calibri" panose="020F0502020204030204" pitchFamily="34" charset="0"/>
              </a:rPr>
              <a:t>EPA regulates HAPs emissions, but unlike criteria pollutants there are </a:t>
            </a:r>
            <a:r>
              <a:rPr lang="en-US" sz="2900" b="1" dirty="0">
                <a:latin typeface="Calibri" panose="020F0502020204030204" pitchFamily="34" charset="0"/>
                <a:cs typeface="Calibri" panose="020F0502020204030204" pitchFamily="34" charset="0"/>
              </a:rPr>
              <a:t>no ambient concentration standards </a:t>
            </a:r>
            <a:r>
              <a:rPr lang="en-US" sz="2900" dirty="0">
                <a:latin typeface="Calibri" panose="020F0502020204030204" pitchFamily="34" charset="0"/>
                <a:cs typeface="Calibri" panose="020F0502020204030204" pitchFamily="34" charset="0"/>
              </a:rPr>
              <a:t>regarding HAPs exposure</a:t>
            </a:r>
          </a:p>
          <a:p>
            <a:pPr marL="457200" indent="-457200" defTabSz="4273356">
              <a:spcBef>
                <a:spcPts val="327"/>
              </a:spcBef>
              <a:buFont typeface="Arial" panose="020B0604020202020204" pitchFamily="34" charset="0"/>
              <a:buChar char="•"/>
            </a:pPr>
            <a:r>
              <a:rPr lang="en-US" sz="2900" dirty="0">
                <a:latin typeface="Calibri" panose="020F0502020204030204" pitchFamily="34" charset="0"/>
                <a:cs typeface="Calibri" panose="020F0502020204030204" pitchFamily="34" charset="0"/>
              </a:rPr>
              <a:t>The HAPs database combines </a:t>
            </a:r>
            <a:r>
              <a:rPr lang="en-US" sz="2900" b="1" dirty="0">
                <a:latin typeface="Calibri" panose="020F0502020204030204" pitchFamily="34" charset="0"/>
                <a:cs typeface="Calibri" panose="020F0502020204030204" pitchFamily="34" charset="0"/>
              </a:rPr>
              <a:t>monitoring data collected by multitude entities</a:t>
            </a:r>
            <a:r>
              <a:rPr lang="en-US" sz="2900" dirty="0">
                <a:latin typeface="Calibri" panose="020F0502020204030204" pitchFamily="34" charset="0"/>
                <a:cs typeface="Calibri" panose="020F0502020204030204" pitchFamily="34" charset="0"/>
              </a:rPr>
              <a:t>: the EPA , other federal, sate, local, and tribal agencies, and other academic, community, and short-term studies</a:t>
            </a:r>
          </a:p>
          <a:p>
            <a:pPr marL="457200" indent="-457200" defTabSz="4273356">
              <a:spcBef>
                <a:spcPts val="327"/>
              </a:spcBef>
              <a:buFont typeface="Arial" panose="020B0604020202020204" pitchFamily="34" charset="0"/>
              <a:buChar char="•"/>
            </a:pPr>
            <a:r>
              <a:rPr lang="en-US" sz="2900" dirty="0">
                <a:latin typeface="Calibri" panose="020F0502020204030204" pitchFamily="34" charset="0"/>
                <a:cs typeface="Calibri" panose="020F0502020204030204" pitchFamily="34" charset="0"/>
              </a:rPr>
              <a:t>Extensive toxicology data on HAPs </a:t>
            </a:r>
            <a:r>
              <a:rPr lang="en-US" sz="2900" b="1" dirty="0">
                <a:latin typeface="Calibri" panose="020F0502020204030204" pitchFamily="34" charset="0"/>
                <a:cs typeface="Calibri" panose="020F0502020204030204" pitchFamily="34" charset="0"/>
              </a:rPr>
              <a:t>adverse effects</a:t>
            </a:r>
            <a:r>
              <a:rPr lang="en-US" sz="2900" dirty="0">
                <a:latin typeface="Calibri" panose="020F0502020204030204" pitchFamily="34" charset="0"/>
                <a:cs typeface="Calibri" panose="020F0502020204030204" pitchFamily="34" charset="0"/>
              </a:rPr>
              <a:t>: cancer, reproductive effects, and birth defects, among others</a:t>
            </a:r>
          </a:p>
          <a:p>
            <a:pPr marL="457200" indent="-457200" defTabSz="4273356">
              <a:spcBef>
                <a:spcPts val="327"/>
              </a:spcBef>
              <a:buFont typeface="Arial" panose="020B0604020202020204" pitchFamily="34" charset="0"/>
              <a:buChar char="•"/>
            </a:pPr>
            <a:r>
              <a:rPr lang="en-US" sz="2946" b="1" dirty="0">
                <a:latin typeface="Calibri" panose="020F0502020204030204" pitchFamily="34" charset="0"/>
                <a:cs typeface="Calibri" panose="020F0502020204030204" pitchFamily="34" charset="0"/>
              </a:rPr>
              <a:t>Need for more exposure and epidemiology studies </a:t>
            </a:r>
            <a:r>
              <a:rPr lang="en-US" sz="2946" dirty="0">
                <a:latin typeface="Calibri" panose="020F0502020204030204" pitchFamily="34" charset="0"/>
                <a:cs typeface="Calibri" panose="020F0502020204030204" pitchFamily="34" charset="0"/>
              </a:rPr>
              <a:t>to understand public health impacts of HAPs</a:t>
            </a:r>
          </a:p>
        </p:txBody>
      </p:sp>
      <p:sp>
        <p:nvSpPr>
          <p:cNvPr id="1049" name="TextBox 1048">
            <a:extLst>
              <a:ext uri="{FF2B5EF4-FFF2-40B4-BE49-F238E27FC236}">
                <a16:creationId xmlns:a16="http://schemas.microsoft.com/office/drawing/2014/main" id="{EEA563D8-0169-3DCC-2CB0-378D794D7924}"/>
              </a:ext>
            </a:extLst>
          </p:cNvPr>
          <p:cNvSpPr txBox="1"/>
          <p:nvPr/>
        </p:nvSpPr>
        <p:spPr>
          <a:xfrm>
            <a:off x="1428300" y="17111365"/>
            <a:ext cx="5016722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Selection criteria:</a:t>
            </a:r>
          </a:p>
          <a:p>
            <a:pPr algn="l"/>
            <a:endParaRPr lang="en-US" sz="2600" b="1" i="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6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Included in Tox21 database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6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33% or less non-detects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6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150 or more sites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6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~50% or more measurements above </a:t>
            </a:r>
            <a:r>
              <a:rPr lang="en-US" sz="26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Min.Detection</a:t>
            </a:r>
            <a:r>
              <a:rPr lang="en-US" sz="26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Limit (MDL)</a:t>
            </a:r>
          </a:p>
        </p:txBody>
      </p:sp>
      <p:grpSp>
        <p:nvGrpSpPr>
          <p:cNvPr id="1052" name="Group 1051">
            <a:extLst>
              <a:ext uri="{FF2B5EF4-FFF2-40B4-BE49-F238E27FC236}">
                <a16:creationId xmlns:a16="http://schemas.microsoft.com/office/drawing/2014/main" id="{23D18AD2-8148-4087-2259-1C6128162ABF}"/>
              </a:ext>
            </a:extLst>
          </p:cNvPr>
          <p:cNvGrpSpPr/>
          <p:nvPr/>
        </p:nvGrpSpPr>
        <p:grpSpPr>
          <a:xfrm>
            <a:off x="6283625" y="17003837"/>
            <a:ext cx="6174676" cy="4647731"/>
            <a:chOff x="3973624" y="22140388"/>
            <a:chExt cx="6174676" cy="4647731"/>
          </a:xfrm>
        </p:grpSpPr>
        <p:pic>
          <p:nvPicPr>
            <p:cNvPr id="1045" name="Picture 1044">
              <a:extLst>
                <a:ext uri="{FF2B5EF4-FFF2-40B4-BE49-F238E27FC236}">
                  <a16:creationId xmlns:a16="http://schemas.microsoft.com/office/drawing/2014/main" id="{74E4B103-EDAF-CF2C-A17D-E06577E18A9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973624" y="22247916"/>
              <a:ext cx="6174676" cy="4540203"/>
            </a:xfrm>
            <a:prstGeom prst="rect">
              <a:avLst/>
            </a:prstGeom>
          </p:spPr>
        </p:pic>
        <p:sp>
          <p:nvSpPr>
            <p:cNvPr id="1051" name="TextBox 1050">
              <a:extLst>
                <a:ext uri="{FF2B5EF4-FFF2-40B4-BE49-F238E27FC236}">
                  <a16:creationId xmlns:a16="http://schemas.microsoft.com/office/drawing/2014/main" id="{BFFF67F9-130D-E40D-ED8E-EC2BEE583727}"/>
                </a:ext>
              </a:extLst>
            </p:cNvPr>
            <p:cNvSpPr txBox="1"/>
            <p:nvPr/>
          </p:nvSpPr>
          <p:spPr>
            <a:xfrm>
              <a:off x="5715000" y="22140388"/>
              <a:ext cx="269192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2400" b="1" dirty="0">
                  <a:latin typeface="Calibri" panose="020F0502020204030204" pitchFamily="34" charset="0"/>
                  <a:cs typeface="Calibri" panose="020F0502020204030204" pitchFamily="34" charset="0"/>
                </a:rPr>
                <a:t>Site locations 2021</a:t>
              </a:r>
            </a:p>
          </p:txBody>
        </p:sp>
      </p:grpSp>
      <p:sp>
        <p:nvSpPr>
          <p:cNvPr id="1053" name="TextBox 1052">
            <a:extLst>
              <a:ext uri="{FF2B5EF4-FFF2-40B4-BE49-F238E27FC236}">
                <a16:creationId xmlns:a16="http://schemas.microsoft.com/office/drawing/2014/main" id="{1F7B5663-8395-C8B1-D176-DBF200FC5D5B}"/>
              </a:ext>
            </a:extLst>
          </p:cNvPr>
          <p:cNvSpPr txBox="1"/>
          <p:nvPr/>
        </p:nvSpPr>
        <p:spPr>
          <a:xfrm>
            <a:off x="1404273" y="20609913"/>
            <a:ext cx="5723378" cy="6832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457200"/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Dataset challenges:</a:t>
            </a:r>
          </a:p>
          <a:p>
            <a:pPr indent="-457200"/>
            <a:endParaRPr lang="en-US" sz="1800" b="1" i="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indent="-457200"/>
            <a:r>
              <a:rPr 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1. Sparsity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in both space and time: few sites, most not sampled daily</a:t>
            </a:r>
          </a:p>
          <a:p>
            <a:pPr indent="-457200"/>
            <a:r>
              <a:rPr lang="en-US" sz="260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2. Inhomogeneous sampling methods </a:t>
            </a:r>
            <a:r>
              <a:rPr lang="en-US" sz="26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and frequency: data combined from different agencies</a:t>
            </a:r>
          </a:p>
          <a:p>
            <a:pPr indent="-457200"/>
            <a:r>
              <a:rPr lang="en-US" sz="26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3. </a:t>
            </a:r>
            <a:r>
              <a:rPr lang="en-US" sz="260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Censored data </a:t>
            </a:r>
            <a:r>
              <a:rPr lang="en-US" sz="260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at sub-daily measurement scales: </a:t>
            </a:r>
            <a:r>
              <a:rPr lang="en-US" sz="26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need special considerations for daily average computation (censored MLE)</a:t>
            </a:r>
          </a:p>
          <a:p>
            <a:pPr indent="-457200"/>
            <a:r>
              <a:rPr lang="en-US" sz="26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4. </a:t>
            </a:r>
            <a:r>
              <a:rPr lang="en-US" sz="260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Diversity of chemical classes: 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lang="en-US" sz="26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ariety of effects of chemistry, physics, sources, and health effects</a:t>
            </a:r>
            <a:endParaRPr lang="en-US" sz="2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indent="-457200"/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5. </a:t>
            </a:r>
            <a:r>
              <a:rPr lang="en-US" sz="260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Computationally complex </a:t>
            </a:r>
            <a:r>
              <a:rPr lang="en-US" sz="26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modeling: simultaneous fitting for multiple HAPs and a large number of covariates</a:t>
            </a:r>
          </a:p>
        </p:txBody>
      </p:sp>
      <p:sp>
        <p:nvSpPr>
          <p:cNvPr id="1054" name="Rounded Rectangle 1053">
            <a:extLst>
              <a:ext uri="{FF2B5EF4-FFF2-40B4-BE49-F238E27FC236}">
                <a16:creationId xmlns:a16="http://schemas.microsoft.com/office/drawing/2014/main" id="{6B658418-D6B5-9B4C-ACD0-404C45C539F5}"/>
              </a:ext>
            </a:extLst>
          </p:cNvPr>
          <p:cNvSpPr/>
          <p:nvPr/>
        </p:nvSpPr>
        <p:spPr>
          <a:xfrm>
            <a:off x="875920" y="28397076"/>
            <a:ext cx="12339179" cy="3043592"/>
          </a:xfrm>
          <a:prstGeom prst="roundRect">
            <a:avLst>
              <a:gd name="adj" fmla="val 13437"/>
            </a:avLst>
          </a:prstGeom>
          <a:solidFill>
            <a:srgbClr val="FFFFFF"/>
          </a:solidFill>
          <a:ln w="12700" cap="flat" cmpd="sng" algn="ctr">
            <a:solidFill>
              <a:schemeClr val="bg2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</a:pPr>
            <a:endParaRPr lang="en-US" sz="3600" kern="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110" name="Rounded Rectangle 1109">
            <a:extLst>
              <a:ext uri="{FF2B5EF4-FFF2-40B4-BE49-F238E27FC236}">
                <a16:creationId xmlns:a16="http://schemas.microsoft.com/office/drawing/2014/main" id="{370049DA-1C72-610C-E7FC-AA4504BE9F1A}"/>
              </a:ext>
            </a:extLst>
          </p:cNvPr>
          <p:cNvSpPr/>
          <p:nvPr/>
        </p:nvSpPr>
        <p:spPr>
          <a:xfrm>
            <a:off x="14032317" y="11355831"/>
            <a:ext cx="15835195" cy="10259649"/>
          </a:xfrm>
          <a:prstGeom prst="roundRect">
            <a:avLst>
              <a:gd name="adj" fmla="val 5328"/>
            </a:avLst>
          </a:prstGeom>
          <a:solidFill>
            <a:srgbClr val="FFFFFF"/>
          </a:solidFill>
          <a:ln w="12700" cap="flat" cmpd="sng" algn="ctr">
            <a:solidFill>
              <a:schemeClr val="bg2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</a:pPr>
            <a:endParaRPr lang="en-US" sz="3600" kern="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165" name="TextBox 1164">
            <a:extLst>
              <a:ext uri="{FF2B5EF4-FFF2-40B4-BE49-F238E27FC236}">
                <a16:creationId xmlns:a16="http://schemas.microsoft.com/office/drawing/2014/main" id="{C0820BDD-6693-E988-DF61-4789B24748DF}"/>
              </a:ext>
            </a:extLst>
          </p:cNvPr>
          <p:cNvSpPr txBox="1"/>
          <p:nvPr/>
        </p:nvSpPr>
        <p:spPr>
          <a:xfrm>
            <a:off x="31324167" y="29224880"/>
            <a:ext cx="11855348" cy="1819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0561" indent="-280561" algn="just" defTabSz="4273356">
              <a:spcBef>
                <a:spcPts val="327"/>
              </a:spcBef>
              <a:buFont typeface="Arial" panose="020B0604020202020204" pitchFamily="34" charset="0"/>
              <a:buChar char="•"/>
            </a:pPr>
            <a:r>
              <a:rPr lang="en-US" sz="2618" dirty="0">
                <a:latin typeface="Calibri" panose="020F0502020204030204" pitchFamily="34" charset="0"/>
                <a:cs typeface="Calibri" panose="020F0502020204030204" pitchFamily="34" charset="0"/>
              </a:rPr>
              <a:t>Expanding to 2018-2021</a:t>
            </a:r>
          </a:p>
          <a:p>
            <a:pPr marL="280561" indent="-280561" algn="just" defTabSz="4273356">
              <a:spcBef>
                <a:spcPts val="327"/>
              </a:spcBef>
              <a:buFont typeface="Arial" panose="020B0604020202020204" pitchFamily="34" charset="0"/>
              <a:buChar char="•"/>
            </a:pPr>
            <a:r>
              <a:rPr lang="en-US" sz="2618" dirty="0">
                <a:latin typeface="Calibri" panose="020F0502020204030204" pitchFamily="34" charset="0"/>
                <a:cs typeface="Calibri" panose="020F0502020204030204" pitchFamily="34" charset="0"/>
              </a:rPr>
              <a:t>Implementing analysis pipeline</a:t>
            </a:r>
          </a:p>
          <a:p>
            <a:pPr marL="280561" indent="-280561" algn="just" defTabSz="4273356">
              <a:spcBef>
                <a:spcPts val="327"/>
              </a:spcBef>
              <a:buFont typeface="Arial" panose="020B0604020202020204" pitchFamily="34" charset="0"/>
              <a:buChar char="•"/>
            </a:pPr>
            <a:r>
              <a:rPr lang="en-US" sz="2618" dirty="0">
                <a:latin typeface="Calibri" panose="020F0502020204030204" pitchFamily="34" charset="0"/>
                <a:cs typeface="Calibri" panose="020F0502020204030204" pitchFamily="34" charset="0"/>
              </a:rPr>
              <a:t>Incorporating more covariates: meteorology, emissions, land use, seasons, etc. </a:t>
            </a:r>
          </a:p>
          <a:p>
            <a:pPr marL="280561" indent="-280561" algn="just" defTabSz="4273356">
              <a:spcBef>
                <a:spcPts val="327"/>
              </a:spcBef>
              <a:buFont typeface="Arial" panose="020B0604020202020204" pitchFamily="34" charset="0"/>
              <a:buChar char="•"/>
            </a:pPr>
            <a:r>
              <a:rPr lang="en-US" sz="2618" dirty="0">
                <a:latin typeface="Calibri" panose="020F0502020204030204" pitchFamily="34" charset="0"/>
                <a:cs typeface="Calibri" panose="020F0502020204030204" pitchFamily="34" charset="0"/>
              </a:rPr>
              <a:t>Health impacts and exposure disparities research</a:t>
            </a:r>
          </a:p>
        </p:txBody>
      </p:sp>
      <p:sp>
        <p:nvSpPr>
          <p:cNvPr id="1166" name="TextBox 1165">
            <a:extLst>
              <a:ext uri="{FF2B5EF4-FFF2-40B4-BE49-F238E27FC236}">
                <a16:creationId xmlns:a16="http://schemas.microsoft.com/office/drawing/2014/main" id="{AB8B8D51-A768-65F1-7360-AD38DEA203DF}"/>
              </a:ext>
            </a:extLst>
          </p:cNvPr>
          <p:cNvSpPr txBox="1"/>
          <p:nvPr/>
        </p:nvSpPr>
        <p:spPr>
          <a:xfrm>
            <a:off x="30579978" y="22592729"/>
            <a:ext cx="1240940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273356">
              <a:spcBef>
                <a:spcPts val="327"/>
              </a:spcBef>
            </a:pPr>
            <a:r>
              <a:rPr lang="en-US" sz="5000" b="1" dirty="0">
                <a:latin typeface="Calibri" panose="020F0502020204030204" pitchFamily="34" charset="0"/>
                <a:cs typeface="Calibri" panose="020F0502020204030204" pitchFamily="34" charset="0"/>
              </a:rPr>
              <a:t>Conclusions</a:t>
            </a:r>
          </a:p>
        </p:txBody>
      </p:sp>
      <p:sp>
        <p:nvSpPr>
          <p:cNvPr id="1167" name="TextBox 1166">
            <a:extLst>
              <a:ext uri="{FF2B5EF4-FFF2-40B4-BE49-F238E27FC236}">
                <a16:creationId xmlns:a16="http://schemas.microsoft.com/office/drawing/2014/main" id="{AD554846-CE08-B681-F257-06B19610DE71}"/>
              </a:ext>
            </a:extLst>
          </p:cNvPr>
          <p:cNvSpPr txBox="1"/>
          <p:nvPr/>
        </p:nvSpPr>
        <p:spPr>
          <a:xfrm>
            <a:off x="31324167" y="23646871"/>
            <a:ext cx="11162759" cy="5532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0841" indent="-420841" algn="just" defTabSz="4273356">
              <a:spcBef>
                <a:spcPts val="327"/>
              </a:spcBef>
              <a:buFont typeface="+mj-lt"/>
              <a:buAutoNum type="arabicPeriod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We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modeled the concentrations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of four HAPs in the CONUS for 2021</a:t>
            </a:r>
          </a:p>
          <a:p>
            <a:pPr marL="420841" indent="-420841" algn="just" defTabSz="4273356">
              <a:spcBef>
                <a:spcPts val="327"/>
              </a:spcBef>
              <a:buFont typeface="+mj-lt"/>
              <a:buAutoNum type="arabicPeriod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We used a small initial set of data and covariates to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conceptualize the analysis pipeline</a:t>
            </a:r>
          </a:p>
          <a:p>
            <a:pPr marL="420841" indent="-420841" algn="just" defTabSz="4273356">
              <a:spcBef>
                <a:spcPts val="327"/>
              </a:spcBef>
              <a:buFont typeface="+mj-lt"/>
              <a:buAutoNum type="arabicPeriod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Preliminary results show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areas for improvement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841248" lvl="1" indent="-457200" algn="just" defTabSz="4273356">
              <a:spcBef>
                <a:spcPts val="327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Heterogeneity in validation results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 investigate data outliers and rethink cross-validation methods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41248" lvl="1" indent="-457200" algn="just" defTabSz="4273356">
              <a:spcBef>
                <a:spcPts val="327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Noisy model fit and predictions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 a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ddition of relevant covariates will allow for improvements across chemicals</a:t>
            </a:r>
          </a:p>
          <a:p>
            <a:pPr marL="420841" indent="-420841" algn="just" defTabSz="4273356">
              <a:spcBef>
                <a:spcPts val="327"/>
              </a:spcBef>
              <a:buFont typeface="+mj-lt"/>
              <a:buAutoNum type="arabicPeriod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Analysis pipeline development will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streamline the expansion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of this initial study, increasing computational efficiency and reducing user error</a:t>
            </a:r>
          </a:p>
          <a:p>
            <a:pPr algn="just" defTabSz="4273356">
              <a:spcBef>
                <a:spcPts val="327"/>
              </a:spcBef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20841" indent="-420841" algn="just" defTabSz="4273356">
              <a:spcBef>
                <a:spcPts val="327"/>
              </a:spcBef>
              <a:buFont typeface="+mj-lt"/>
              <a:buAutoNum type="arabicPeriod"/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73" name="Picture 1172" descr="A black and white symbol&#10;&#10;Description automatically generated with medium confidence">
            <a:extLst>
              <a:ext uri="{FF2B5EF4-FFF2-40B4-BE49-F238E27FC236}">
                <a16:creationId xmlns:a16="http://schemas.microsoft.com/office/drawing/2014/main" id="{5C2B01F4-3CCD-1172-C285-0D27AF61313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85046" y="25605186"/>
            <a:ext cx="5295660" cy="700564"/>
          </a:xfrm>
          <a:prstGeom prst="rect">
            <a:avLst/>
          </a:prstGeom>
        </p:spPr>
      </p:pic>
      <p:pic>
        <p:nvPicPr>
          <p:cNvPr id="1175" name="Picture 1174" descr="A black letter e&#10;&#10;Description automatically generated">
            <a:extLst>
              <a:ext uri="{FF2B5EF4-FFF2-40B4-BE49-F238E27FC236}">
                <a16:creationId xmlns:a16="http://schemas.microsoft.com/office/drawing/2014/main" id="{F29DCA69-E2A1-4999-65F9-C11F5042BB0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24330" y="24026233"/>
            <a:ext cx="5334000" cy="700564"/>
          </a:xfrm>
          <a:prstGeom prst="rect">
            <a:avLst/>
          </a:prstGeom>
        </p:spPr>
      </p:pic>
      <p:sp>
        <p:nvSpPr>
          <p:cNvPr id="1176" name="TextBox 1175">
            <a:extLst>
              <a:ext uri="{FF2B5EF4-FFF2-40B4-BE49-F238E27FC236}">
                <a16:creationId xmlns:a16="http://schemas.microsoft.com/office/drawing/2014/main" id="{33873622-9709-E9EE-0AAA-11EB9E2632EC}"/>
              </a:ext>
            </a:extLst>
          </p:cNvPr>
          <p:cNvSpPr txBox="1"/>
          <p:nvPr/>
        </p:nvSpPr>
        <p:spPr>
          <a:xfrm>
            <a:off x="14531546" y="23911873"/>
            <a:ext cx="420542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273356">
              <a:spcBef>
                <a:spcPts val="327"/>
              </a:spcBef>
            </a:pP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Land-use regression between pollutants </a:t>
            </a:r>
            <a:r>
              <a:rPr lang="en-US" sz="2800" b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z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and covariates </a:t>
            </a:r>
            <a:r>
              <a:rPr lang="en-US" sz="2800" b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X</a:t>
            </a:r>
            <a:r>
              <a:rPr lang="en-US" sz="2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: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</a:p>
        </p:txBody>
      </p:sp>
      <p:sp>
        <p:nvSpPr>
          <p:cNvPr id="1178" name="TextBox 1177">
            <a:extLst>
              <a:ext uri="{FF2B5EF4-FFF2-40B4-BE49-F238E27FC236}">
                <a16:creationId xmlns:a16="http://schemas.microsoft.com/office/drawing/2014/main" id="{6FF261C5-15F9-5B02-4A9F-155C3E154F36}"/>
              </a:ext>
            </a:extLst>
          </p:cNvPr>
          <p:cNvSpPr txBox="1"/>
          <p:nvPr/>
        </p:nvSpPr>
        <p:spPr>
          <a:xfrm>
            <a:off x="24104481" y="24699666"/>
            <a:ext cx="23241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Spatiotemporally correlated residuals</a:t>
            </a:r>
            <a:endParaRPr lang="en-US" sz="2000" kern="0" dirty="0">
              <a:solidFill>
                <a:srgbClr val="C00000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179" name="TextBox 1178">
            <a:extLst>
              <a:ext uri="{FF2B5EF4-FFF2-40B4-BE49-F238E27FC236}">
                <a16:creationId xmlns:a16="http://schemas.microsoft.com/office/drawing/2014/main" id="{F5561BE1-9C05-2AD7-539C-36C8C649F209}"/>
              </a:ext>
            </a:extLst>
          </p:cNvPr>
          <p:cNvSpPr txBox="1"/>
          <p:nvPr/>
        </p:nvSpPr>
        <p:spPr>
          <a:xfrm>
            <a:off x="14553936" y="25505725"/>
            <a:ext cx="4205427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273356">
              <a:spcBef>
                <a:spcPts val="327"/>
              </a:spcBef>
            </a:pP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Expressed as Multivariate Gaussian density:</a:t>
            </a:r>
          </a:p>
        </p:txBody>
      </p:sp>
      <p:sp>
        <p:nvSpPr>
          <p:cNvPr id="1180" name="TextBox 1179">
            <a:extLst>
              <a:ext uri="{FF2B5EF4-FFF2-40B4-BE49-F238E27FC236}">
                <a16:creationId xmlns:a16="http://schemas.microsoft.com/office/drawing/2014/main" id="{0BC0FDE1-D427-1B8A-2782-2CF3D63F7D3D}"/>
              </a:ext>
            </a:extLst>
          </p:cNvPr>
          <p:cNvSpPr txBox="1"/>
          <p:nvPr/>
        </p:nvSpPr>
        <p:spPr>
          <a:xfrm>
            <a:off x="14531546" y="26937917"/>
            <a:ext cx="1107165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273356">
              <a:spcBef>
                <a:spcPts val="327"/>
              </a:spcBef>
            </a:pP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To solve, we need to optimize the objective function:</a:t>
            </a:r>
          </a:p>
        </p:txBody>
      </p:sp>
      <p:grpSp>
        <p:nvGrpSpPr>
          <p:cNvPr id="1188" name="Group 1187">
            <a:extLst>
              <a:ext uri="{FF2B5EF4-FFF2-40B4-BE49-F238E27FC236}">
                <a16:creationId xmlns:a16="http://schemas.microsoft.com/office/drawing/2014/main" id="{A7959967-46B7-26CD-97CE-8D8350FC3EE1}"/>
              </a:ext>
            </a:extLst>
          </p:cNvPr>
          <p:cNvGrpSpPr/>
          <p:nvPr/>
        </p:nvGrpSpPr>
        <p:grpSpPr>
          <a:xfrm>
            <a:off x="14371330" y="27290358"/>
            <a:ext cx="15240000" cy="1350083"/>
            <a:chOff x="14371330" y="27492395"/>
            <a:chExt cx="15240000" cy="1350083"/>
          </a:xfrm>
        </p:grpSpPr>
        <p:grpSp>
          <p:nvGrpSpPr>
            <p:cNvPr id="1187" name="Group 1186">
              <a:extLst>
                <a:ext uri="{FF2B5EF4-FFF2-40B4-BE49-F238E27FC236}">
                  <a16:creationId xmlns:a16="http://schemas.microsoft.com/office/drawing/2014/main" id="{553296C0-6209-A564-D7D6-E331AEF4AC2C}"/>
                </a:ext>
              </a:extLst>
            </p:cNvPr>
            <p:cNvGrpSpPr/>
            <p:nvPr/>
          </p:nvGrpSpPr>
          <p:grpSpPr>
            <a:xfrm>
              <a:off x="14371330" y="27663144"/>
              <a:ext cx="15240000" cy="1179334"/>
              <a:chOff x="14371330" y="27663144"/>
              <a:chExt cx="15240000" cy="1179334"/>
            </a:xfrm>
          </p:grpSpPr>
          <p:pic>
            <p:nvPicPr>
              <p:cNvPr id="1171" name="Picture 1170">
                <a:extLst>
                  <a:ext uri="{FF2B5EF4-FFF2-40B4-BE49-F238E27FC236}">
                    <a16:creationId xmlns:a16="http://schemas.microsoft.com/office/drawing/2014/main" id="{76D524D2-EE56-D285-3C97-310CDE0F1B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371330" y="27663144"/>
                <a:ext cx="15240000" cy="822261"/>
              </a:xfrm>
              <a:prstGeom prst="rect">
                <a:avLst/>
              </a:prstGeom>
            </p:spPr>
          </p:pic>
          <p:sp>
            <p:nvSpPr>
              <p:cNvPr id="1181" name="TextBox 1180">
                <a:extLst>
                  <a:ext uri="{FF2B5EF4-FFF2-40B4-BE49-F238E27FC236}">
                    <a16:creationId xmlns:a16="http://schemas.microsoft.com/office/drawing/2014/main" id="{EEC84601-DA06-00B1-EE6E-68A348A4D876}"/>
                  </a:ext>
                </a:extLst>
              </p:cNvPr>
              <p:cNvSpPr txBox="1"/>
              <p:nvPr/>
            </p:nvSpPr>
            <p:spPr>
              <a:xfrm>
                <a:off x="17457460" y="28349821"/>
                <a:ext cx="1279513" cy="492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4273356">
                  <a:spcBef>
                    <a:spcPts val="327"/>
                  </a:spcBef>
                </a:pPr>
                <a:r>
                  <a:rPr lang="en-US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density</a:t>
                </a:r>
              </a:p>
            </p:txBody>
          </p:sp>
          <p:sp>
            <p:nvSpPr>
              <p:cNvPr id="1182" name="TextBox 1181">
                <a:extLst>
                  <a:ext uri="{FF2B5EF4-FFF2-40B4-BE49-F238E27FC236}">
                    <a16:creationId xmlns:a16="http://schemas.microsoft.com/office/drawing/2014/main" id="{C927686D-C0FB-F795-CFEF-BF50126A86CE}"/>
                  </a:ext>
                </a:extLst>
              </p:cNvPr>
              <p:cNvSpPr txBox="1"/>
              <p:nvPr/>
            </p:nvSpPr>
            <p:spPr>
              <a:xfrm>
                <a:off x="20026331" y="28350035"/>
                <a:ext cx="1279513" cy="492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4273356">
                  <a:spcBef>
                    <a:spcPts val="327"/>
                  </a:spcBef>
                </a:pPr>
                <a:r>
                  <a:rPr lang="en-US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penalty</a:t>
                </a:r>
              </a:p>
            </p:txBody>
          </p:sp>
        </p:grpSp>
        <p:sp>
          <p:nvSpPr>
            <p:cNvPr id="1183" name="Oval 1182">
              <a:extLst>
                <a:ext uri="{FF2B5EF4-FFF2-40B4-BE49-F238E27FC236}">
                  <a16:creationId xmlns:a16="http://schemas.microsoft.com/office/drawing/2014/main" id="{E7386398-4FF3-2FFE-65AC-BD5BCA652638}"/>
                </a:ext>
              </a:extLst>
            </p:cNvPr>
            <p:cNvSpPr/>
            <p:nvPr/>
          </p:nvSpPr>
          <p:spPr>
            <a:xfrm>
              <a:off x="23469600" y="27492395"/>
              <a:ext cx="838170" cy="1103647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49">
                <a:solidFill>
                  <a:srgbClr val="C00000"/>
                </a:solidFill>
              </a:endParaRPr>
            </a:p>
          </p:txBody>
        </p:sp>
      </p:grpSp>
      <p:sp>
        <p:nvSpPr>
          <p:cNvPr id="1184" name="Oval 1183">
            <a:extLst>
              <a:ext uri="{FF2B5EF4-FFF2-40B4-BE49-F238E27FC236}">
                <a16:creationId xmlns:a16="http://schemas.microsoft.com/office/drawing/2014/main" id="{962F2D4D-668B-6314-CC3D-5918A257F9F0}"/>
              </a:ext>
            </a:extLst>
          </p:cNvPr>
          <p:cNvSpPr/>
          <p:nvPr/>
        </p:nvSpPr>
        <p:spPr>
          <a:xfrm>
            <a:off x="23888685" y="24019657"/>
            <a:ext cx="567804" cy="74194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49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86" name="TextBox 1185">
                <a:extLst>
                  <a:ext uri="{FF2B5EF4-FFF2-40B4-BE49-F238E27FC236}">
                    <a16:creationId xmlns:a16="http://schemas.microsoft.com/office/drawing/2014/main" id="{11F113CB-1D21-F4E3-F77F-1FB550DE8D49}"/>
                  </a:ext>
                </a:extLst>
              </p:cNvPr>
              <p:cNvSpPr txBox="1"/>
              <p:nvPr/>
            </p:nvSpPr>
            <p:spPr>
              <a:xfrm>
                <a:off x="14629791" y="29016948"/>
                <a:ext cx="14855548" cy="21062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600" b="1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Problem</a:t>
                </a:r>
                <a:r>
                  <a:rPr lang="en-US" sz="26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:r>
                  <a:rPr lang="en-US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evaluation of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×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𝑛</m:t>
                    </m:r>
                  </m:oMath>
                </a14:m>
                <a:r>
                  <a:rPr lang="en-US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covariance matrix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1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𝚺</m:t>
                        </m:r>
                      </m:e>
                      <m:sub>
                        <m:r>
                          <a:rPr lang="en-US" sz="2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𝜽</m:t>
                        </m:r>
                      </m:sub>
                    </m:sSub>
                  </m:oMath>
                </a14:m>
                <a:r>
                  <a:rPr lang="en-US" sz="26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takes </a:t>
                </a:r>
                <a14:m>
                  <m:oMath xmlns:m="http://schemas.openxmlformats.org/officeDocument/2006/math">
                    <m:r>
                      <a:rPr lang="en-US" sz="2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𝒪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time for each</a:t>
                </a:r>
                <a:r>
                  <a:rPr lang="en-US" sz="2600" b="1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6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𝜽</m:t>
                    </m:r>
                  </m:oMath>
                </a14:m>
                <a:r>
                  <a:rPr lang="en-US" sz="2600" b="1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en-US" sz="26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Wingdings" pitchFamily="2" charset="2"/>
                  </a:rPr>
                  <a:t></a:t>
                </a:r>
                <a:r>
                  <a:rPr lang="en-US" sz="2600" b="1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Wingdings" pitchFamily="2" charset="2"/>
                  </a:rPr>
                  <a:t> </a:t>
                </a:r>
                <a:r>
                  <a:rPr lang="en-US" sz="26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Wingdings" pitchFamily="2" charset="2"/>
                  </a:rPr>
                  <a:t>computationally infeasible</a:t>
                </a:r>
                <a:endParaRPr lang="en-US" sz="2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US" sz="2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sz="26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Solution: </a:t>
                </a:r>
                <a:r>
                  <a:rPr lang="en-US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use sparse approximation</a:t>
                </a:r>
                <a:r>
                  <a:rPr lang="en-US" sz="26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600" b="1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sz="2600" b="1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𝑸</m:t>
                        </m:r>
                      </m:e>
                    </m:acc>
                    <m:r>
                      <a:rPr lang="en-US" sz="2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𝜷</m:t>
                    </m:r>
                    <m:r>
                      <a:rPr lang="en-US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r>
                      <a:rPr lang="en-US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𝜽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en-US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obtained through </a:t>
                </a:r>
                <a:r>
                  <a:rPr lang="en-US" sz="26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Sparse General </a:t>
                </a:r>
                <a:r>
                  <a:rPr lang="en-US" sz="2600" b="1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Vecchia</a:t>
                </a:r>
                <a:r>
                  <a:rPr lang="en-US" sz="26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Approximation</a:t>
                </a:r>
              </a:p>
              <a:p>
                <a:r>
                  <a:rPr lang="en-US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(Messier and </a:t>
                </a:r>
                <a:r>
                  <a:rPr lang="en-US" sz="26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Katzfuss</a:t>
                </a:r>
                <a:r>
                  <a:rPr lang="en-US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2021)</a:t>
                </a:r>
              </a:p>
              <a:p>
                <a:pPr algn="ctr" defTabSz="4572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2600" b="1" kern="0" dirty="0"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186" name="TextBox 1185">
                <a:extLst>
                  <a:ext uri="{FF2B5EF4-FFF2-40B4-BE49-F238E27FC236}">
                    <a16:creationId xmlns:a16="http://schemas.microsoft.com/office/drawing/2014/main" id="{11F113CB-1D21-F4E3-F77F-1FB550DE8D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29791" y="29016948"/>
                <a:ext cx="14855548" cy="2106282"/>
              </a:xfrm>
              <a:prstGeom prst="rect">
                <a:avLst/>
              </a:prstGeom>
              <a:blipFill>
                <a:blip r:embed="rId9"/>
                <a:stretch>
                  <a:fillRect l="-769" t="-2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89" name="TextBox 1188">
            <a:extLst>
              <a:ext uri="{FF2B5EF4-FFF2-40B4-BE49-F238E27FC236}">
                <a16:creationId xmlns:a16="http://schemas.microsoft.com/office/drawing/2014/main" id="{2BDA155D-E17B-9D2E-7BCA-B6EAB0C22576}"/>
              </a:ext>
            </a:extLst>
          </p:cNvPr>
          <p:cNvSpPr txBox="1"/>
          <p:nvPr/>
        </p:nvSpPr>
        <p:spPr>
          <a:xfrm>
            <a:off x="31429036" y="14146074"/>
            <a:ext cx="10210800" cy="1461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273356">
              <a:spcBef>
                <a:spcPts val="327"/>
              </a:spcBef>
            </a:pPr>
            <a:r>
              <a:rPr lang="en-US" sz="2800" u="sng" dirty="0">
                <a:latin typeface="Calibri" panose="020F0502020204030204" pitchFamily="34" charset="0"/>
                <a:cs typeface="Calibri" panose="020F0502020204030204" pitchFamily="34" charset="0"/>
              </a:rPr>
              <a:t>Spatial block cross-validation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(5 –fold)</a:t>
            </a:r>
          </a:p>
          <a:p>
            <a:pPr defTabSz="4273356">
              <a:spcBef>
                <a:spcPts val="327"/>
              </a:spcBef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MSE results across all outcomes </a:t>
            </a:r>
            <a:r>
              <a:rPr lang="en-US" sz="2800" dirty="0">
                <a:solidFill>
                  <a:prstClr val="black"/>
                </a:solidFill>
                <a:latin typeface="Calibri" panose="020F0502020204030204"/>
                <a:ea typeface="+mn-ea"/>
              </a:rPr>
              <a:t>(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/>
                <a:ea typeface="+mn-ea"/>
              </a:rPr>
              <a:t>μg</a:t>
            </a:r>
            <a:r>
              <a:rPr lang="en-US" sz="2800" dirty="0">
                <a:solidFill>
                  <a:prstClr val="black"/>
                </a:solidFill>
                <a:latin typeface="Calibri" panose="020F0502020204030204"/>
                <a:ea typeface="+mn-ea"/>
              </a:rPr>
              <a:t>/m</a:t>
            </a:r>
            <a:r>
              <a:rPr lang="en-US" sz="2800" baseline="30000" dirty="0">
                <a:solidFill>
                  <a:prstClr val="black"/>
                </a:solidFill>
                <a:latin typeface="Calibri" panose="020F0502020204030204"/>
                <a:ea typeface="+mn-ea"/>
              </a:rPr>
              <a:t>3</a:t>
            </a:r>
            <a:r>
              <a:rPr lang="en-US" sz="2800" dirty="0">
                <a:solidFill>
                  <a:prstClr val="black"/>
                </a:solidFill>
                <a:latin typeface="Calibri" panose="020F0502020204030204"/>
                <a:ea typeface="+mn-ea"/>
              </a:rPr>
              <a:t>)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: 5, 26,  0.8, 75,  2</a:t>
            </a:r>
          </a:p>
          <a:p>
            <a:pPr defTabSz="4273356">
              <a:spcBef>
                <a:spcPts val="327"/>
              </a:spcBef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Mean MSE across CV-folds: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22 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/>
                <a:ea typeface="+mn-ea"/>
              </a:rPr>
              <a:t>μg</a:t>
            </a:r>
            <a:r>
              <a:rPr lang="en-US" sz="2800" dirty="0">
                <a:solidFill>
                  <a:prstClr val="black"/>
                </a:solidFill>
                <a:latin typeface="Calibri" panose="020F0502020204030204"/>
                <a:ea typeface="+mn-ea"/>
              </a:rPr>
              <a:t>/m</a:t>
            </a:r>
            <a:r>
              <a:rPr lang="en-US" sz="2800" baseline="30000" dirty="0">
                <a:solidFill>
                  <a:prstClr val="black"/>
                </a:solidFill>
                <a:latin typeface="Calibri" panose="020F0502020204030204"/>
                <a:ea typeface="+mn-ea"/>
              </a:rPr>
              <a:t>3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1190" name="TextBox 1189">
            <a:extLst>
              <a:ext uri="{FF2B5EF4-FFF2-40B4-BE49-F238E27FC236}">
                <a16:creationId xmlns:a16="http://schemas.microsoft.com/office/drawing/2014/main" id="{7847D6B7-414A-36C9-AD81-0B986FDF17E8}"/>
              </a:ext>
            </a:extLst>
          </p:cNvPr>
          <p:cNvSpPr txBox="1"/>
          <p:nvPr/>
        </p:nvSpPr>
        <p:spPr>
          <a:xfrm>
            <a:off x="31394400" y="13423766"/>
            <a:ext cx="588972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273356">
              <a:spcBef>
                <a:spcPts val="327"/>
              </a:spcBef>
            </a:pPr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Validation metrics</a:t>
            </a:r>
          </a:p>
        </p:txBody>
      </p:sp>
      <p:sp>
        <p:nvSpPr>
          <p:cNvPr id="1191" name="TextBox 1190">
            <a:extLst>
              <a:ext uri="{FF2B5EF4-FFF2-40B4-BE49-F238E27FC236}">
                <a16:creationId xmlns:a16="http://schemas.microsoft.com/office/drawing/2014/main" id="{A24520B2-2F3B-4EC8-50D7-A85C5ECE1D3D}"/>
              </a:ext>
            </a:extLst>
          </p:cNvPr>
          <p:cNvSpPr txBox="1"/>
          <p:nvPr/>
        </p:nvSpPr>
        <p:spPr>
          <a:xfrm>
            <a:off x="31394400" y="7504343"/>
            <a:ext cx="588972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273356">
              <a:spcBef>
                <a:spcPts val="327"/>
              </a:spcBef>
            </a:pPr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Parameters selected</a:t>
            </a:r>
          </a:p>
        </p:txBody>
      </p:sp>
      <p:sp>
        <p:nvSpPr>
          <p:cNvPr id="1192" name="TextBox 1191">
            <a:extLst>
              <a:ext uri="{FF2B5EF4-FFF2-40B4-BE49-F238E27FC236}">
                <a16:creationId xmlns:a16="http://schemas.microsoft.com/office/drawing/2014/main" id="{4C254BD0-4FE7-EE14-8F0C-3D60D1F49780}"/>
              </a:ext>
            </a:extLst>
          </p:cNvPr>
          <p:cNvSpPr txBox="1"/>
          <p:nvPr/>
        </p:nvSpPr>
        <p:spPr>
          <a:xfrm>
            <a:off x="31394400" y="15914607"/>
            <a:ext cx="588972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273356">
              <a:spcBef>
                <a:spcPts val="327"/>
              </a:spcBef>
            </a:pPr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Prediction maps</a:t>
            </a:r>
          </a:p>
        </p:txBody>
      </p:sp>
      <p:sp>
        <p:nvSpPr>
          <p:cNvPr id="1199" name="TextBox 1198">
            <a:extLst>
              <a:ext uri="{FF2B5EF4-FFF2-40B4-BE49-F238E27FC236}">
                <a16:creationId xmlns:a16="http://schemas.microsoft.com/office/drawing/2014/main" id="{293FEE80-AB76-D124-29B2-3F5BBFA3E56A}"/>
              </a:ext>
            </a:extLst>
          </p:cNvPr>
          <p:cNvSpPr txBox="1"/>
          <p:nvPr/>
        </p:nvSpPr>
        <p:spPr>
          <a:xfrm>
            <a:off x="31429036" y="11768287"/>
            <a:ext cx="9628204" cy="1297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4273356">
              <a:spcBef>
                <a:spcPts val="327"/>
              </a:spcBef>
            </a:pPr>
            <a:r>
              <a:rPr 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Covariates from </a:t>
            </a:r>
            <a:r>
              <a:rPr lang="en-US" sz="2600" b="1" dirty="0" err="1">
                <a:latin typeface="Calibri" panose="020F0502020204030204" pitchFamily="34" charset="0"/>
                <a:cs typeface="Calibri" panose="020F0502020204030204" pitchFamily="34" charset="0"/>
              </a:rPr>
              <a:t>Gridmet</a:t>
            </a:r>
            <a:r>
              <a:rPr 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 (~4km reanalysis product). </a:t>
            </a:r>
            <a:endParaRPr lang="en-US" sz="2600" dirty="0">
              <a:solidFill>
                <a:srgbClr val="1F2328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2600" u="sng" dirty="0">
                <a:solidFill>
                  <a:srgbClr val="1F23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Future covariates:</a:t>
            </a:r>
            <a:r>
              <a:rPr lang="en-US" sz="2600" dirty="0">
                <a:solidFill>
                  <a:srgbClr val="1F23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more meteorology, emissions inventories (TRI, NEI), land use (</a:t>
            </a:r>
            <a:r>
              <a:rPr lang="en-US" sz="2600" dirty="0" err="1">
                <a:solidFill>
                  <a:srgbClr val="1F23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OpenLandMap</a:t>
            </a:r>
            <a:r>
              <a:rPr lang="en-US" sz="2600" dirty="0">
                <a:solidFill>
                  <a:srgbClr val="1F23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), etc. </a:t>
            </a:r>
          </a:p>
        </p:txBody>
      </p:sp>
      <p:pic>
        <p:nvPicPr>
          <p:cNvPr id="1253" name="Picture 1252">
            <a:extLst>
              <a:ext uri="{FF2B5EF4-FFF2-40B4-BE49-F238E27FC236}">
                <a16:creationId xmlns:a16="http://schemas.microsoft.com/office/drawing/2014/main" id="{C6B02C03-8AEA-34B6-BD10-3259105296F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645153" y="11533129"/>
            <a:ext cx="14498283" cy="9759737"/>
          </a:xfrm>
          <a:prstGeom prst="rect">
            <a:avLst/>
          </a:prstGeom>
        </p:spPr>
      </p:pic>
      <p:pic>
        <p:nvPicPr>
          <p:cNvPr id="1265" name="Picture 1264">
            <a:extLst>
              <a:ext uri="{FF2B5EF4-FFF2-40B4-BE49-F238E27FC236}">
                <a16:creationId xmlns:a16="http://schemas.microsoft.com/office/drawing/2014/main" id="{DC45627F-5B81-D59B-0D9C-EB57A477337C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r="21535"/>
          <a:stretch/>
        </p:blipFill>
        <p:spPr>
          <a:xfrm>
            <a:off x="6618093" y="21838277"/>
            <a:ext cx="6427294" cy="5119572"/>
          </a:xfrm>
          <a:prstGeom prst="rect">
            <a:avLst/>
          </a:prstGeom>
        </p:spPr>
      </p:pic>
      <p:pic>
        <p:nvPicPr>
          <p:cNvPr id="1266" name="Picture 1265">
            <a:extLst>
              <a:ext uri="{FF2B5EF4-FFF2-40B4-BE49-F238E27FC236}">
                <a16:creationId xmlns:a16="http://schemas.microsoft.com/office/drawing/2014/main" id="{C1F4A031-74A5-AAE7-E5CC-D333D8B2E6D8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77284" t="36140" b="46509"/>
          <a:stretch/>
        </p:blipFill>
        <p:spPr>
          <a:xfrm>
            <a:off x="10808679" y="21820790"/>
            <a:ext cx="1623877" cy="762000"/>
          </a:xfrm>
          <a:prstGeom prst="rect">
            <a:avLst/>
          </a:prstGeom>
        </p:spPr>
      </p:pic>
      <p:pic>
        <p:nvPicPr>
          <p:cNvPr id="1273" name="Picture 1272">
            <a:extLst>
              <a:ext uri="{FF2B5EF4-FFF2-40B4-BE49-F238E27FC236}">
                <a16:creationId xmlns:a16="http://schemas.microsoft.com/office/drawing/2014/main" id="{A18987A7-BD75-ED2E-0220-5750BBF3FDB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53313" y="8224706"/>
            <a:ext cx="6862735" cy="3436974"/>
          </a:xfrm>
          <a:prstGeom prst="rect">
            <a:avLst/>
          </a:prstGeom>
        </p:spPr>
      </p:pic>
      <p:grpSp>
        <p:nvGrpSpPr>
          <p:cNvPr id="1331" name="Group 1330">
            <a:extLst>
              <a:ext uri="{FF2B5EF4-FFF2-40B4-BE49-F238E27FC236}">
                <a16:creationId xmlns:a16="http://schemas.microsoft.com/office/drawing/2014/main" id="{7482A7FB-FE37-6139-CBDA-62233D1065D9}"/>
              </a:ext>
            </a:extLst>
          </p:cNvPr>
          <p:cNvGrpSpPr/>
          <p:nvPr/>
        </p:nvGrpSpPr>
        <p:grpSpPr>
          <a:xfrm>
            <a:off x="31000372" y="16220814"/>
            <a:ext cx="11414714" cy="4594998"/>
            <a:chOff x="31000372" y="16299670"/>
            <a:chExt cx="11414714" cy="4594998"/>
          </a:xfrm>
        </p:grpSpPr>
        <p:pic>
          <p:nvPicPr>
            <p:cNvPr id="1325" name="Picture 1324">
              <a:extLst>
                <a:ext uri="{FF2B5EF4-FFF2-40B4-BE49-F238E27FC236}">
                  <a16:creationId xmlns:a16="http://schemas.microsoft.com/office/drawing/2014/main" id="{50CDC580-320A-A32F-E6E9-46A40B73A1B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4"/>
            <a:srcRect l="4392" r="3476"/>
            <a:stretch/>
          </p:blipFill>
          <p:spPr>
            <a:xfrm>
              <a:off x="31000372" y="16299670"/>
              <a:ext cx="11414714" cy="4594998"/>
            </a:xfrm>
            <a:prstGeom prst="rect">
              <a:avLst/>
            </a:prstGeom>
          </p:spPr>
        </p:pic>
        <p:sp>
          <p:nvSpPr>
            <p:cNvPr id="1328" name="TextBox 1327">
              <a:extLst>
                <a:ext uri="{FF2B5EF4-FFF2-40B4-BE49-F238E27FC236}">
                  <a16:creationId xmlns:a16="http://schemas.microsoft.com/office/drawing/2014/main" id="{7C13394C-EE3D-07EE-2ACD-B63C138E8A7D}"/>
                </a:ext>
              </a:extLst>
            </p:cNvPr>
            <p:cNvSpPr txBox="1"/>
            <p:nvPr/>
          </p:nvSpPr>
          <p:spPr>
            <a:xfrm>
              <a:off x="31775400" y="20173024"/>
              <a:ext cx="220688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600" dirty="0">
                  <a:solidFill>
                    <a:prstClr val="black"/>
                  </a:solidFill>
                  <a:latin typeface="Calibri" panose="020F0502020204030204"/>
                  <a:ea typeface="+mn-ea"/>
                </a:rPr>
                <a:t>Concentration (</a:t>
              </a:r>
              <a:r>
                <a:rPr lang="en-US" sz="1600" dirty="0" err="1">
                  <a:solidFill>
                    <a:prstClr val="black"/>
                  </a:solidFill>
                  <a:latin typeface="Calibri" panose="020F0502020204030204"/>
                  <a:ea typeface="+mn-ea"/>
                </a:rPr>
                <a:t>μg</a:t>
              </a:r>
              <a:r>
                <a:rPr lang="en-US" sz="1600" dirty="0">
                  <a:solidFill>
                    <a:prstClr val="black"/>
                  </a:solidFill>
                  <a:latin typeface="Calibri" panose="020F0502020204030204"/>
                  <a:ea typeface="+mn-ea"/>
                </a:rPr>
                <a:t>/m</a:t>
              </a:r>
              <a:r>
                <a:rPr lang="en-US" sz="1600" baseline="30000" dirty="0">
                  <a:solidFill>
                    <a:prstClr val="black"/>
                  </a:solidFill>
                  <a:latin typeface="Calibri" panose="020F0502020204030204"/>
                  <a:ea typeface="+mn-ea"/>
                </a:rPr>
                <a:t>3</a:t>
              </a:r>
              <a:r>
                <a:rPr lang="en-US" sz="1600" dirty="0">
                  <a:solidFill>
                    <a:prstClr val="black"/>
                  </a:solidFill>
                  <a:latin typeface="Calibri" panose="020F0502020204030204"/>
                  <a:ea typeface="+mn-ea"/>
                </a:rPr>
                <a:t>)   </a:t>
              </a:r>
            </a:p>
          </p:txBody>
        </p:sp>
        <p:sp>
          <p:nvSpPr>
            <p:cNvPr id="1329" name="TextBox 1328">
              <a:extLst>
                <a:ext uri="{FF2B5EF4-FFF2-40B4-BE49-F238E27FC236}">
                  <a16:creationId xmlns:a16="http://schemas.microsoft.com/office/drawing/2014/main" id="{4101BE97-D1DB-56AA-A76C-F75B819EF427}"/>
                </a:ext>
              </a:extLst>
            </p:cNvPr>
            <p:cNvSpPr txBox="1"/>
            <p:nvPr/>
          </p:nvSpPr>
          <p:spPr>
            <a:xfrm>
              <a:off x="35674016" y="20173024"/>
              <a:ext cx="206742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600" dirty="0">
                  <a:solidFill>
                    <a:prstClr val="black"/>
                  </a:solidFill>
                  <a:latin typeface="Calibri" panose="020F0502020204030204"/>
                  <a:ea typeface="+mn-ea"/>
                </a:rPr>
                <a:t>Concentration (</a:t>
              </a:r>
              <a:r>
                <a:rPr lang="en-US" sz="1600" dirty="0" err="1">
                  <a:solidFill>
                    <a:prstClr val="black"/>
                  </a:solidFill>
                  <a:latin typeface="Calibri" panose="020F0502020204030204"/>
                  <a:ea typeface="+mn-ea"/>
                </a:rPr>
                <a:t>μg</a:t>
              </a:r>
              <a:r>
                <a:rPr lang="en-US" sz="1600" dirty="0">
                  <a:solidFill>
                    <a:prstClr val="black"/>
                  </a:solidFill>
                  <a:latin typeface="Calibri" panose="020F0502020204030204"/>
                  <a:ea typeface="+mn-ea"/>
                </a:rPr>
                <a:t>/m</a:t>
              </a:r>
              <a:r>
                <a:rPr lang="en-US" sz="1600" baseline="30000" dirty="0">
                  <a:solidFill>
                    <a:prstClr val="black"/>
                  </a:solidFill>
                  <a:latin typeface="Calibri" panose="020F0502020204030204"/>
                  <a:ea typeface="+mn-ea"/>
                </a:rPr>
                <a:t>3</a:t>
              </a:r>
              <a:r>
                <a:rPr lang="en-US" sz="1600" dirty="0">
                  <a:solidFill>
                    <a:prstClr val="black"/>
                  </a:solidFill>
                  <a:latin typeface="Calibri" panose="020F0502020204030204"/>
                  <a:ea typeface="+mn-ea"/>
                </a:rPr>
                <a:t>)</a:t>
              </a:r>
            </a:p>
          </p:txBody>
        </p:sp>
        <p:sp>
          <p:nvSpPr>
            <p:cNvPr id="1330" name="TextBox 1329">
              <a:extLst>
                <a:ext uri="{FF2B5EF4-FFF2-40B4-BE49-F238E27FC236}">
                  <a16:creationId xmlns:a16="http://schemas.microsoft.com/office/drawing/2014/main" id="{0DA4A1BA-AF8F-56A2-0C05-5E4B5E5CA9E5}"/>
                </a:ext>
              </a:extLst>
            </p:cNvPr>
            <p:cNvSpPr txBox="1"/>
            <p:nvPr/>
          </p:nvSpPr>
          <p:spPr>
            <a:xfrm>
              <a:off x="39471600" y="20173024"/>
              <a:ext cx="206742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600" dirty="0">
                  <a:solidFill>
                    <a:prstClr val="black"/>
                  </a:solidFill>
                  <a:latin typeface="Calibri" panose="020F0502020204030204"/>
                  <a:ea typeface="+mn-ea"/>
                </a:rPr>
                <a:t>Concentration (</a:t>
              </a:r>
              <a:r>
                <a:rPr lang="en-US" sz="1600" dirty="0" err="1">
                  <a:solidFill>
                    <a:prstClr val="black"/>
                  </a:solidFill>
                  <a:latin typeface="Calibri" panose="020F0502020204030204"/>
                  <a:ea typeface="+mn-ea"/>
                </a:rPr>
                <a:t>μg</a:t>
              </a:r>
              <a:r>
                <a:rPr lang="en-US" sz="1600" dirty="0">
                  <a:solidFill>
                    <a:prstClr val="black"/>
                  </a:solidFill>
                  <a:latin typeface="Calibri" panose="020F0502020204030204"/>
                  <a:ea typeface="+mn-ea"/>
                </a:rPr>
                <a:t>/m</a:t>
              </a:r>
              <a:r>
                <a:rPr lang="en-US" sz="1600" baseline="30000" dirty="0">
                  <a:solidFill>
                    <a:prstClr val="black"/>
                  </a:solidFill>
                  <a:latin typeface="Calibri" panose="020F0502020204030204"/>
                  <a:ea typeface="+mn-ea"/>
                </a:rPr>
                <a:t>3</a:t>
              </a:r>
              <a:r>
                <a:rPr lang="en-US" sz="1600" dirty="0">
                  <a:solidFill>
                    <a:prstClr val="black"/>
                  </a:solidFill>
                  <a:latin typeface="Calibri" panose="020F0502020204030204"/>
                  <a:ea typeface="+mn-ea"/>
                </a:rPr>
                <a:t>)</a:t>
              </a:r>
            </a:p>
          </p:txBody>
        </p:sp>
      </p:grpSp>
      <p:sp>
        <p:nvSpPr>
          <p:cNvPr id="1332" name="TextBox 1331">
            <a:extLst>
              <a:ext uri="{FF2B5EF4-FFF2-40B4-BE49-F238E27FC236}">
                <a16:creationId xmlns:a16="http://schemas.microsoft.com/office/drawing/2014/main" id="{3CEF621D-3E30-7D06-F6CE-EFCD164D9077}"/>
              </a:ext>
            </a:extLst>
          </p:cNvPr>
          <p:cNvSpPr txBox="1"/>
          <p:nvPr/>
        </p:nvSpPr>
        <p:spPr>
          <a:xfrm>
            <a:off x="31324167" y="28467231"/>
            <a:ext cx="588972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273356">
              <a:spcBef>
                <a:spcPts val="327"/>
              </a:spcBef>
            </a:pPr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Future Work:</a:t>
            </a:r>
          </a:p>
        </p:txBody>
      </p:sp>
      <p:grpSp>
        <p:nvGrpSpPr>
          <p:cNvPr id="1333" name="Group 1332">
            <a:extLst>
              <a:ext uri="{FF2B5EF4-FFF2-40B4-BE49-F238E27FC236}">
                <a16:creationId xmlns:a16="http://schemas.microsoft.com/office/drawing/2014/main" id="{20127C8B-8FC2-704B-BBE6-D3A5660A5B63}"/>
              </a:ext>
            </a:extLst>
          </p:cNvPr>
          <p:cNvGrpSpPr/>
          <p:nvPr/>
        </p:nvGrpSpPr>
        <p:grpSpPr>
          <a:xfrm>
            <a:off x="1086969" y="28513238"/>
            <a:ext cx="11845115" cy="2907593"/>
            <a:chOff x="27362822" y="28681123"/>
            <a:chExt cx="11845115" cy="2907593"/>
          </a:xfrm>
        </p:grpSpPr>
        <p:grpSp>
          <p:nvGrpSpPr>
            <p:cNvPr id="1334" name="Group 1333">
              <a:extLst>
                <a:ext uri="{FF2B5EF4-FFF2-40B4-BE49-F238E27FC236}">
                  <a16:creationId xmlns:a16="http://schemas.microsoft.com/office/drawing/2014/main" id="{AAEE4BBD-7C39-298D-23BE-9681C787E733}"/>
                </a:ext>
              </a:extLst>
            </p:cNvPr>
            <p:cNvGrpSpPr/>
            <p:nvPr/>
          </p:nvGrpSpPr>
          <p:grpSpPr>
            <a:xfrm>
              <a:off x="28730090" y="28886144"/>
              <a:ext cx="10477847" cy="2702572"/>
              <a:chOff x="12857132" y="28502386"/>
              <a:chExt cx="10477847" cy="2702572"/>
            </a:xfrm>
          </p:grpSpPr>
          <p:pic>
            <p:nvPicPr>
              <p:cNvPr id="1337" name="Picture 1336" descr="Qr code&#10;&#10;Description automatically generated">
                <a:extLst>
                  <a:ext uri="{FF2B5EF4-FFF2-40B4-BE49-F238E27FC236}">
                    <a16:creationId xmlns:a16="http://schemas.microsoft.com/office/drawing/2014/main" id="{999E098B-E5C6-A71B-6730-600652C9AA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0934321" y="28502386"/>
                <a:ext cx="2400658" cy="2400658"/>
              </a:xfrm>
              <a:prstGeom prst="rect">
                <a:avLst/>
              </a:prstGeom>
            </p:spPr>
          </p:pic>
          <p:sp>
            <p:nvSpPr>
              <p:cNvPr id="1338" name="TextBox 1337">
                <a:extLst>
                  <a:ext uri="{FF2B5EF4-FFF2-40B4-BE49-F238E27FC236}">
                    <a16:creationId xmlns:a16="http://schemas.microsoft.com/office/drawing/2014/main" id="{79687FFA-D87C-73F1-8419-723626DA3C4D}"/>
                  </a:ext>
                </a:extLst>
              </p:cNvPr>
              <p:cNvSpPr txBox="1"/>
              <p:nvPr/>
            </p:nvSpPr>
            <p:spPr>
              <a:xfrm>
                <a:off x="12857132" y="30743293"/>
                <a:ext cx="9828220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Arial" panose="020B0604020202020204" pitchFamily="34" charset="0"/>
                    <a:ea typeface="Roboto" panose="02000000000000000000" pitchFamily="2" charset="0"/>
                    <a:cs typeface="Arial" panose="020B0604020202020204" pitchFamily="34" charset="0"/>
                  </a:rPr>
                  <a:t>Scan QR code for contact, related publications, and more!</a:t>
                </a:r>
              </a:p>
            </p:txBody>
          </p:sp>
        </p:grpSp>
        <p:sp>
          <p:nvSpPr>
            <p:cNvPr id="1335" name="TextBox 1334">
              <a:extLst>
                <a:ext uri="{FF2B5EF4-FFF2-40B4-BE49-F238E27FC236}">
                  <a16:creationId xmlns:a16="http://schemas.microsoft.com/office/drawing/2014/main" id="{D3BDD487-3EE9-E675-79B2-C0237F928048}"/>
                </a:ext>
              </a:extLst>
            </p:cNvPr>
            <p:cNvSpPr txBox="1"/>
            <p:nvPr/>
          </p:nvSpPr>
          <p:spPr>
            <a:xfrm>
              <a:off x="27362822" y="28681123"/>
              <a:ext cx="9233409" cy="26161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400" b="1" dirty="0">
                  <a:latin typeface="Calibri" panose="020F0502020204030204" pitchFamily="34" charset="0"/>
                  <a:cs typeface="Calibri" panose="020F0502020204030204" pitchFamily="34" charset="0"/>
                </a:rPr>
                <a:t>References:</a:t>
              </a:r>
              <a:endParaRPr lang="en-US" sz="2400" dirty="0">
                <a:effectLst/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marL="457200" indent="-457200" algn="just">
                <a:spcBef>
                  <a:spcPts val="0"/>
                </a:spcBef>
                <a:spcAft>
                  <a:spcPts val="0"/>
                </a:spcAft>
              </a:pPr>
              <a:r>
                <a:rPr 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Bair E, Kidd B, Wimberley E, Mav D, Messier K (2024). </a:t>
              </a:r>
              <a:r>
                <a:rPr lang="en-US" sz="14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PrestoGP</a:t>
              </a:r>
              <a:r>
                <a:rPr 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: Penalized Regression for </a:t>
              </a:r>
              <a:r>
                <a:rPr lang="en-US" sz="14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Spatio</a:t>
              </a:r>
              <a:r>
                <a:rPr 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-Temporal Outcomes via Gaussian Processes. R package version 0.2.0.9036, https://</a:t>
              </a:r>
              <a:r>
                <a:rPr lang="en-US" sz="14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niehs.github.io</a:t>
              </a:r>
              <a:r>
                <a:rPr 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/</a:t>
              </a:r>
              <a:r>
                <a:rPr lang="en-US" sz="14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PrestoGP</a:t>
              </a:r>
              <a:r>
                <a:rPr 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/.</a:t>
              </a:r>
            </a:p>
            <a:p>
              <a:pPr marL="457200" indent="-457200" algn="just">
                <a:spcBef>
                  <a:spcPts val="0"/>
                </a:spcBef>
                <a:spcAft>
                  <a:spcPts val="0"/>
                </a:spcAft>
              </a:pPr>
              <a:r>
                <a:rPr 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Climate and Health Outcomes Research Data System (CHORDS). https://</a:t>
              </a:r>
              <a:r>
                <a:rPr lang="en-US" sz="14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www.niehs.nih.gov</a:t>
              </a:r>
              <a:r>
                <a:rPr 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/research/programs/chords. </a:t>
              </a:r>
            </a:p>
            <a:p>
              <a:pPr marL="457200" indent="-457200" algn="just">
                <a:spcBef>
                  <a:spcPts val="0"/>
                </a:spcBef>
                <a:spcAft>
                  <a:spcPts val="0"/>
                </a:spcAft>
              </a:pPr>
              <a:r>
                <a:rPr 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Landau WM (2021). “The targets R package: a dynamic Make-like function-oriented pipeline toolkit for reproducibility and high-performance computing.” Journal of Open Source Software, 6(57), 2959. https://</a:t>
              </a:r>
              <a:r>
                <a:rPr lang="en-US" sz="14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doi.org</a:t>
              </a:r>
              <a:r>
                <a:rPr 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/10.21105/joss.02959.</a:t>
              </a:r>
            </a:p>
            <a:p>
              <a:pPr marL="457200" indent="-457200" algn="just">
                <a:spcBef>
                  <a:spcPts val="0"/>
                </a:spcBef>
                <a:spcAft>
                  <a:spcPts val="0"/>
                </a:spcAft>
              </a:pPr>
              <a:r>
                <a:rPr lang="en-US" sz="14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Manware</a:t>
              </a:r>
              <a:r>
                <a:rPr 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 M, Song I, Marques E, </a:t>
              </a:r>
              <a:r>
                <a:rPr lang="en-US" sz="14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Alifa</a:t>
              </a:r>
              <a:r>
                <a:rPr 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 Kassien M, Messier K (2024). </a:t>
              </a:r>
              <a:r>
                <a:rPr lang="en-US" sz="14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amadeus</a:t>
              </a:r>
              <a:r>
                <a:rPr 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: Accessing and Analyzing Large-Scale Environmental Data. R package version 1.2.0, https://</a:t>
              </a:r>
              <a:r>
                <a:rPr lang="en-US" sz="14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niehs.github.io</a:t>
              </a:r>
              <a:r>
                <a:rPr 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/</a:t>
              </a:r>
              <a:r>
                <a:rPr lang="en-US" sz="14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amadeus</a:t>
              </a:r>
              <a:r>
                <a:rPr 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/.</a:t>
              </a:r>
            </a:p>
            <a:p>
              <a:pPr marL="457200" marR="0" indent="-457200" algn="just">
                <a:spcBef>
                  <a:spcPts val="0"/>
                </a:spcBef>
                <a:spcAft>
                  <a:spcPts val="0"/>
                </a:spcAft>
              </a:pPr>
              <a:r>
                <a:rPr 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Messier KP, </a:t>
              </a:r>
              <a:r>
                <a:rPr lang="en-US" sz="14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Katzfuss</a:t>
              </a:r>
              <a:r>
                <a:rPr 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 M. Scalable penalized spatiotemporal land-use regression for ground-level nitrogen dioxide. Ann Appl Stat. 2021 Jun;15(2):688-710. </a:t>
              </a:r>
              <a:r>
                <a:rPr lang="en-US" sz="14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doi</a:t>
              </a:r>
              <a:r>
                <a:rPr 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: 10.1214/20-aoas1422. </a:t>
              </a:r>
              <a:r>
                <a:rPr lang="en-US" sz="14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Epub</a:t>
              </a:r>
              <a:r>
                <a:rPr 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 2021 Jul 12. PMID: 35069963; PMCID: PMC8774268.</a:t>
              </a:r>
            </a:p>
            <a:p>
              <a:pPr marL="457200" marR="0" indent="-457200" algn="just">
                <a:spcBef>
                  <a:spcPts val="0"/>
                </a:spcBef>
                <a:spcAft>
                  <a:spcPts val="0"/>
                </a:spcAft>
              </a:pPr>
              <a:endParaRPr 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339" name="TextBox 1338">
            <a:extLst>
              <a:ext uri="{FF2B5EF4-FFF2-40B4-BE49-F238E27FC236}">
                <a16:creationId xmlns:a16="http://schemas.microsoft.com/office/drawing/2014/main" id="{BB24187D-B715-A59A-B6A8-9736B6126774}"/>
              </a:ext>
            </a:extLst>
          </p:cNvPr>
          <p:cNvSpPr txBox="1"/>
          <p:nvPr/>
        </p:nvSpPr>
        <p:spPr>
          <a:xfrm>
            <a:off x="767843" y="31581594"/>
            <a:ext cx="90896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*Email: mariana.kassien@nih.gov.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Abstract number 1649325</a:t>
            </a:r>
          </a:p>
        </p:txBody>
      </p:sp>
    </p:spTree>
    <p:extLst>
      <p:ext uri="{BB962C8B-B14F-4D97-AF65-F5344CB8AC3E}">
        <p14:creationId xmlns:p14="http://schemas.microsoft.com/office/powerpoint/2010/main" val="394002321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B2B2B2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D5D5D5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13854</TotalTime>
  <Words>868</Words>
  <Application>Microsoft Macintosh PowerPoint</Application>
  <PresentationFormat>Custom</PresentationFormat>
  <Paragraphs>104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Times New Roman</vt:lpstr>
      <vt:lpstr>Calibri</vt:lpstr>
      <vt:lpstr>Cambria Math</vt:lpstr>
      <vt:lpstr>Default Design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Light Blue Poster Presentation Example</dc:title>
  <dc:creator>Green, David (NIH/NIEHS) [C]</dc:creator>
  <cp:keywords>Light Blue Poster Presentation Example</cp:keywords>
  <cp:lastModifiedBy>Kassien, Mariana (NIH/NIEHS) [F]</cp:lastModifiedBy>
  <cp:revision>369</cp:revision>
  <cp:lastPrinted>2012-07-20T15:29:25Z</cp:lastPrinted>
  <dcterms:created xsi:type="dcterms:W3CDTF">2003-10-13T17:00:32Z</dcterms:created>
  <dcterms:modified xsi:type="dcterms:W3CDTF">2024-12-05T19:11:48Z</dcterms:modified>
  <cp:category>Light Blue Poster Presentation Example</cp:category>
</cp:coreProperties>
</file>