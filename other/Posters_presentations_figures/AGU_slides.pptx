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371" r:id="rId5"/>
    <p:sldId id="370" r:id="rId6"/>
    <p:sldId id="259" r:id="rId7"/>
    <p:sldId id="260" r:id="rId8"/>
    <p:sldId id="374" r:id="rId9"/>
    <p:sldId id="375" r:id="rId10"/>
    <p:sldId id="377" r:id="rId11"/>
    <p:sldId id="378" r:id="rId12"/>
    <p:sldId id="376" r:id="rId13"/>
    <p:sldId id="372" r:id="rId14"/>
    <p:sldId id="373" r:id="rId15"/>
    <p:sldId id="261" r:id="rId16"/>
    <p:sldId id="262" r:id="rId17"/>
    <p:sldId id="281" r:id="rId18"/>
    <p:sldId id="282" r:id="rId19"/>
    <p:sldId id="283" r:id="rId20"/>
    <p:sldId id="284" r:id="rId21"/>
    <p:sldId id="366" r:id="rId22"/>
    <p:sldId id="367" r:id="rId23"/>
    <p:sldId id="368" r:id="rId24"/>
    <p:sldId id="369" r:id="rId25"/>
    <p:sldId id="325" r:id="rId26"/>
    <p:sldId id="326" r:id="rId27"/>
    <p:sldId id="327" r:id="rId28"/>
    <p:sldId id="328" r:id="rId29"/>
    <p:sldId id="321" r:id="rId30"/>
    <p:sldId id="322" r:id="rId31"/>
    <p:sldId id="323" r:id="rId32"/>
    <p:sldId id="32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7"/>
    <p:restoredTop sz="96132"/>
  </p:normalViewPr>
  <p:slideViewPr>
    <p:cSldViewPr snapToGrid="0">
      <p:cViewPr>
        <p:scale>
          <a:sx n="49" d="100"/>
          <a:sy n="49" d="100"/>
        </p:scale>
        <p:origin x="2016" y="17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B08453-ED7D-BB47-B962-93510F40E789}" type="datetimeFigureOut">
              <a:rPr lang="en-US" smtClean="0"/>
              <a:t>12/3/24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38E25B-A215-A84A-AF88-58E8D5AD7B9D}" type="slidenum">
              <a:rPr lang="en-US" smtClean="0"/>
              <a:t>‹#›</a:t>
            </a:fld>
            <a:endParaRPr lang="en-US"/>
          </a:p>
        </p:txBody>
      </p:sp>
    </p:spTree>
    <p:extLst>
      <p:ext uri="{BB962C8B-B14F-4D97-AF65-F5344CB8AC3E}">
        <p14:creationId xmlns:p14="http://schemas.microsoft.com/office/powerpoint/2010/main" val="3796104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C85598-F199-45C1-9E10-12B9E4D456D1}" type="slidenum">
              <a:rPr lang="en-US" smtClean="0"/>
              <a:t>19</a:t>
            </a:fld>
            <a:endParaRPr lang="en-US"/>
          </a:p>
        </p:txBody>
      </p:sp>
    </p:spTree>
    <p:extLst>
      <p:ext uri="{BB962C8B-B14F-4D97-AF65-F5344CB8AC3E}">
        <p14:creationId xmlns:p14="http://schemas.microsoft.com/office/powerpoint/2010/main" val="4223003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EC62E-B441-73B2-6AFE-B66C8110CC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9CE333-9619-8BB5-8573-0E64F80509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485279-FD77-15C5-B070-4F1551FADFE1}"/>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5" name="Footer Placeholder 4">
            <a:extLst>
              <a:ext uri="{FF2B5EF4-FFF2-40B4-BE49-F238E27FC236}">
                <a16:creationId xmlns:a16="http://schemas.microsoft.com/office/drawing/2014/main" id="{2CE82977-C021-B882-35EF-FC6C173240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508AB2-4CB7-2D4B-E08A-4771082E5556}"/>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3878701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974D6-1AB2-06DE-65F0-A0532E29E4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A459B6-1254-A7D7-CAC4-7596F6DEB7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56712-DD2C-1F1B-8322-FB7C1EA219E4}"/>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5" name="Footer Placeholder 4">
            <a:extLst>
              <a:ext uri="{FF2B5EF4-FFF2-40B4-BE49-F238E27FC236}">
                <a16:creationId xmlns:a16="http://schemas.microsoft.com/office/drawing/2014/main" id="{3643BB1A-9D76-B3A7-4128-2C17D558B7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CFC8A2-6946-E714-05EC-B0BD9E0E7998}"/>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165279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96B4B-70D1-3BD3-197B-28A518E60D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8EE042-70DA-C1D1-C263-547182471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C2C729-E8BE-B244-5B98-093379D58202}"/>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5" name="Footer Placeholder 4">
            <a:extLst>
              <a:ext uri="{FF2B5EF4-FFF2-40B4-BE49-F238E27FC236}">
                <a16:creationId xmlns:a16="http://schemas.microsoft.com/office/drawing/2014/main" id="{51150FDC-E077-C474-C6E3-79DAF5CBDD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74A409-F1F8-FD6D-F319-0EBDB1FF4F74}"/>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1933454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F2BC7-D38C-D945-FE39-86A2AE9BFC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BEE9B2-E492-CFB4-2105-DA889D3D50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3A2AE7-7B7D-F256-A98D-4800F15954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8C6E55-39EC-6F3A-207A-3A9CCCA3F3A3}"/>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6" name="Footer Placeholder 5">
            <a:extLst>
              <a:ext uri="{FF2B5EF4-FFF2-40B4-BE49-F238E27FC236}">
                <a16:creationId xmlns:a16="http://schemas.microsoft.com/office/drawing/2014/main" id="{56950C18-13D5-7194-4E7E-0B73DBC07A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535897-6181-79E9-A08A-CF8223073566}"/>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96024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1DD9-86E2-65A6-F84E-B9C511412A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11EA4A-8503-559B-D1AD-FBAA09A943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A8432E-09CF-262D-BB95-E49B3FACA4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D5C672-8FF4-2129-0A21-1639E443F8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CE7F36-E87E-5E08-11DA-C851178F7A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8085FD-D448-461E-3632-6C695C1BE060}"/>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8" name="Footer Placeholder 7">
            <a:extLst>
              <a:ext uri="{FF2B5EF4-FFF2-40B4-BE49-F238E27FC236}">
                <a16:creationId xmlns:a16="http://schemas.microsoft.com/office/drawing/2014/main" id="{A2B19A94-C0EC-A518-3121-3724D3F4B2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63E039-B963-777F-B92E-AD0465EC3DA5}"/>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1711011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846C6-3198-FC4C-BC21-28B981401C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5A3808-01B0-9C78-E80D-16F8A75CC21B}"/>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4" name="Footer Placeholder 3">
            <a:extLst>
              <a:ext uri="{FF2B5EF4-FFF2-40B4-BE49-F238E27FC236}">
                <a16:creationId xmlns:a16="http://schemas.microsoft.com/office/drawing/2014/main" id="{80B4BEEB-7B7A-BFB8-B539-2E854E1163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95EBF7-B47C-5B2C-361D-749270BC6067}"/>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543482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43401F-8B9D-319C-A74E-4EE566141018}"/>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3" name="Footer Placeholder 2">
            <a:extLst>
              <a:ext uri="{FF2B5EF4-FFF2-40B4-BE49-F238E27FC236}">
                <a16:creationId xmlns:a16="http://schemas.microsoft.com/office/drawing/2014/main" id="{F259FABD-75CC-7EE9-9923-B7AD238A8D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9A4F71-4AF2-85FC-1EE3-47DD38A98FC0}"/>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1061951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8E8BF-E766-98C5-23B5-D900668E85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7A1FFB-BFBF-B76D-0837-DFA0E49C8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FE337C-BE27-96A8-66AD-B5B8A02B7D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A6026-F7EE-7CBA-E075-28C6CEF52487}"/>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6" name="Footer Placeholder 5">
            <a:extLst>
              <a:ext uri="{FF2B5EF4-FFF2-40B4-BE49-F238E27FC236}">
                <a16:creationId xmlns:a16="http://schemas.microsoft.com/office/drawing/2014/main" id="{AFDB4549-76BF-8B37-C92F-82B2829032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972991-F7F6-0996-45BB-E11048D1F2CC}"/>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955029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9FB48-FB02-6345-5374-5C02840ADB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1125E6-A694-C544-13B5-5A535C24CE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0D6F31-EDCD-7E70-4A6D-687D96C421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C85D45-E8A4-1BC4-63FB-F258C30440F1}"/>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6" name="Footer Placeholder 5">
            <a:extLst>
              <a:ext uri="{FF2B5EF4-FFF2-40B4-BE49-F238E27FC236}">
                <a16:creationId xmlns:a16="http://schemas.microsoft.com/office/drawing/2014/main" id="{A1D2DD4A-52E4-7A30-1E5B-6B8DC8119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9E9B63-EAC2-DE4E-8842-AE08902372AB}"/>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877182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62F7E-751C-14EF-A288-06BF9E5DBB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6FB461-6ED7-F4E8-E7E3-2C731CCE97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8C56C0-E82B-5F13-562F-7D6F27DCF1D9}"/>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5" name="Footer Placeholder 4">
            <a:extLst>
              <a:ext uri="{FF2B5EF4-FFF2-40B4-BE49-F238E27FC236}">
                <a16:creationId xmlns:a16="http://schemas.microsoft.com/office/drawing/2014/main" id="{BAEE16C9-90B8-FE3F-7072-926A3A9CF2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25DABB-6372-1CF9-0FD5-A265D3E796BF}"/>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2107766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D34B63-3B09-5566-2D20-4D606EBCB9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3015D5-5010-B34C-DA00-27062F80BF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98ABD-EB6C-359E-2E01-4D0B4FD248D4}"/>
              </a:ext>
            </a:extLst>
          </p:cNvPr>
          <p:cNvSpPr>
            <a:spLocks noGrp="1"/>
          </p:cNvSpPr>
          <p:nvPr>
            <p:ph type="dt" sz="half" idx="10"/>
          </p:nvPr>
        </p:nvSpPr>
        <p:spPr/>
        <p:txBody>
          <a:bodyPr/>
          <a:lstStyle/>
          <a:p>
            <a:fld id="{A6DEDC93-E8F1-9F41-AC91-BB6E00DFB884}" type="datetimeFigureOut">
              <a:rPr lang="en-US" smtClean="0"/>
              <a:t>12/2/24</a:t>
            </a:fld>
            <a:endParaRPr lang="en-US"/>
          </a:p>
        </p:txBody>
      </p:sp>
      <p:sp>
        <p:nvSpPr>
          <p:cNvPr id="5" name="Footer Placeholder 4">
            <a:extLst>
              <a:ext uri="{FF2B5EF4-FFF2-40B4-BE49-F238E27FC236}">
                <a16:creationId xmlns:a16="http://schemas.microsoft.com/office/drawing/2014/main" id="{C37C82A2-443B-90CE-A07A-52CB7A3835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52CADC-1EAB-2F62-2D6A-EAEB1EF49FEC}"/>
              </a:ext>
            </a:extLst>
          </p:cNvPr>
          <p:cNvSpPr>
            <a:spLocks noGrp="1"/>
          </p:cNvSpPr>
          <p:nvPr>
            <p:ph type="sldNum" sz="quarter" idx="12"/>
          </p:nvPr>
        </p:nvSpPr>
        <p:spPr/>
        <p:txBody>
          <a:bodyPr/>
          <a:lstStyle/>
          <a:p>
            <a:fld id="{57743FE9-2DE1-3949-8E31-1097D7ACC4B7}" type="slidenum">
              <a:rPr lang="en-US" smtClean="0"/>
              <a:t>‹#›</a:t>
            </a:fld>
            <a:endParaRPr lang="en-US"/>
          </a:p>
        </p:txBody>
      </p:sp>
    </p:spTree>
    <p:extLst>
      <p:ext uri="{BB962C8B-B14F-4D97-AF65-F5344CB8AC3E}">
        <p14:creationId xmlns:p14="http://schemas.microsoft.com/office/powerpoint/2010/main" val="1319477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18449B-12C6-FD04-D9C6-4F549A296B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AD0A09-02F1-A8E4-A9F6-EC53D4E525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4C40BA-8DE8-7FF3-2F48-291316A49D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DEDC93-E8F1-9F41-AC91-BB6E00DFB884}" type="datetimeFigureOut">
              <a:rPr lang="en-US" smtClean="0"/>
              <a:t>12/2/24</a:t>
            </a:fld>
            <a:endParaRPr lang="en-US"/>
          </a:p>
        </p:txBody>
      </p:sp>
      <p:sp>
        <p:nvSpPr>
          <p:cNvPr id="5" name="Footer Placeholder 4">
            <a:extLst>
              <a:ext uri="{FF2B5EF4-FFF2-40B4-BE49-F238E27FC236}">
                <a16:creationId xmlns:a16="http://schemas.microsoft.com/office/drawing/2014/main" id="{727EB67D-7BA8-E480-2784-A7F906BB67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5F3EAF0-FF04-6DBE-9061-37489D9A5B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743FE9-2DE1-3949-8E31-1097D7ACC4B7}" type="slidenum">
              <a:rPr lang="en-US" smtClean="0"/>
              <a:t>‹#›</a:t>
            </a:fld>
            <a:endParaRPr lang="en-US"/>
          </a:p>
        </p:txBody>
      </p:sp>
    </p:spTree>
    <p:extLst>
      <p:ext uri="{BB962C8B-B14F-4D97-AF65-F5344CB8AC3E}">
        <p14:creationId xmlns:p14="http://schemas.microsoft.com/office/powerpoint/2010/main" val="1028327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microsoft.com/office/2007/relationships/hdphoto" Target="../media/hdphoto4.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73C3-C600-1B41-C018-792B735A39B3}"/>
              </a:ext>
            </a:extLst>
          </p:cNvPr>
          <p:cNvSpPr>
            <a:spLocks noGrp="1"/>
          </p:cNvSpPr>
          <p:nvPr>
            <p:ph type="ctrTitle"/>
          </p:nvPr>
        </p:nvSpPr>
        <p:spPr/>
        <p:txBody>
          <a:bodyPr/>
          <a:lstStyle/>
          <a:p>
            <a:r>
              <a:rPr lang="en-US" dirty="0"/>
              <a:t>HAPS poster slides</a:t>
            </a:r>
          </a:p>
        </p:txBody>
      </p:sp>
      <p:sp>
        <p:nvSpPr>
          <p:cNvPr id="3" name="Subtitle 2">
            <a:extLst>
              <a:ext uri="{FF2B5EF4-FFF2-40B4-BE49-F238E27FC236}">
                <a16:creationId xmlns:a16="http://schemas.microsoft.com/office/drawing/2014/main" id="{7D175C92-C597-D4B9-ECC2-C3CC25E3BF4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09838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4B3CE-EA90-A8D5-71A1-4DD6BBE57E60}"/>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2F3AAED0-AA7B-4974-A8E1-054FA0EB90C3}"/>
              </a:ext>
            </a:extLst>
          </p:cNvPr>
          <p:cNvSpPr>
            <a:spLocks noGrp="1"/>
          </p:cNvSpPr>
          <p:nvPr>
            <p:ph idx="1"/>
          </p:nvPr>
        </p:nvSpPr>
        <p:spPr/>
        <p:txBody>
          <a:bodyPr>
            <a:normAutofit fontScale="92500" lnSpcReduction="10000"/>
          </a:bodyPr>
          <a:lstStyle/>
          <a:p>
            <a:pPr algn="just" defTabSz="5222875">
              <a:spcBef>
                <a:spcPts val="400"/>
              </a:spcBef>
            </a:pPr>
            <a:r>
              <a:rPr lang="en-US" b="0" i="0" dirty="0">
                <a:solidFill>
                  <a:srgbClr val="000000"/>
                </a:solidFill>
                <a:effectLst/>
                <a:latin typeface="Roboto" panose="02000000000000000000" pitchFamily="2" charset="0"/>
              </a:rPr>
              <a:t>The United States Environmental Protection Agency (EPA) has designated 188 compounds as Hazardous Air Pollutants (HAPs) for their known or suspected adverse health effects such as cancer, reproductive effects, and birth defects, among others.</a:t>
            </a:r>
          </a:p>
          <a:p>
            <a:pPr algn="just" defTabSz="5222875">
              <a:spcBef>
                <a:spcPts val="400"/>
              </a:spcBef>
            </a:pPr>
            <a:endParaRPr lang="en-US" dirty="0">
              <a:solidFill>
                <a:srgbClr val="000000"/>
              </a:solidFill>
              <a:latin typeface="Roboto" panose="02000000000000000000" pitchFamily="2" charset="0"/>
            </a:endParaRPr>
          </a:p>
          <a:p>
            <a:pPr algn="just" defTabSz="5222875">
              <a:spcBef>
                <a:spcPts val="400"/>
              </a:spcBef>
            </a:pPr>
            <a:r>
              <a:rPr lang="en-US" b="0" i="0" dirty="0">
                <a:solidFill>
                  <a:srgbClr val="000000"/>
                </a:solidFill>
                <a:effectLst/>
                <a:latin typeface="Roboto" panose="02000000000000000000" pitchFamily="2" charset="0"/>
              </a:rPr>
              <a:t>While emitting facilities are required by the EPA to report and regulate HAPs emissions, the sparsity of available atmospheric concentration data for these chemicals precludes further studies on population exposure and resulting health risks. </a:t>
            </a:r>
          </a:p>
          <a:p>
            <a:r>
              <a:rPr lang="en-US" dirty="0"/>
              <a:t>We have TOX data for these</a:t>
            </a:r>
          </a:p>
          <a:p>
            <a:r>
              <a:rPr lang="en-US" dirty="0"/>
              <a:t>We need exposure data to determine impacts and exposure disparities</a:t>
            </a:r>
          </a:p>
        </p:txBody>
      </p:sp>
    </p:spTree>
    <p:extLst>
      <p:ext uri="{BB962C8B-B14F-4D97-AF65-F5344CB8AC3E}">
        <p14:creationId xmlns:p14="http://schemas.microsoft.com/office/powerpoint/2010/main" val="3944925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F22E6-6939-EDAA-6A3E-FD00A79EDB51}"/>
              </a:ext>
            </a:extLst>
          </p:cNvPr>
          <p:cNvSpPr>
            <a:spLocks noGrp="1"/>
          </p:cNvSpPr>
          <p:nvPr>
            <p:ph type="title"/>
          </p:nvPr>
        </p:nvSpPr>
        <p:spPr/>
        <p:txBody>
          <a:bodyPr/>
          <a:lstStyle/>
          <a:p>
            <a:r>
              <a:rPr lang="en-US" dirty="0"/>
              <a:t>How the EPA regulates HAPs</a:t>
            </a:r>
          </a:p>
        </p:txBody>
      </p:sp>
      <p:sp>
        <p:nvSpPr>
          <p:cNvPr id="3" name="Content Placeholder 2">
            <a:extLst>
              <a:ext uri="{FF2B5EF4-FFF2-40B4-BE49-F238E27FC236}">
                <a16:creationId xmlns:a16="http://schemas.microsoft.com/office/drawing/2014/main" id="{D178378C-BBE2-1140-6117-C8743959B0BF}"/>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72848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E751B-C075-99D0-4071-106D7B678006}"/>
              </a:ext>
            </a:extLst>
          </p:cNvPr>
          <p:cNvSpPr>
            <a:spLocks noGrp="1"/>
          </p:cNvSpPr>
          <p:nvPr>
            <p:ph type="title"/>
          </p:nvPr>
        </p:nvSpPr>
        <p:spPr/>
        <p:txBody>
          <a:bodyPr/>
          <a:lstStyle/>
          <a:p>
            <a:endParaRPr lang="en-US" dirty="0"/>
          </a:p>
        </p:txBody>
      </p:sp>
      <p:graphicFrame>
        <p:nvGraphicFramePr>
          <p:cNvPr id="4" name="Table 3">
            <a:extLst>
              <a:ext uri="{FF2B5EF4-FFF2-40B4-BE49-F238E27FC236}">
                <a16:creationId xmlns:a16="http://schemas.microsoft.com/office/drawing/2014/main" id="{3388A9E1-35A1-D8F9-72EA-B4A980A91417}"/>
              </a:ext>
            </a:extLst>
          </p:cNvPr>
          <p:cNvGraphicFramePr>
            <a:graphicFrameLocks noGrp="1"/>
          </p:cNvGraphicFramePr>
          <p:nvPr>
            <p:extLst>
              <p:ext uri="{D42A27DB-BD31-4B8C-83A1-F6EECF244321}">
                <p14:modId xmlns:p14="http://schemas.microsoft.com/office/powerpoint/2010/main" val="756378126"/>
              </p:ext>
            </p:extLst>
          </p:nvPr>
        </p:nvGraphicFramePr>
        <p:xfrm>
          <a:off x="3613150" y="3493294"/>
          <a:ext cx="4931701" cy="1016000"/>
        </p:xfrm>
        <a:graphic>
          <a:graphicData uri="http://schemas.openxmlformats.org/drawingml/2006/table">
            <a:tbl>
              <a:tblPr/>
              <a:tblGrid>
                <a:gridCol w="1335850">
                  <a:extLst>
                    <a:ext uri="{9D8B030D-6E8A-4147-A177-3AD203B41FA5}">
                      <a16:colId xmlns:a16="http://schemas.microsoft.com/office/drawing/2014/main" val="3892949732"/>
                    </a:ext>
                  </a:extLst>
                </a:gridCol>
                <a:gridCol w="561257">
                  <a:extLst>
                    <a:ext uri="{9D8B030D-6E8A-4147-A177-3AD203B41FA5}">
                      <a16:colId xmlns:a16="http://schemas.microsoft.com/office/drawing/2014/main" val="1317564728"/>
                    </a:ext>
                  </a:extLst>
                </a:gridCol>
                <a:gridCol w="979822">
                  <a:extLst>
                    <a:ext uri="{9D8B030D-6E8A-4147-A177-3AD203B41FA5}">
                      <a16:colId xmlns:a16="http://schemas.microsoft.com/office/drawing/2014/main" val="499605410"/>
                    </a:ext>
                  </a:extLst>
                </a:gridCol>
                <a:gridCol w="913232">
                  <a:extLst>
                    <a:ext uri="{9D8B030D-6E8A-4147-A177-3AD203B41FA5}">
                      <a16:colId xmlns:a16="http://schemas.microsoft.com/office/drawing/2014/main" val="390291853"/>
                    </a:ext>
                  </a:extLst>
                </a:gridCol>
                <a:gridCol w="1141540">
                  <a:extLst>
                    <a:ext uri="{9D8B030D-6E8A-4147-A177-3AD203B41FA5}">
                      <a16:colId xmlns:a16="http://schemas.microsoft.com/office/drawing/2014/main" val="2397327527"/>
                    </a:ext>
                  </a:extLst>
                </a:gridCol>
              </a:tblGrid>
              <a:tr h="203200">
                <a:tc>
                  <a:txBody>
                    <a:bodyPr/>
                    <a:lstStyle/>
                    <a:p>
                      <a:pPr algn="l" fontAlgn="b"/>
                      <a:r>
                        <a:rPr lang="en-US" sz="1200" b="1" i="0" u="none" strike="noStrike" dirty="0">
                          <a:solidFill>
                            <a:srgbClr val="000000"/>
                          </a:solidFill>
                          <a:effectLst/>
                          <a:latin typeface="Calibri" panose="020F0502020204030204" pitchFamily="34" charset="0"/>
                        </a:rPr>
                        <a:t>Pollutant</a:t>
                      </a:r>
                    </a:p>
                  </a:txBody>
                  <a:tcPr marL="9525" marR="9525" marT="9525" marB="0" anchor="b">
                    <a:lnL>
                      <a:noFill/>
                    </a:lnL>
                    <a:lnR>
                      <a:noFill/>
                    </a:lnR>
                    <a:lnT>
                      <a:noFill/>
                    </a:lnT>
                    <a:lnB>
                      <a:noFill/>
                    </a:lnB>
                  </a:tcPr>
                </a:tc>
                <a:tc>
                  <a:txBody>
                    <a:bodyPr/>
                    <a:lstStyle/>
                    <a:p>
                      <a:pPr algn="l" fontAlgn="b"/>
                      <a:r>
                        <a:rPr lang="en-US" sz="1200" b="1" i="0" u="none" strike="noStrike">
                          <a:solidFill>
                            <a:srgbClr val="000000"/>
                          </a:solidFill>
                          <a:effectLst/>
                          <a:latin typeface="Calibri" panose="020F0502020204030204" pitchFamily="34" charset="0"/>
                        </a:rPr>
                        <a:t>Sites</a:t>
                      </a:r>
                    </a:p>
                  </a:txBody>
                  <a:tcPr marL="9525" marR="9525" marT="9525" marB="0" anchor="b">
                    <a:lnL>
                      <a:noFill/>
                    </a:lnL>
                    <a:lnR>
                      <a:noFill/>
                    </a:lnR>
                    <a:lnT>
                      <a:noFill/>
                    </a:lnT>
                    <a:lnB>
                      <a:noFill/>
                    </a:lnB>
                  </a:tcPr>
                </a:tc>
                <a:tc>
                  <a:txBody>
                    <a:bodyPr/>
                    <a:lstStyle/>
                    <a:p>
                      <a:pPr algn="l" fontAlgn="b"/>
                      <a:r>
                        <a:rPr lang="en-US" sz="1200" b="1" i="0" u="none" strike="noStrike">
                          <a:solidFill>
                            <a:srgbClr val="000000"/>
                          </a:solidFill>
                          <a:effectLst/>
                          <a:latin typeface="Calibri" panose="020F0502020204030204" pitchFamily="34" charset="0"/>
                        </a:rPr>
                        <a:t>%NonDetects</a:t>
                      </a:r>
                    </a:p>
                  </a:txBody>
                  <a:tcPr marL="9525" marR="9525" marT="9525" marB="0" anchor="b">
                    <a:lnL>
                      <a:noFill/>
                    </a:lnL>
                    <a:lnR>
                      <a:noFill/>
                    </a:lnR>
                    <a:lnT>
                      <a:noFill/>
                    </a:lnT>
                    <a:lnB>
                      <a:noFill/>
                    </a:lnB>
                  </a:tcPr>
                </a:tc>
                <a:tc>
                  <a:txBody>
                    <a:bodyPr/>
                    <a:lstStyle/>
                    <a:p>
                      <a:pPr algn="l" fontAlgn="b"/>
                      <a:r>
                        <a:rPr lang="en-US" sz="1200" b="1" i="0" u="none" strike="noStrike">
                          <a:solidFill>
                            <a:srgbClr val="000000"/>
                          </a:solidFill>
                          <a:effectLst/>
                          <a:latin typeface="Calibri" panose="020F0502020204030204" pitchFamily="34" charset="0"/>
                        </a:rPr>
                        <a:t>%BelowMDL</a:t>
                      </a:r>
                    </a:p>
                  </a:txBody>
                  <a:tcPr marL="9525" marR="9525" marT="9525" marB="0" anchor="b">
                    <a:lnL>
                      <a:noFill/>
                    </a:lnL>
                    <a:lnR>
                      <a:noFill/>
                    </a:lnR>
                    <a:lnT>
                      <a:noFill/>
                    </a:lnT>
                    <a:lnB>
                      <a:noFill/>
                    </a:lnB>
                  </a:tcPr>
                </a:tc>
                <a:tc>
                  <a:txBody>
                    <a:bodyPr/>
                    <a:lstStyle/>
                    <a:p>
                      <a:pPr algn="l" fontAlgn="b"/>
                      <a:r>
                        <a:rPr lang="en-US" sz="1200" b="1" i="0" u="none" strike="noStrike" dirty="0">
                          <a:solidFill>
                            <a:srgbClr val="000000"/>
                          </a:solidFill>
                          <a:effectLst/>
                          <a:latin typeface="Calibri" panose="020F0502020204030204" pitchFamily="34" charset="0"/>
                        </a:rPr>
                        <a:t>Mean Dates/Site</a:t>
                      </a:r>
                    </a:p>
                  </a:txBody>
                  <a:tcPr marL="9525" marR="9525" marT="9525" marB="0" anchor="b">
                    <a:lnL>
                      <a:noFill/>
                    </a:lnL>
                    <a:lnR>
                      <a:noFill/>
                    </a:lnR>
                    <a:lnT>
                      <a:noFill/>
                    </a:lnT>
                    <a:lnB>
                      <a:noFill/>
                    </a:lnB>
                  </a:tcPr>
                </a:tc>
                <a:extLst>
                  <a:ext uri="{0D108BD9-81ED-4DB2-BD59-A6C34878D82A}">
                    <a16:rowId xmlns:a16="http://schemas.microsoft.com/office/drawing/2014/main" val="4216049394"/>
                  </a:ext>
                </a:extLst>
              </a:tr>
              <a:tr h="203200">
                <a:tc>
                  <a:txBody>
                    <a:bodyPr/>
                    <a:lstStyle/>
                    <a:p>
                      <a:pPr algn="l" fontAlgn="b"/>
                      <a:r>
                        <a:rPr lang="en-US" sz="1200" b="0" i="0" u="none" strike="noStrike" dirty="0">
                          <a:solidFill>
                            <a:srgbClr val="000000"/>
                          </a:solidFill>
                          <a:effectLst/>
                          <a:latin typeface="Calibri" panose="020F0502020204030204" pitchFamily="34" charset="0"/>
                        </a:rPr>
                        <a:t>Benzene</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282</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0.9</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3.6</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97</a:t>
                      </a:r>
                    </a:p>
                  </a:txBody>
                  <a:tcPr marL="9525" marR="9525" marT="9525" marB="0" anchor="b">
                    <a:lnL>
                      <a:noFill/>
                    </a:lnL>
                    <a:lnR>
                      <a:noFill/>
                    </a:lnR>
                    <a:lnT>
                      <a:noFill/>
                    </a:lnT>
                    <a:lnB>
                      <a:noFill/>
                    </a:lnB>
                  </a:tcPr>
                </a:tc>
                <a:extLst>
                  <a:ext uri="{0D108BD9-81ED-4DB2-BD59-A6C34878D82A}">
                    <a16:rowId xmlns:a16="http://schemas.microsoft.com/office/drawing/2014/main" val="3997856170"/>
                  </a:ext>
                </a:extLst>
              </a:tr>
              <a:tr h="203200">
                <a:tc>
                  <a:txBody>
                    <a:bodyPr/>
                    <a:lstStyle/>
                    <a:p>
                      <a:pPr algn="l" fontAlgn="b"/>
                      <a:r>
                        <a:rPr lang="en-US" sz="1200" b="0" i="0" u="none" strike="noStrike">
                          <a:solidFill>
                            <a:srgbClr val="000000"/>
                          </a:solidFill>
                          <a:effectLst/>
                          <a:latin typeface="Calibri" panose="020F0502020204030204" pitchFamily="34" charset="0"/>
                        </a:rPr>
                        <a:t>Carbon tetrachloride</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226</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0.5</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3.9</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46</a:t>
                      </a:r>
                    </a:p>
                  </a:txBody>
                  <a:tcPr marL="9525" marR="9525" marT="9525" marB="0" anchor="b">
                    <a:lnL>
                      <a:noFill/>
                    </a:lnL>
                    <a:lnR>
                      <a:noFill/>
                    </a:lnR>
                    <a:lnT>
                      <a:noFill/>
                    </a:lnT>
                    <a:lnB>
                      <a:noFill/>
                    </a:lnB>
                  </a:tcPr>
                </a:tc>
                <a:extLst>
                  <a:ext uri="{0D108BD9-81ED-4DB2-BD59-A6C34878D82A}">
                    <a16:rowId xmlns:a16="http://schemas.microsoft.com/office/drawing/2014/main" val="2122739503"/>
                  </a:ext>
                </a:extLst>
              </a:tr>
              <a:tr h="203200">
                <a:tc>
                  <a:txBody>
                    <a:bodyPr/>
                    <a:lstStyle/>
                    <a:p>
                      <a:pPr algn="l" fontAlgn="b"/>
                      <a:r>
                        <a:rPr lang="en-US" sz="1200" b="0" i="0" u="none" strike="noStrike">
                          <a:solidFill>
                            <a:srgbClr val="000000"/>
                          </a:solidFill>
                          <a:effectLst/>
                          <a:latin typeface="Calibri" panose="020F0502020204030204" pitchFamily="34" charset="0"/>
                        </a:rPr>
                        <a:t>Chloroform</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225</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3.2</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5.0</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46</a:t>
                      </a:r>
                    </a:p>
                  </a:txBody>
                  <a:tcPr marL="9525" marR="9525" marT="9525" marB="0" anchor="b">
                    <a:lnL>
                      <a:noFill/>
                    </a:lnL>
                    <a:lnR>
                      <a:noFill/>
                    </a:lnR>
                    <a:lnT>
                      <a:noFill/>
                    </a:lnT>
                    <a:lnB>
                      <a:noFill/>
                    </a:lnB>
                  </a:tcPr>
                </a:tc>
                <a:extLst>
                  <a:ext uri="{0D108BD9-81ED-4DB2-BD59-A6C34878D82A}">
                    <a16:rowId xmlns:a16="http://schemas.microsoft.com/office/drawing/2014/main" val="4287115154"/>
                  </a:ext>
                </a:extLst>
              </a:tr>
              <a:tr h="203200">
                <a:tc>
                  <a:txBody>
                    <a:bodyPr/>
                    <a:lstStyle/>
                    <a:p>
                      <a:pPr algn="l" fontAlgn="b"/>
                      <a:r>
                        <a:rPr lang="en-US" sz="1200" b="0" i="0" u="none" strike="noStrike">
                          <a:solidFill>
                            <a:srgbClr val="000000"/>
                          </a:solidFill>
                          <a:effectLst/>
                          <a:latin typeface="Calibri" panose="020F0502020204030204" pitchFamily="34" charset="0"/>
                        </a:rPr>
                        <a:t>Hexane</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165</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1.0</a:t>
                      </a:r>
                    </a:p>
                  </a:txBody>
                  <a:tcPr marL="9525" marR="9525" marT="9525" marB="0" anchor="b">
                    <a:lnL>
                      <a:noFill/>
                    </a:lnL>
                    <a:lnR>
                      <a:noFill/>
                    </a:lnR>
                    <a:lnT>
                      <a:noFill/>
                    </a:lnT>
                    <a:lnB>
                      <a:noFill/>
                    </a:lnB>
                  </a:tcPr>
                </a:tc>
                <a:tc>
                  <a:txBody>
                    <a:bodyPr/>
                    <a:lstStyle/>
                    <a:p>
                      <a:pPr algn="r" fontAlgn="b"/>
                      <a:r>
                        <a:rPr lang="en-US" sz="1200" b="0" i="0" u="none" strike="noStrike">
                          <a:solidFill>
                            <a:srgbClr val="000000"/>
                          </a:solidFill>
                          <a:effectLst/>
                          <a:latin typeface="Calibri" panose="020F0502020204030204" pitchFamily="34" charset="0"/>
                        </a:rPr>
                        <a:t>0.6</a:t>
                      </a: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119</a:t>
                      </a:r>
                    </a:p>
                  </a:txBody>
                  <a:tcPr marL="9525" marR="9525" marT="9525" marB="0" anchor="b">
                    <a:lnL>
                      <a:noFill/>
                    </a:lnL>
                    <a:lnR>
                      <a:noFill/>
                    </a:lnR>
                    <a:lnT>
                      <a:noFill/>
                    </a:lnT>
                    <a:lnB>
                      <a:noFill/>
                    </a:lnB>
                  </a:tcPr>
                </a:tc>
                <a:extLst>
                  <a:ext uri="{0D108BD9-81ED-4DB2-BD59-A6C34878D82A}">
                    <a16:rowId xmlns:a16="http://schemas.microsoft.com/office/drawing/2014/main" val="2113837333"/>
                  </a:ext>
                </a:extLst>
              </a:tr>
            </a:tbl>
          </a:graphicData>
        </a:graphic>
      </p:graphicFrame>
    </p:spTree>
    <p:extLst>
      <p:ext uri="{BB962C8B-B14F-4D97-AF65-F5344CB8AC3E}">
        <p14:creationId xmlns:p14="http://schemas.microsoft.com/office/powerpoint/2010/main" val="2936363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7841F-1205-34E5-4CC3-699996092C27}"/>
              </a:ext>
            </a:extLst>
          </p:cNvPr>
          <p:cNvSpPr>
            <a:spLocks noGrp="1"/>
          </p:cNvSpPr>
          <p:nvPr>
            <p:ph type="title"/>
          </p:nvPr>
        </p:nvSpPr>
        <p:spPr>
          <a:xfrm>
            <a:off x="838200" y="365125"/>
            <a:ext cx="10220661" cy="255995"/>
          </a:xfrm>
        </p:spPr>
        <p:txBody>
          <a:bodyPr>
            <a:normAutofit fontScale="90000"/>
          </a:bodyPr>
          <a:lstStyle/>
          <a:p>
            <a:r>
              <a:rPr lang="en-US" sz="1400" dirty="0">
                <a:latin typeface="Calibri" panose="020F0502020204030204" pitchFamily="34" charset="0"/>
                <a:cs typeface="Calibri" panose="020F0502020204030204" pitchFamily="34" charset="0"/>
              </a:rPr>
              <a:t>HAPS ridgeline plot</a:t>
            </a:r>
          </a:p>
        </p:txBody>
      </p:sp>
      <p:grpSp>
        <p:nvGrpSpPr>
          <p:cNvPr id="24" name="Group 23">
            <a:extLst>
              <a:ext uri="{FF2B5EF4-FFF2-40B4-BE49-F238E27FC236}">
                <a16:creationId xmlns:a16="http://schemas.microsoft.com/office/drawing/2014/main" id="{DA2A344C-C98A-8565-C14E-F40CA7393716}"/>
              </a:ext>
            </a:extLst>
          </p:cNvPr>
          <p:cNvGrpSpPr/>
          <p:nvPr/>
        </p:nvGrpSpPr>
        <p:grpSpPr>
          <a:xfrm>
            <a:off x="4566844" y="2027903"/>
            <a:ext cx="7273059" cy="4464971"/>
            <a:chOff x="4566844" y="2027903"/>
            <a:chExt cx="7273059" cy="4464971"/>
          </a:xfrm>
        </p:grpSpPr>
        <p:grpSp>
          <p:nvGrpSpPr>
            <p:cNvPr id="22" name="Group 21">
              <a:extLst>
                <a:ext uri="{FF2B5EF4-FFF2-40B4-BE49-F238E27FC236}">
                  <a16:creationId xmlns:a16="http://schemas.microsoft.com/office/drawing/2014/main" id="{629BE18D-D50E-8887-7A68-FEE43FCCB9CF}"/>
                </a:ext>
              </a:extLst>
            </p:cNvPr>
            <p:cNvGrpSpPr/>
            <p:nvPr/>
          </p:nvGrpSpPr>
          <p:grpSpPr>
            <a:xfrm>
              <a:off x="4566844" y="2027903"/>
              <a:ext cx="7273059" cy="4464971"/>
              <a:chOff x="4566844" y="2027903"/>
              <a:chExt cx="7273059" cy="4464971"/>
            </a:xfrm>
          </p:grpSpPr>
          <p:pic>
            <p:nvPicPr>
              <p:cNvPr id="20" name="Picture 19">
                <a:extLst>
                  <a:ext uri="{FF2B5EF4-FFF2-40B4-BE49-F238E27FC236}">
                    <a16:creationId xmlns:a16="http://schemas.microsoft.com/office/drawing/2014/main" id="{31AF87A2-8278-153C-1EE2-521F971EAE69}"/>
                  </a:ext>
                </a:extLst>
              </p:cNvPr>
              <p:cNvPicPr>
                <a:picLocks noChangeAspect="1"/>
              </p:cNvPicPr>
              <p:nvPr/>
            </p:nvPicPr>
            <p:blipFill rotWithShape="1">
              <a:blip r:embed="rId2"/>
              <a:srcRect l="4583" t="7272" r="2314" b="7670"/>
              <a:stretch/>
            </p:blipFill>
            <p:spPr>
              <a:xfrm>
                <a:off x="4603531" y="2027903"/>
                <a:ext cx="7236372" cy="4095639"/>
              </a:xfrm>
              <a:prstGeom prst="rect">
                <a:avLst/>
              </a:prstGeom>
            </p:spPr>
          </p:pic>
          <p:grpSp>
            <p:nvGrpSpPr>
              <p:cNvPr id="17" name="Group 16">
                <a:extLst>
                  <a:ext uri="{FF2B5EF4-FFF2-40B4-BE49-F238E27FC236}">
                    <a16:creationId xmlns:a16="http://schemas.microsoft.com/office/drawing/2014/main" id="{47BF500F-A1C0-70D4-0F4F-2DEE5E0E474C}"/>
                  </a:ext>
                </a:extLst>
              </p:cNvPr>
              <p:cNvGrpSpPr/>
              <p:nvPr/>
            </p:nvGrpSpPr>
            <p:grpSpPr>
              <a:xfrm>
                <a:off x="5268818" y="2285203"/>
                <a:ext cx="3504912" cy="4207671"/>
                <a:chOff x="5268818" y="2285203"/>
                <a:chExt cx="3504912" cy="4207671"/>
              </a:xfrm>
            </p:grpSpPr>
            <p:pic>
              <p:nvPicPr>
                <p:cNvPr id="6" name="Picture 2" descr="Image result for benzene">
                  <a:extLst>
                    <a:ext uri="{FF2B5EF4-FFF2-40B4-BE49-F238E27FC236}">
                      <a16:creationId xmlns:a16="http://schemas.microsoft.com/office/drawing/2014/main" id="{BF718DFB-0C6B-F633-EE65-FBC4D65D8B2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96205" y="4780736"/>
                  <a:ext cx="458163" cy="4581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result for chemspider: chloroform">
                  <a:extLst>
                    <a:ext uri="{FF2B5EF4-FFF2-40B4-BE49-F238E27FC236}">
                      <a16:creationId xmlns:a16="http://schemas.microsoft.com/office/drawing/2014/main" id="{CED2F31E-6C97-5A71-DC58-3C8B8A6C27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6205" y="3088035"/>
                  <a:ext cx="515000" cy="515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mage result for chemspider hexane">
                  <a:extLst>
                    <a:ext uri="{FF2B5EF4-FFF2-40B4-BE49-F238E27FC236}">
                      <a16:creationId xmlns:a16="http://schemas.microsoft.com/office/drawing/2014/main" id="{078ECCBB-2475-0800-A308-267B48E702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6205" y="2285203"/>
                  <a:ext cx="515000" cy="515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chemspider: carbon tetrachloride">
                  <a:extLst>
                    <a:ext uri="{FF2B5EF4-FFF2-40B4-BE49-F238E27FC236}">
                      <a16:creationId xmlns:a16="http://schemas.microsoft.com/office/drawing/2014/main" id="{E2383364-1040-22E0-C700-284A8212CB2F}"/>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5268818" y="3863481"/>
                  <a:ext cx="569773" cy="56977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B53EBFA-BE8C-C308-95B9-3E65832595BC}"/>
                    </a:ext>
                  </a:extLst>
                </p:cNvPr>
                <p:cNvSpPr txBox="1"/>
                <p:nvPr/>
              </p:nvSpPr>
              <p:spPr>
                <a:xfrm>
                  <a:off x="6464252" y="6123542"/>
                  <a:ext cx="2309478" cy="369332"/>
                </a:xfrm>
                <a:prstGeom prst="rect">
                  <a:avLst/>
                </a:prstGeom>
                <a:noFill/>
              </p:spPr>
              <p:txBody>
                <a:bodyPr wrap="none" rtlCol="0">
                  <a:spAutoFit/>
                </a:bodyPr>
                <a:lstStyle/>
                <a:p>
                  <a:r>
                    <a:rPr lang="en-US" dirty="0"/>
                    <a:t>Concentration (</a:t>
                  </a:r>
                  <a:r>
                    <a:rPr lang="en-US" dirty="0" err="1"/>
                    <a:t>μg</a:t>
                  </a:r>
                  <a:r>
                    <a:rPr lang="en-US" dirty="0"/>
                    <a:t>/m</a:t>
                  </a:r>
                  <a:r>
                    <a:rPr lang="en-US" baseline="30000" dirty="0"/>
                    <a:t>3</a:t>
                  </a:r>
                  <a:r>
                    <a:rPr lang="en-US" dirty="0"/>
                    <a:t>)</a:t>
                  </a:r>
                </a:p>
              </p:txBody>
            </p:sp>
          </p:grpSp>
          <p:sp>
            <p:nvSpPr>
              <p:cNvPr id="21" name="TextBox 20">
                <a:extLst>
                  <a:ext uri="{FF2B5EF4-FFF2-40B4-BE49-F238E27FC236}">
                    <a16:creationId xmlns:a16="http://schemas.microsoft.com/office/drawing/2014/main" id="{37A7341E-1BD5-1AD6-1601-0705EC05D58C}"/>
                  </a:ext>
                </a:extLst>
              </p:cNvPr>
              <p:cNvSpPr txBox="1"/>
              <p:nvPr/>
            </p:nvSpPr>
            <p:spPr>
              <a:xfrm rot="16200000">
                <a:off x="4307317" y="3678814"/>
                <a:ext cx="888385" cy="369332"/>
              </a:xfrm>
              <a:prstGeom prst="rect">
                <a:avLst/>
              </a:prstGeom>
              <a:noFill/>
            </p:spPr>
            <p:txBody>
              <a:bodyPr wrap="none" rtlCol="0">
                <a:spAutoFit/>
              </a:bodyPr>
              <a:lstStyle/>
              <a:p>
                <a:r>
                  <a:rPr lang="en-US" dirty="0"/>
                  <a:t>Density</a:t>
                </a:r>
              </a:p>
            </p:txBody>
          </p:sp>
        </p:grpSp>
        <p:sp>
          <p:nvSpPr>
            <p:cNvPr id="23" name="TextBox 22">
              <a:extLst>
                <a:ext uri="{FF2B5EF4-FFF2-40B4-BE49-F238E27FC236}">
                  <a16:creationId xmlns:a16="http://schemas.microsoft.com/office/drawing/2014/main" id="{F08F2A0D-AD01-4C57-5E87-20525F05D2A8}"/>
                </a:ext>
              </a:extLst>
            </p:cNvPr>
            <p:cNvSpPr txBox="1"/>
            <p:nvPr/>
          </p:nvSpPr>
          <p:spPr>
            <a:xfrm>
              <a:off x="10166763" y="3507778"/>
              <a:ext cx="892098" cy="369332"/>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740484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39061-106F-F4DE-BBF2-50FE913D052B}"/>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54634E82-A9D2-9037-F4F6-0168B7DC352A}"/>
              </a:ext>
            </a:extLst>
          </p:cNvPr>
          <p:cNvSpPr>
            <a:spLocks noGrp="1"/>
          </p:cNvSpPr>
          <p:nvPr>
            <p:ph idx="1"/>
          </p:nvPr>
        </p:nvSpPr>
        <p:spPr/>
        <p:txBody>
          <a:bodyPr/>
          <a:lstStyle/>
          <a:p>
            <a:pPr marL="342900" indent="-342900" algn="just" defTabSz="5222875">
              <a:spcBef>
                <a:spcPts val="400"/>
              </a:spcBef>
              <a:buFont typeface="Arial" panose="020B0604020202020204" pitchFamily="34" charset="0"/>
              <a:buChar char="•"/>
            </a:pPr>
            <a:r>
              <a:rPr lang="en-US" dirty="0">
                <a:latin typeface="Arial" panose="020B0604020202020204" pitchFamily="34" charset="0"/>
                <a:cs typeface="Arial" panose="020B0604020202020204" pitchFamily="34" charset="0"/>
              </a:rPr>
              <a:t>Mapping HAPs concentrations in the coterminous United States for recent years</a:t>
            </a:r>
          </a:p>
          <a:p>
            <a:pPr marL="342900" indent="-342900" algn="just" defTabSz="5222875">
              <a:spcBef>
                <a:spcPts val="400"/>
              </a:spcBef>
              <a:buFont typeface="Arial" panose="020B0604020202020204" pitchFamily="34" charset="0"/>
              <a:buChar char="•"/>
            </a:pPr>
            <a:r>
              <a:rPr lang="en-US" dirty="0">
                <a:latin typeface="Arial" panose="020B0604020202020204" pitchFamily="34" charset="0"/>
                <a:cs typeface="Arial" panose="020B0604020202020204" pitchFamily="34" charset="0"/>
              </a:rPr>
              <a:t>Using novel statistical and computational methods for dealing with large datasets in multivariate scenarios </a:t>
            </a:r>
          </a:p>
          <a:p>
            <a:pPr marL="342900" indent="-342900" algn="just" defTabSz="5222875">
              <a:spcBef>
                <a:spcPts val="400"/>
              </a:spcBef>
              <a:buFont typeface="Arial" panose="020B0604020202020204" pitchFamily="34" charset="0"/>
              <a:buChar char="•"/>
            </a:pPr>
            <a:r>
              <a:rPr lang="en-US" dirty="0">
                <a:latin typeface="Arial" panose="020B0604020202020204" pitchFamily="34" charset="0"/>
                <a:cs typeface="Arial" panose="020B0604020202020204" pitchFamily="34" charset="0"/>
              </a:rPr>
              <a:t>Developing analysis pipelines for easy reproducibility and expansion</a:t>
            </a:r>
          </a:p>
          <a:p>
            <a:endParaRPr lang="en-US" dirty="0"/>
          </a:p>
        </p:txBody>
      </p:sp>
    </p:spTree>
    <p:extLst>
      <p:ext uri="{BB962C8B-B14F-4D97-AF65-F5344CB8AC3E}">
        <p14:creationId xmlns:p14="http://schemas.microsoft.com/office/powerpoint/2010/main" val="3470721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1EFBD-F195-7E75-2594-72AF29735617}"/>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C196C46B-D2A8-4EA5-8BB8-48020A7014B6}"/>
              </a:ext>
            </a:extLst>
          </p:cNvPr>
          <p:cNvSpPr>
            <a:spLocks noGrp="1"/>
          </p:cNvSpPr>
          <p:nvPr>
            <p:ph idx="1"/>
          </p:nvPr>
        </p:nvSpPr>
        <p:spPr/>
        <p:txBody>
          <a:bodyPr>
            <a:normAutofit fontScale="55000" lnSpcReduction="20000"/>
          </a:bodyPr>
          <a:lstStyle/>
          <a:p>
            <a:pPr algn="just" defTabSz="5222875">
              <a:spcBef>
                <a:spcPts val="400"/>
              </a:spcBef>
            </a:pPr>
            <a:r>
              <a:rPr lang="en-US" b="1" dirty="0">
                <a:latin typeface="Arial" panose="020B0604020202020204" pitchFamily="34" charset="0"/>
                <a:cs typeface="Arial" panose="020B0604020202020204" pitchFamily="34" charset="0"/>
              </a:rPr>
              <a:t>Hazardous Air Pollutants: </a:t>
            </a:r>
            <a:endParaRPr lang="en-US" dirty="0">
              <a:latin typeface="Arial" panose="020B0604020202020204" pitchFamily="34" charset="0"/>
              <a:cs typeface="Arial" panose="020B0604020202020204" pitchFamily="34" charset="0"/>
            </a:endParaRPr>
          </a:p>
          <a:p>
            <a:pPr algn="just" defTabSz="5222875">
              <a:spcBef>
                <a:spcPts val="400"/>
              </a:spcBef>
            </a:pPr>
            <a:r>
              <a:rPr lang="en-US" dirty="0">
                <a:latin typeface="Arial" panose="020B0604020202020204" pitchFamily="34" charset="0"/>
                <a:cs typeface="Arial" panose="020B0604020202020204" pitchFamily="34" charset="0"/>
              </a:rPr>
              <a:t>Benzene</a:t>
            </a:r>
          </a:p>
          <a:p>
            <a:pPr algn="just" defTabSz="5222875">
              <a:spcBef>
                <a:spcPts val="400"/>
              </a:spcBef>
            </a:pPr>
            <a:r>
              <a:rPr lang="en-US" dirty="0">
                <a:latin typeface="Arial" panose="020B0604020202020204" pitchFamily="34" charset="0"/>
                <a:cs typeface="Arial" panose="020B0604020202020204" pitchFamily="34" charset="0"/>
              </a:rPr>
              <a:t>Hexane</a:t>
            </a:r>
          </a:p>
          <a:p>
            <a:pPr algn="just" defTabSz="5222875">
              <a:spcBef>
                <a:spcPts val="400"/>
              </a:spcBef>
            </a:pPr>
            <a:r>
              <a:rPr lang="en-US" dirty="0">
                <a:latin typeface="Arial" panose="020B0604020202020204" pitchFamily="34" charset="0"/>
                <a:cs typeface="Arial" panose="020B0604020202020204" pitchFamily="34" charset="0"/>
              </a:rPr>
              <a:t>Carbon Tetrachloride</a:t>
            </a:r>
          </a:p>
          <a:p>
            <a:pPr algn="just" defTabSz="5222875">
              <a:spcBef>
                <a:spcPts val="400"/>
              </a:spcBef>
            </a:pPr>
            <a:r>
              <a:rPr lang="en-US" dirty="0">
                <a:latin typeface="Arial" panose="020B0604020202020204" pitchFamily="34" charset="0"/>
                <a:cs typeface="Arial" panose="020B0604020202020204" pitchFamily="34" charset="0"/>
              </a:rPr>
              <a:t>Chloroform</a:t>
            </a:r>
          </a:p>
          <a:p>
            <a:pPr algn="just" defTabSz="5222875">
              <a:spcBef>
                <a:spcPts val="400"/>
              </a:spcBef>
            </a:pPr>
            <a:r>
              <a:rPr lang="en-US" dirty="0">
                <a:latin typeface="Arial" panose="020B0604020202020204" pitchFamily="34" charset="0"/>
                <a:cs typeface="Arial" panose="020B0604020202020204" pitchFamily="34" charset="0"/>
              </a:rPr>
              <a:t>(We have 38 HAPs with 50+ sites across the US that have matching Tox information)</a:t>
            </a:r>
          </a:p>
          <a:p>
            <a:pPr algn="just" defTabSz="5222875">
              <a:spcBef>
                <a:spcPts val="400"/>
              </a:spcBef>
            </a:pPr>
            <a:endParaRPr lang="en-US" dirty="0">
              <a:latin typeface="Arial" panose="020B0604020202020204" pitchFamily="34" charset="0"/>
              <a:cs typeface="Arial" panose="020B0604020202020204" pitchFamily="34" charset="0"/>
            </a:endParaRPr>
          </a:p>
          <a:p>
            <a:pPr algn="just" defTabSz="5222875">
              <a:spcBef>
                <a:spcPts val="400"/>
              </a:spcBef>
            </a:pPr>
            <a:r>
              <a:rPr lang="en-US" b="1" dirty="0">
                <a:latin typeface="Arial" panose="020B0604020202020204" pitchFamily="34" charset="0"/>
                <a:cs typeface="Arial" panose="020B0604020202020204" pitchFamily="34" charset="0"/>
              </a:rPr>
              <a:t>Covariate Data:</a:t>
            </a:r>
          </a:p>
          <a:p>
            <a:pPr algn="just" defTabSz="5222875">
              <a:spcBef>
                <a:spcPts val="400"/>
              </a:spcBef>
            </a:pPr>
            <a:r>
              <a:rPr lang="en-US" dirty="0" err="1">
                <a:latin typeface="Arial" panose="020B0604020202020204" pitchFamily="34" charset="0"/>
                <a:cs typeface="Arial" panose="020B0604020202020204" pitchFamily="34" charset="0"/>
              </a:rPr>
              <a:t>Gridmet</a:t>
            </a:r>
            <a:r>
              <a:rPr lang="en-US" dirty="0">
                <a:latin typeface="Arial" panose="020B0604020202020204" pitchFamily="34" charset="0"/>
                <a:cs typeface="Arial" panose="020B0604020202020204" pitchFamily="34" charset="0"/>
              </a:rPr>
              <a:t> (~4km reanalysis product) </a:t>
            </a:r>
          </a:p>
          <a:p>
            <a:pPr marL="342900" indent="-342900" algn="l">
              <a:buFont typeface="Arial" panose="020B0604020202020204" pitchFamily="34" charset="0"/>
              <a:buChar char="•"/>
            </a:pPr>
            <a:r>
              <a:rPr lang="en-US" b="0" i="0" dirty="0">
                <a:solidFill>
                  <a:srgbClr val="1F2328"/>
                </a:solidFill>
                <a:effectLst/>
                <a:latin typeface="-apple-system"/>
              </a:rPr>
              <a:t>Wind Speed 10m</a:t>
            </a:r>
          </a:p>
          <a:p>
            <a:pPr marL="342900" indent="-342900" algn="l">
              <a:buFont typeface="Arial" panose="020B0604020202020204" pitchFamily="34" charset="0"/>
              <a:buChar char="•"/>
            </a:pPr>
            <a:r>
              <a:rPr lang="en-US" b="0" i="0" dirty="0">
                <a:solidFill>
                  <a:srgbClr val="1F2328"/>
                </a:solidFill>
                <a:effectLst/>
                <a:latin typeface="-apple-system"/>
              </a:rPr>
              <a:t>Wind direction 10m</a:t>
            </a:r>
          </a:p>
          <a:p>
            <a:pPr marL="342900" indent="-342900" algn="l">
              <a:buFont typeface="Arial" panose="020B0604020202020204" pitchFamily="34" charset="0"/>
              <a:buChar char="•"/>
            </a:pPr>
            <a:r>
              <a:rPr lang="en-US" b="0" i="0" dirty="0">
                <a:solidFill>
                  <a:srgbClr val="1F2328"/>
                </a:solidFill>
                <a:effectLst/>
                <a:latin typeface="-apple-system"/>
              </a:rPr>
              <a:t>Specific humidity</a:t>
            </a:r>
          </a:p>
          <a:p>
            <a:pPr marL="342900" indent="-342900" algn="l">
              <a:buFont typeface="Arial" panose="020B0604020202020204" pitchFamily="34" charset="0"/>
              <a:buChar char="•"/>
            </a:pPr>
            <a:r>
              <a:rPr lang="en-US" b="0" i="0" dirty="0">
                <a:solidFill>
                  <a:srgbClr val="1F2328"/>
                </a:solidFill>
                <a:effectLst/>
                <a:latin typeface="-apple-system"/>
              </a:rPr>
              <a:t>Maximum temperature</a:t>
            </a:r>
          </a:p>
          <a:p>
            <a:pPr marL="342900" indent="-342900" algn="l">
              <a:buFont typeface="Arial" panose="020B0604020202020204" pitchFamily="34" charset="0"/>
              <a:buChar char="•"/>
            </a:pPr>
            <a:r>
              <a:rPr lang="en-US" b="0" i="0" dirty="0">
                <a:solidFill>
                  <a:srgbClr val="1F2328"/>
                </a:solidFill>
                <a:effectLst/>
                <a:latin typeface="-apple-system"/>
              </a:rPr>
              <a:t>Minimum temperature</a:t>
            </a:r>
          </a:p>
          <a:p>
            <a:pPr marL="342900" indent="-342900" algn="l">
              <a:buFont typeface="Arial" panose="020B0604020202020204" pitchFamily="34" charset="0"/>
              <a:buChar char="•"/>
            </a:pPr>
            <a:r>
              <a:rPr lang="en-US" b="0" i="0" dirty="0">
                <a:solidFill>
                  <a:srgbClr val="1F2328"/>
                </a:solidFill>
                <a:effectLst/>
                <a:latin typeface="-apple-system"/>
              </a:rPr>
              <a:t>Precipitation</a:t>
            </a:r>
          </a:p>
          <a:p>
            <a:pPr marL="342900" indent="-342900" algn="l">
              <a:buFont typeface="Arial" panose="020B0604020202020204" pitchFamily="34" charset="0"/>
              <a:buChar char="•"/>
            </a:pPr>
            <a:r>
              <a:rPr lang="en-US" b="0" i="0" dirty="0">
                <a:solidFill>
                  <a:srgbClr val="1F2328"/>
                </a:solidFill>
                <a:effectLst/>
                <a:latin typeface="-apple-system"/>
              </a:rPr>
              <a:t>Surface Downwelling Solar Radiation</a:t>
            </a:r>
          </a:p>
          <a:p>
            <a:endParaRPr lang="en-US" dirty="0"/>
          </a:p>
        </p:txBody>
      </p:sp>
    </p:spTree>
    <p:extLst>
      <p:ext uri="{BB962C8B-B14F-4D97-AF65-F5344CB8AC3E}">
        <p14:creationId xmlns:p14="http://schemas.microsoft.com/office/powerpoint/2010/main" val="4149093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7408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9429D9B-8454-FD36-EB45-77BE93FAE61A}"/>
              </a:ext>
            </a:extLst>
          </p:cNvPr>
          <p:cNvGrpSpPr/>
          <p:nvPr/>
        </p:nvGrpSpPr>
        <p:grpSpPr>
          <a:xfrm>
            <a:off x="-339781" y="-747395"/>
            <a:ext cx="7080358" cy="6858000"/>
            <a:chOff x="2555819" y="-137795"/>
            <a:chExt cx="7080358" cy="6858000"/>
          </a:xfrm>
        </p:grpSpPr>
        <p:pic>
          <p:nvPicPr>
            <p:cNvPr id="8" name="Picture 7">
              <a:extLst>
                <a:ext uri="{FF2B5EF4-FFF2-40B4-BE49-F238E27FC236}">
                  <a16:creationId xmlns:a16="http://schemas.microsoft.com/office/drawing/2014/main" id="{CF976581-B283-0684-DFD0-11091E003FD9}"/>
                </a:ext>
              </a:extLst>
            </p:cNvPr>
            <p:cNvPicPr>
              <a:picLocks noChangeAspect="1"/>
            </p:cNvPicPr>
            <p:nvPr/>
          </p:nvPicPr>
          <p:blipFill rotWithShape="1">
            <a:blip r:embed="rId2"/>
            <a:srcRect t="82185"/>
            <a:stretch/>
          </p:blipFill>
          <p:spPr>
            <a:xfrm>
              <a:off x="2555819" y="4462790"/>
              <a:ext cx="7080358" cy="1221730"/>
            </a:xfrm>
            <a:prstGeom prst="rect">
              <a:avLst/>
            </a:prstGeom>
          </p:spPr>
        </p:pic>
        <p:pic>
          <p:nvPicPr>
            <p:cNvPr id="7" name="Picture 6">
              <a:extLst>
                <a:ext uri="{FF2B5EF4-FFF2-40B4-BE49-F238E27FC236}">
                  <a16:creationId xmlns:a16="http://schemas.microsoft.com/office/drawing/2014/main" id="{89C7C64E-7F51-C041-BE80-7B635D4EAE8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2555819" y="-137795"/>
              <a:ext cx="7080358" cy="6858000"/>
            </a:xfrm>
            <a:prstGeom prst="rect">
              <a:avLst/>
            </a:prstGeom>
          </p:spPr>
        </p:pic>
        <p:sp>
          <p:nvSpPr>
            <p:cNvPr id="6" name="TextBox 5">
              <a:extLst>
                <a:ext uri="{FF2B5EF4-FFF2-40B4-BE49-F238E27FC236}">
                  <a16:creationId xmlns:a16="http://schemas.microsoft.com/office/drawing/2014/main" id="{7D4F0772-FADB-8BCF-AE84-1C275E96BC20}"/>
                </a:ext>
              </a:extLst>
            </p:cNvPr>
            <p:cNvSpPr txBox="1"/>
            <p:nvPr/>
          </p:nvSpPr>
          <p:spPr>
            <a:xfrm>
              <a:off x="4019860" y="911870"/>
              <a:ext cx="4152279" cy="523220"/>
            </a:xfrm>
            <a:prstGeom prst="rect">
              <a:avLst/>
            </a:prstGeom>
            <a:noFill/>
          </p:spPr>
          <p:txBody>
            <a:bodyPr wrap="square" rtlCol="0">
              <a:spAutoFit/>
            </a:bodyPr>
            <a:lstStyle/>
            <a:p>
              <a:pPr algn="ctr"/>
              <a:r>
                <a:rPr lang="en-US" sz="2800" b="1" dirty="0"/>
                <a:t>Mean Benzene 2021</a:t>
              </a:r>
            </a:p>
          </p:txBody>
        </p:sp>
      </p:grpSp>
      <p:grpSp>
        <p:nvGrpSpPr>
          <p:cNvPr id="10" name="Group 9">
            <a:extLst>
              <a:ext uri="{FF2B5EF4-FFF2-40B4-BE49-F238E27FC236}">
                <a16:creationId xmlns:a16="http://schemas.microsoft.com/office/drawing/2014/main" id="{70777E85-E251-ADEF-DD9A-EA7EFBD3A48B}"/>
              </a:ext>
            </a:extLst>
          </p:cNvPr>
          <p:cNvGrpSpPr/>
          <p:nvPr/>
        </p:nvGrpSpPr>
        <p:grpSpPr>
          <a:xfrm>
            <a:off x="5363979" y="-747395"/>
            <a:ext cx="7080359" cy="6858000"/>
            <a:chOff x="2555820" y="-137795"/>
            <a:chExt cx="7080359" cy="6858000"/>
          </a:xfrm>
        </p:grpSpPr>
        <p:pic>
          <p:nvPicPr>
            <p:cNvPr id="11" name="Picture 10">
              <a:extLst>
                <a:ext uri="{FF2B5EF4-FFF2-40B4-BE49-F238E27FC236}">
                  <a16:creationId xmlns:a16="http://schemas.microsoft.com/office/drawing/2014/main" id="{2E9372F9-ED89-BB62-85F5-A66737C46A9D}"/>
                </a:ext>
              </a:extLst>
            </p:cNvPr>
            <p:cNvPicPr>
              <a:picLocks noChangeAspect="1"/>
            </p:cNvPicPr>
            <p:nvPr/>
          </p:nvPicPr>
          <p:blipFill rotWithShape="1">
            <a:blip r:embed="rId5"/>
            <a:srcRect t="86000"/>
            <a:stretch/>
          </p:blipFill>
          <p:spPr>
            <a:xfrm>
              <a:off x="2555821" y="4724400"/>
              <a:ext cx="7080358" cy="960120"/>
            </a:xfrm>
            <a:prstGeom prst="rect">
              <a:avLst/>
            </a:prstGeom>
          </p:spPr>
        </p:pic>
        <p:pic>
          <p:nvPicPr>
            <p:cNvPr id="12" name="Picture 11">
              <a:extLst>
                <a:ext uri="{FF2B5EF4-FFF2-40B4-BE49-F238E27FC236}">
                  <a16:creationId xmlns:a16="http://schemas.microsoft.com/office/drawing/2014/main" id="{8F451A39-7864-779C-2DB8-0067B8EE4371}"/>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2555820" y="-137795"/>
              <a:ext cx="7080358" cy="6858000"/>
            </a:xfrm>
            <a:prstGeom prst="rect">
              <a:avLst/>
            </a:prstGeom>
          </p:spPr>
        </p:pic>
        <p:sp>
          <p:nvSpPr>
            <p:cNvPr id="13" name="TextBox 12">
              <a:extLst>
                <a:ext uri="{FF2B5EF4-FFF2-40B4-BE49-F238E27FC236}">
                  <a16:creationId xmlns:a16="http://schemas.microsoft.com/office/drawing/2014/main" id="{73C4E92F-B24F-5B56-E65F-647238FECD61}"/>
                </a:ext>
              </a:extLst>
            </p:cNvPr>
            <p:cNvSpPr txBox="1"/>
            <p:nvPr/>
          </p:nvSpPr>
          <p:spPr>
            <a:xfrm>
              <a:off x="4019860" y="911870"/>
              <a:ext cx="4152279" cy="523220"/>
            </a:xfrm>
            <a:prstGeom prst="rect">
              <a:avLst/>
            </a:prstGeom>
            <a:noFill/>
          </p:spPr>
          <p:txBody>
            <a:bodyPr wrap="square" rtlCol="0">
              <a:spAutoFit/>
            </a:bodyPr>
            <a:lstStyle/>
            <a:p>
              <a:pPr algn="ctr"/>
              <a:r>
                <a:rPr lang="en-US" sz="2800" b="1" dirty="0"/>
                <a:t>Mean Chloroform 2021</a:t>
              </a:r>
            </a:p>
          </p:txBody>
        </p:sp>
      </p:grpSp>
      <p:grpSp>
        <p:nvGrpSpPr>
          <p:cNvPr id="14" name="Group 13">
            <a:extLst>
              <a:ext uri="{FF2B5EF4-FFF2-40B4-BE49-F238E27FC236}">
                <a16:creationId xmlns:a16="http://schemas.microsoft.com/office/drawing/2014/main" id="{13A9F176-8A2F-A617-2CE8-A8847EF10A6E}"/>
              </a:ext>
            </a:extLst>
          </p:cNvPr>
          <p:cNvGrpSpPr/>
          <p:nvPr/>
        </p:nvGrpSpPr>
        <p:grpSpPr>
          <a:xfrm>
            <a:off x="11067740" y="-747395"/>
            <a:ext cx="7080359" cy="6858000"/>
            <a:chOff x="2555819" y="-137795"/>
            <a:chExt cx="7080359" cy="6858000"/>
          </a:xfrm>
        </p:grpSpPr>
        <p:pic>
          <p:nvPicPr>
            <p:cNvPr id="15" name="Picture 14">
              <a:extLst>
                <a:ext uri="{FF2B5EF4-FFF2-40B4-BE49-F238E27FC236}">
                  <a16:creationId xmlns:a16="http://schemas.microsoft.com/office/drawing/2014/main" id="{49655A64-D373-7469-C0AF-41B00B3DD3BA}"/>
                </a:ext>
              </a:extLst>
            </p:cNvPr>
            <p:cNvPicPr>
              <a:picLocks noChangeAspect="1"/>
            </p:cNvPicPr>
            <p:nvPr/>
          </p:nvPicPr>
          <p:blipFill rotWithShape="1">
            <a:blip r:embed="rId8"/>
            <a:srcRect t="86000"/>
            <a:stretch/>
          </p:blipFill>
          <p:spPr>
            <a:xfrm>
              <a:off x="2555819" y="4724400"/>
              <a:ext cx="7080358" cy="960120"/>
            </a:xfrm>
            <a:prstGeom prst="rect">
              <a:avLst/>
            </a:prstGeom>
          </p:spPr>
        </p:pic>
        <p:pic>
          <p:nvPicPr>
            <p:cNvPr id="16" name="Picture 15">
              <a:extLst>
                <a:ext uri="{FF2B5EF4-FFF2-40B4-BE49-F238E27FC236}">
                  <a16:creationId xmlns:a16="http://schemas.microsoft.com/office/drawing/2014/main" id="{EFD4F031-8CE5-69E2-33D0-BBCCAAB7FCD7}"/>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2555820" y="-137795"/>
              <a:ext cx="7080358" cy="6858000"/>
            </a:xfrm>
            <a:prstGeom prst="rect">
              <a:avLst/>
            </a:prstGeom>
          </p:spPr>
        </p:pic>
        <p:sp>
          <p:nvSpPr>
            <p:cNvPr id="17" name="TextBox 16">
              <a:extLst>
                <a:ext uri="{FF2B5EF4-FFF2-40B4-BE49-F238E27FC236}">
                  <a16:creationId xmlns:a16="http://schemas.microsoft.com/office/drawing/2014/main" id="{8416430B-A7B1-3839-946B-FD7E1E5F0AC8}"/>
                </a:ext>
              </a:extLst>
            </p:cNvPr>
            <p:cNvSpPr txBox="1"/>
            <p:nvPr/>
          </p:nvSpPr>
          <p:spPr>
            <a:xfrm>
              <a:off x="4019860" y="911870"/>
              <a:ext cx="4152279" cy="523220"/>
            </a:xfrm>
            <a:prstGeom prst="rect">
              <a:avLst/>
            </a:prstGeom>
            <a:noFill/>
          </p:spPr>
          <p:txBody>
            <a:bodyPr wrap="square" rtlCol="0">
              <a:spAutoFit/>
            </a:bodyPr>
            <a:lstStyle/>
            <a:p>
              <a:pPr algn="ctr"/>
              <a:r>
                <a:rPr lang="en-US" sz="2800" b="1" dirty="0"/>
                <a:t>Mean Hexane 2021</a:t>
              </a:r>
            </a:p>
          </p:txBody>
        </p:sp>
      </p:grpSp>
    </p:spTree>
    <p:extLst>
      <p:ext uri="{BB962C8B-B14F-4D97-AF65-F5344CB8AC3E}">
        <p14:creationId xmlns:p14="http://schemas.microsoft.com/office/powerpoint/2010/main" val="238778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41972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FC89948-50C9-8A44-29AE-64F6621BB49C}"/>
              </a:ext>
            </a:extLst>
          </p:cNvPr>
          <p:cNvGrpSpPr/>
          <p:nvPr/>
        </p:nvGrpSpPr>
        <p:grpSpPr>
          <a:xfrm>
            <a:off x="2555819" y="-137795"/>
            <a:ext cx="7080359" cy="6858000"/>
            <a:chOff x="2555819" y="-137795"/>
            <a:chExt cx="7080359" cy="6858000"/>
          </a:xfrm>
        </p:grpSpPr>
        <p:pic>
          <p:nvPicPr>
            <p:cNvPr id="3" name="Picture 2">
              <a:extLst>
                <a:ext uri="{FF2B5EF4-FFF2-40B4-BE49-F238E27FC236}">
                  <a16:creationId xmlns:a16="http://schemas.microsoft.com/office/drawing/2014/main" id="{9935BFDC-1635-A488-83EA-EEF768B1B7E1}"/>
                </a:ext>
              </a:extLst>
            </p:cNvPr>
            <p:cNvPicPr>
              <a:picLocks noChangeAspect="1"/>
            </p:cNvPicPr>
            <p:nvPr/>
          </p:nvPicPr>
          <p:blipFill rotWithShape="1">
            <a:blip r:embed="rId2"/>
            <a:srcRect t="86000"/>
            <a:stretch/>
          </p:blipFill>
          <p:spPr>
            <a:xfrm>
              <a:off x="2555819" y="4724400"/>
              <a:ext cx="7080358" cy="960120"/>
            </a:xfrm>
            <a:prstGeom prst="rect">
              <a:avLst/>
            </a:prstGeom>
          </p:spPr>
        </p:pic>
        <p:pic>
          <p:nvPicPr>
            <p:cNvPr id="2" name="Picture 1">
              <a:extLst>
                <a:ext uri="{FF2B5EF4-FFF2-40B4-BE49-F238E27FC236}">
                  <a16:creationId xmlns:a16="http://schemas.microsoft.com/office/drawing/2014/main" id="{02A7FBE0-C98A-E244-EEBB-D4E173AE3AF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2555820" y="-137795"/>
              <a:ext cx="7080358" cy="6858000"/>
            </a:xfrm>
            <a:prstGeom prst="rect">
              <a:avLst/>
            </a:prstGeom>
          </p:spPr>
        </p:pic>
        <p:sp>
          <p:nvSpPr>
            <p:cNvPr id="6" name="TextBox 5">
              <a:extLst>
                <a:ext uri="{FF2B5EF4-FFF2-40B4-BE49-F238E27FC236}">
                  <a16:creationId xmlns:a16="http://schemas.microsoft.com/office/drawing/2014/main" id="{7D4F0772-FADB-8BCF-AE84-1C275E96BC20}"/>
                </a:ext>
              </a:extLst>
            </p:cNvPr>
            <p:cNvSpPr txBox="1"/>
            <p:nvPr/>
          </p:nvSpPr>
          <p:spPr>
            <a:xfrm>
              <a:off x="4019860" y="911870"/>
              <a:ext cx="4152279" cy="523220"/>
            </a:xfrm>
            <a:prstGeom prst="rect">
              <a:avLst/>
            </a:prstGeom>
            <a:noFill/>
          </p:spPr>
          <p:txBody>
            <a:bodyPr wrap="square" rtlCol="0">
              <a:spAutoFit/>
            </a:bodyPr>
            <a:lstStyle/>
            <a:p>
              <a:pPr algn="ctr"/>
              <a:r>
                <a:rPr lang="en-US" sz="2800" b="1" dirty="0"/>
                <a:t>Mean Hexane 2021</a:t>
              </a:r>
            </a:p>
          </p:txBody>
        </p:sp>
      </p:grpSp>
    </p:spTree>
    <p:extLst>
      <p:ext uri="{BB962C8B-B14F-4D97-AF65-F5344CB8AC3E}">
        <p14:creationId xmlns:p14="http://schemas.microsoft.com/office/powerpoint/2010/main" val="129995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828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55497-7672-9A97-9A9A-8F133E0C535F}"/>
              </a:ext>
            </a:extLst>
          </p:cNvPr>
          <p:cNvSpPr>
            <a:spLocks noGrp="1"/>
          </p:cNvSpPr>
          <p:nvPr>
            <p:ph type="title"/>
          </p:nvPr>
        </p:nvSpPr>
        <p:spPr/>
        <p:txBody>
          <a:bodyPr/>
          <a:lstStyle/>
          <a:p>
            <a:r>
              <a:rPr lang="en-US" dirty="0"/>
              <a:t>covariates</a:t>
            </a:r>
          </a:p>
        </p:txBody>
      </p:sp>
      <p:pic>
        <p:nvPicPr>
          <p:cNvPr id="4" name="Picture 3">
            <a:extLst>
              <a:ext uri="{FF2B5EF4-FFF2-40B4-BE49-F238E27FC236}">
                <a16:creationId xmlns:a16="http://schemas.microsoft.com/office/drawing/2014/main" id="{ECFEB41A-24E2-1FC9-8DE7-C8A0A44F4808}"/>
              </a:ext>
            </a:extLst>
          </p:cNvPr>
          <p:cNvPicPr>
            <a:picLocks noChangeAspect="1"/>
          </p:cNvPicPr>
          <p:nvPr/>
        </p:nvPicPr>
        <p:blipFill>
          <a:blip r:embed="rId2"/>
          <a:stretch>
            <a:fillRect/>
          </a:stretch>
        </p:blipFill>
        <p:spPr>
          <a:xfrm>
            <a:off x="3832122" y="571933"/>
            <a:ext cx="7772400" cy="5714134"/>
          </a:xfrm>
          <a:prstGeom prst="rect">
            <a:avLst/>
          </a:prstGeom>
        </p:spPr>
      </p:pic>
    </p:spTree>
    <p:extLst>
      <p:ext uri="{BB962C8B-B14F-4D97-AF65-F5344CB8AC3E}">
        <p14:creationId xmlns:p14="http://schemas.microsoft.com/office/powerpoint/2010/main" val="3303711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B3536D3-45D7-9821-EF89-750CEDC3E2BE}"/>
              </a:ext>
            </a:extLst>
          </p:cNvPr>
          <p:cNvGrpSpPr/>
          <p:nvPr/>
        </p:nvGrpSpPr>
        <p:grpSpPr>
          <a:xfrm>
            <a:off x="-1676400" y="-3144140"/>
            <a:ext cx="15544800" cy="11416146"/>
            <a:chOff x="-3445213" y="-2354093"/>
            <a:chExt cx="15544800" cy="11416146"/>
          </a:xfrm>
        </p:grpSpPr>
        <p:pic>
          <p:nvPicPr>
            <p:cNvPr id="5" name="Picture 4">
              <a:extLst>
                <a:ext uri="{FF2B5EF4-FFF2-40B4-BE49-F238E27FC236}">
                  <a16:creationId xmlns:a16="http://schemas.microsoft.com/office/drawing/2014/main" id="{A3537E8C-6C34-48E3-4AF5-1B8FFFE3947D}"/>
                </a:ext>
              </a:extLst>
            </p:cNvPr>
            <p:cNvPicPr>
              <a:picLocks noChangeAspect="1"/>
            </p:cNvPicPr>
            <p:nvPr/>
          </p:nvPicPr>
          <p:blipFill rotWithShape="1">
            <a:blip r:embed="rId2"/>
            <a:srcRect t="12807"/>
            <a:stretch/>
          </p:blipFill>
          <p:spPr>
            <a:xfrm>
              <a:off x="4327187" y="3428999"/>
              <a:ext cx="7772400" cy="5633054"/>
            </a:xfrm>
            <a:prstGeom prst="rect">
              <a:avLst/>
            </a:prstGeom>
          </p:spPr>
        </p:pic>
        <p:pic>
          <p:nvPicPr>
            <p:cNvPr id="7" name="Picture 6">
              <a:extLst>
                <a:ext uri="{FF2B5EF4-FFF2-40B4-BE49-F238E27FC236}">
                  <a16:creationId xmlns:a16="http://schemas.microsoft.com/office/drawing/2014/main" id="{0ABD301E-A721-9A9D-0EA3-98E4625F4D58}"/>
                </a:ext>
              </a:extLst>
            </p:cNvPr>
            <p:cNvPicPr>
              <a:picLocks noChangeAspect="1"/>
            </p:cNvPicPr>
            <p:nvPr/>
          </p:nvPicPr>
          <p:blipFill rotWithShape="1">
            <a:blip r:embed="rId3"/>
            <a:srcRect b="10332"/>
            <a:stretch/>
          </p:blipFill>
          <p:spPr>
            <a:xfrm>
              <a:off x="4327187" y="-2354093"/>
              <a:ext cx="7772400" cy="5783092"/>
            </a:xfrm>
            <a:prstGeom prst="rect">
              <a:avLst/>
            </a:prstGeom>
          </p:spPr>
        </p:pic>
        <p:pic>
          <p:nvPicPr>
            <p:cNvPr id="8" name="Picture 7">
              <a:extLst>
                <a:ext uri="{FF2B5EF4-FFF2-40B4-BE49-F238E27FC236}">
                  <a16:creationId xmlns:a16="http://schemas.microsoft.com/office/drawing/2014/main" id="{88DF8951-CDAB-36F0-B9BB-0F85DF72B6D6}"/>
                </a:ext>
              </a:extLst>
            </p:cNvPr>
            <p:cNvPicPr>
              <a:picLocks noChangeAspect="1"/>
            </p:cNvPicPr>
            <p:nvPr/>
          </p:nvPicPr>
          <p:blipFill rotWithShape="1">
            <a:blip r:embed="rId4"/>
            <a:srcRect b="8614"/>
            <a:stretch/>
          </p:blipFill>
          <p:spPr>
            <a:xfrm>
              <a:off x="-3445213" y="-2354093"/>
              <a:ext cx="7772400" cy="5893929"/>
            </a:xfrm>
            <a:prstGeom prst="rect">
              <a:avLst/>
            </a:prstGeom>
          </p:spPr>
        </p:pic>
        <p:pic>
          <p:nvPicPr>
            <p:cNvPr id="6" name="Picture 5">
              <a:extLst>
                <a:ext uri="{FF2B5EF4-FFF2-40B4-BE49-F238E27FC236}">
                  <a16:creationId xmlns:a16="http://schemas.microsoft.com/office/drawing/2014/main" id="{47A1F612-0E8D-05B1-E244-D041C6199E81}"/>
                </a:ext>
              </a:extLst>
            </p:cNvPr>
            <p:cNvPicPr>
              <a:picLocks noChangeAspect="1"/>
            </p:cNvPicPr>
            <p:nvPr/>
          </p:nvPicPr>
          <p:blipFill rotWithShape="1">
            <a:blip r:embed="rId5"/>
            <a:srcRect t="12658"/>
            <a:stretch/>
          </p:blipFill>
          <p:spPr>
            <a:xfrm>
              <a:off x="-3445213" y="3428999"/>
              <a:ext cx="7772400" cy="5633053"/>
            </a:xfrm>
            <a:prstGeom prst="rect">
              <a:avLst/>
            </a:prstGeom>
          </p:spPr>
        </p:pic>
      </p:grpSp>
    </p:spTree>
    <p:extLst>
      <p:ext uri="{BB962C8B-B14F-4D97-AF65-F5344CB8AC3E}">
        <p14:creationId xmlns:p14="http://schemas.microsoft.com/office/powerpoint/2010/main" val="94064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23B7D-C8F6-0297-8BEB-2BBE3A2A43D0}"/>
              </a:ext>
            </a:extLst>
          </p:cNvPr>
          <p:cNvSpPr>
            <a:spLocks noGrp="1"/>
          </p:cNvSpPr>
          <p:nvPr>
            <p:ph type="title"/>
          </p:nvPr>
        </p:nvSpPr>
        <p:spPr/>
        <p:txBody>
          <a:bodyPr/>
          <a:lstStyle/>
          <a:p>
            <a:r>
              <a:rPr lang="en-US" dirty="0"/>
              <a:t>Model (equations?)</a:t>
            </a:r>
          </a:p>
        </p:txBody>
      </p:sp>
      <p:sp>
        <p:nvSpPr>
          <p:cNvPr id="3" name="Content Placeholder 2">
            <a:extLst>
              <a:ext uri="{FF2B5EF4-FFF2-40B4-BE49-F238E27FC236}">
                <a16:creationId xmlns:a16="http://schemas.microsoft.com/office/drawing/2014/main" id="{910960FA-645C-110C-76DB-2D9CB462FA89}"/>
              </a:ext>
            </a:extLst>
          </p:cNvPr>
          <p:cNvSpPr>
            <a:spLocks noGrp="1"/>
          </p:cNvSpPr>
          <p:nvPr>
            <p:ph idx="1"/>
          </p:nvPr>
        </p:nvSpPr>
        <p:spPr/>
        <p:txBody>
          <a:bodyPr/>
          <a:lstStyle/>
          <a:p>
            <a:r>
              <a:rPr lang="en-US" dirty="0"/>
              <a:t>Land use regression equation</a:t>
            </a:r>
          </a:p>
          <a:p>
            <a:endParaRPr lang="en-US" dirty="0"/>
          </a:p>
        </p:txBody>
      </p:sp>
    </p:spTree>
    <p:extLst>
      <p:ext uri="{BB962C8B-B14F-4D97-AF65-F5344CB8AC3E}">
        <p14:creationId xmlns:p14="http://schemas.microsoft.com/office/powerpoint/2010/main" val="843679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80BC-6C18-8CA6-2FDF-C440F5DB64D3}"/>
              </a:ext>
            </a:extLst>
          </p:cNvPr>
          <p:cNvSpPr>
            <a:spLocks noGrp="1"/>
          </p:cNvSpPr>
          <p:nvPr>
            <p:ph type="title"/>
          </p:nvPr>
        </p:nvSpPr>
        <p:spPr/>
        <p:txBody>
          <a:bodyPr/>
          <a:lstStyle/>
          <a:p>
            <a:r>
              <a:rPr lang="en-US" dirty="0"/>
              <a:t>Computational innovations</a:t>
            </a:r>
          </a:p>
        </p:txBody>
      </p:sp>
      <p:sp>
        <p:nvSpPr>
          <p:cNvPr id="3" name="Content Placeholder 2">
            <a:extLst>
              <a:ext uri="{FF2B5EF4-FFF2-40B4-BE49-F238E27FC236}">
                <a16:creationId xmlns:a16="http://schemas.microsoft.com/office/drawing/2014/main" id="{F61C3EF5-9512-00A5-C3AC-5D3F0A2339B7}"/>
              </a:ext>
            </a:extLst>
          </p:cNvPr>
          <p:cNvSpPr>
            <a:spLocks noGrp="1"/>
          </p:cNvSpPr>
          <p:nvPr>
            <p:ph idx="1"/>
          </p:nvPr>
        </p:nvSpPr>
        <p:spPr/>
        <p:txBody>
          <a:bodyPr/>
          <a:lstStyle/>
          <a:p>
            <a:r>
              <a:rPr lang="en-US" dirty="0" err="1"/>
              <a:t>PrestoGP</a:t>
            </a:r>
            <a:r>
              <a:rPr lang="en-US" dirty="0"/>
              <a:t>: </a:t>
            </a:r>
            <a:r>
              <a:rPr lang="en-US" u="sng" dirty="0"/>
              <a:t>P</a:t>
            </a:r>
            <a:r>
              <a:rPr lang="en-US" dirty="0"/>
              <a:t>enalized </a:t>
            </a:r>
            <a:r>
              <a:rPr lang="en-US" u="sng" dirty="0"/>
              <a:t>re</a:t>
            </a:r>
            <a:r>
              <a:rPr lang="en-US" dirty="0"/>
              <a:t>gression on </a:t>
            </a:r>
            <a:r>
              <a:rPr lang="en-US" u="sng" dirty="0"/>
              <a:t>S</a:t>
            </a:r>
            <a:r>
              <a:rPr lang="en-US" dirty="0"/>
              <a:t>patio</a:t>
            </a:r>
            <a:r>
              <a:rPr lang="en-US" u="sng" dirty="0"/>
              <a:t>t</a:t>
            </a:r>
            <a:r>
              <a:rPr lang="en-US" dirty="0"/>
              <a:t>emporal </a:t>
            </a:r>
            <a:r>
              <a:rPr lang="en-US" u="sng" dirty="0"/>
              <a:t>O</a:t>
            </a:r>
            <a:r>
              <a:rPr lang="en-US" dirty="0"/>
              <a:t>utcomes using </a:t>
            </a:r>
            <a:r>
              <a:rPr lang="en-US" u="sng" dirty="0"/>
              <a:t>G</a:t>
            </a:r>
            <a:r>
              <a:rPr lang="en-US" dirty="0"/>
              <a:t>aussian </a:t>
            </a:r>
            <a:r>
              <a:rPr lang="en-US" u="sng" dirty="0"/>
              <a:t>P</a:t>
            </a:r>
            <a:r>
              <a:rPr lang="en-US" dirty="0"/>
              <a:t>rocesses</a:t>
            </a:r>
          </a:p>
          <a:p>
            <a:pPr lvl="1"/>
            <a:endParaRPr lang="en-US" dirty="0"/>
          </a:p>
        </p:txBody>
      </p:sp>
    </p:spTree>
    <p:extLst>
      <p:ext uri="{BB962C8B-B14F-4D97-AF65-F5344CB8AC3E}">
        <p14:creationId xmlns:p14="http://schemas.microsoft.com/office/powerpoint/2010/main" val="2179990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benzene">
            <a:extLst>
              <a:ext uri="{FF2B5EF4-FFF2-40B4-BE49-F238E27FC236}">
                <a16:creationId xmlns:a16="http://schemas.microsoft.com/office/drawing/2014/main" id="{0A3F206A-6F83-4DDB-A653-8B44597B440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05734" y="1866457"/>
            <a:ext cx="3125086" cy="312508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0830E25-C044-4B07-8DD8-83EE694C3B0F}"/>
              </a:ext>
            </a:extLst>
          </p:cNvPr>
          <p:cNvPicPr>
            <a:picLocks noChangeAspect="1"/>
          </p:cNvPicPr>
          <p:nvPr/>
        </p:nvPicPr>
        <p:blipFill>
          <a:blip r:embed="rId3"/>
          <a:stretch>
            <a:fillRect/>
          </a:stretch>
        </p:blipFill>
        <p:spPr>
          <a:xfrm>
            <a:off x="6343240" y="550506"/>
            <a:ext cx="5782552" cy="5840963"/>
          </a:xfrm>
          <a:prstGeom prst="rect">
            <a:avLst/>
          </a:prstGeom>
        </p:spPr>
      </p:pic>
    </p:spTree>
    <p:extLst>
      <p:ext uri="{BB962C8B-B14F-4D97-AF65-F5344CB8AC3E}">
        <p14:creationId xmlns:p14="http://schemas.microsoft.com/office/powerpoint/2010/main" val="2019856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3CFD0F-455B-4FF8-912E-44707BCE40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6790" y="1123527"/>
            <a:ext cx="9118415" cy="4604800"/>
          </a:xfrm>
          <a:prstGeom prst="rect">
            <a:avLst/>
          </a:prstGeom>
        </p:spPr>
      </p:pic>
    </p:spTree>
    <p:extLst>
      <p:ext uri="{BB962C8B-B14F-4D97-AF65-F5344CB8AC3E}">
        <p14:creationId xmlns:p14="http://schemas.microsoft.com/office/powerpoint/2010/main" val="1610939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F2DC34-28E5-4D44-9C68-30E0F8F375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756" y="923730"/>
            <a:ext cx="10211086" cy="5156599"/>
          </a:xfrm>
          <a:prstGeom prst="rect">
            <a:avLst/>
          </a:prstGeom>
        </p:spPr>
      </p:pic>
    </p:spTree>
    <p:extLst>
      <p:ext uri="{BB962C8B-B14F-4D97-AF65-F5344CB8AC3E}">
        <p14:creationId xmlns:p14="http://schemas.microsoft.com/office/powerpoint/2010/main" val="1294034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6D1B7E-F714-483C-A948-007C3330BD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6790" y="1123527"/>
            <a:ext cx="9118415" cy="4604800"/>
          </a:xfrm>
          <a:prstGeom prst="rect">
            <a:avLst/>
          </a:prstGeom>
        </p:spPr>
      </p:pic>
    </p:spTree>
    <p:extLst>
      <p:ext uri="{BB962C8B-B14F-4D97-AF65-F5344CB8AC3E}">
        <p14:creationId xmlns:p14="http://schemas.microsoft.com/office/powerpoint/2010/main" val="2799332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26E901-95B2-42D8-843C-6E707658B14A}"/>
              </a:ext>
            </a:extLst>
          </p:cNvPr>
          <p:cNvPicPr>
            <a:picLocks noChangeAspect="1"/>
          </p:cNvPicPr>
          <p:nvPr/>
        </p:nvPicPr>
        <p:blipFill>
          <a:blip r:embed="rId2"/>
          <a:stretch>
            <a:fillRect/>
          </a:stretch>
        </p:blipFill>
        <p:spPr>
          <a:xfrm>
            <a:off x="4375252" y="0"/>
            <a:ext cx="7614000" cy="6858000"/>
          </a:xfrm>
          <a:prstGeom prst="rect">
            <a:avLst/>
          </a:prstGeom>
        </p:spPr>
      </p:pic>
      <p:pic>
        <p:nvPicPr>
          <p:cNvPr id="1026" name="Picture 2" descr="Image result for chemspider hexane">
            <a:extLst>
              <a:ext uri="{FF2B5EF4-FFF2-40B4-BE49-F238E27FC236}">
                <a16:creationId xmlns:a16="http://schemas.microsoft.com/office/drawing/2014/main" id="{ADDC0780-80F4-4706-B159-38A7053EE4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969" y="2310784"/>
            <a:ext cx="2886367" cy="2886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084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F89D31-FDFD-40DA-9137-7A8874AB7A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6790" y="1123527"/>
            <a:ext cx="9118415" cy="4604800"/>
          </a:xfrm>
          <a:prstGeom prst="rect">
            <a:avLst/>
          </a:prstGeom>
        </p:spPr>
      </p:pic>
    </p:spTree>
    <p:extLst>
      <p:ext uri="{BB962C8B-B14F-4D97-AF65-F5344CB8AC3E}">
        <p14:creationId xmlns:p14="http://schemas.microsoft.com/office/powerpoint/2010/main" val="2552095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1C8A96-BF9E-4C61-AE4C-80A473FFEA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675471"/>
            <a:ext cx="10905066" cy="5507058"/>
          </a:xfrm>
          <a:prstGeom prst="rect">
            <a:avLst/>
          </a:prstGeom>
        </p:spPr>
      </p:pic>
    </p:spTree>
    <p:extLst>
      <p:ext uri="{BB962C8B-B14F-4D97-AF65-F5344CB8AC3E}">
        <p14:creationId xmlns:p14="http://schemas.microsoft.com/office/powerpoint/2010/main" val="1557428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50868C-6B63-4C77-9FE8-ED19DED741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675471"/>
            <a:ext cx="10905066" cy="5507058"/>
          </a:xfrm>
          <a:prstGeom prst="rect">
            <a:avLst/>
          </a:prstGeom>
        </p:spPr>
      </p:pic>
    </p:spTree>
    <p:extLst>
      <p:ext uri="{BB962C8B-B14F-4D97-AF65-F5344CB8AC3E}">
        <p14:creationId xmlns:p14="http://schemas.microsoft.com/office/powerpoint/2010/main" val="41334619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F105D64-16B9-4052-985C-56620F09F58C}"/>
              </a:ext>
            </a:extLst>
          </p:cNvPr>
          <p:cNvPicPr>
            <a:picLocks noChangeAspect="1"/>
          </p:cNvPicPr>
          <p:nvPr/>
        </p:nvPicPr>
        <p:blipFill>
          <a:blip r:embed="rId2"/>
          <a:stretch>
            <a:fillRect/>
          </a:stretch>
        </p:blipFill>
        <p:spPr>
          <a:xfrm>
            <a:off x="5678785" y="0"/>
            <a:ext cx="6283508" cy="6858000"/>
          </a:xfrm>
          <a:prstGeom prst="rect">
            <a:avLst/>
          </a:prstGeom>
        </p:spPr>
      </p:pic>
      <p:pic>
        <p:nvPicPr>
          <p:cNvPr id="12290" name="Picture 2" descr="Image result for chemspider: chloroform">
            <a:extLst>
              <a:ext uri="{FF2B5EF4-FFF2-40B4-BE49-F238E27FC236}">
                <a16:creationId xmlns:a16="http://schemas.microsoft.com/office/drawing/2014/main" id="{C48495A3-75AD-4B39-B8F2-757C1A819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392" y="1640634"/>
            <a:ext cx="3284376" cy="3284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144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47A46-2FB8-4A0F-8590-4A10577663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6790" y="1123527"/>
            <a:ext cx="9118415" cy="4604800"/>
          </a:xfrm>
          <a:prstGeom prst="rect">
            <a:avLst/>
          </a:prstGeom>
        </p:spPr>
      </p:pic>
    </p:spTree>
    <p:extLst>
      <p:ext uri="{BB962C8B-B14F-4D97-AF65-F5344CB8AC3E}">
        <p14:creationId xmlns:p14="http://schemas.microsoft.com/office/powerpoint/2010/main" val="2885488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2C9055-F6E5-42CD-8D7D-B5C25405C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71" y="479881"/>
            <a:ext cx="11840167" cy="5979284"/>
          </a:xfrm>
          <a:prstGeom prst="rect">
            <a:avLst/>
          </a:prstGeom>
        </p:spPr>
      </p:pic>
    </p:spTree>
    <p:extLst>
      <p:ext uri="{BB962C8B-B14F-4D97-AF65-F5344CB8AC3E}">
        <p14:creationId xmlns:p14="http://schemas.microsoft.com/office/powerpoint/2010/main" val="326161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D4FB02-B7A8-40CE-93B8-62BC82D55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675471"/>
            <a:ext cx="10905066" cy="5507058"/>
          </a:xfrm>
          <a:prstGeom prst="rect">
            <a:avLst/>
          </a:prstGeom>
        </p:spPr>
      </p:pic>
    </p:spTree>
    <p:extLst>
      <p:ext uri="{BB962C8B-B14F-4D97-AF65-F5344CB8AC3E}">
        <p14:creationId xmlns:p14="http://schemas.microsoft.com/office/powerpoint/2010/main" val="1066938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 result for chemspider: carbon tetrachloride">
            <a:extLst>
              <a:ext uri="{FF2B5EF4-FFF2-40B4-BE49-F238E27FC236}">
                <a16:creationId xmlns:a16="http://schemas.microsoft.com/office/drawing/2014/main" id="{3A7DA0C3-1DA3-4C8B-83D8-1C922997C4A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16485" y="1704664"/>
            <a:ext cx="3579450" cy="357945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611D29CD-7FF6-4F05-90CE-6A6A35F1397D}"/>
              </a:ext>
            </a:extLst>
          </p:cNvPr>
          <p:cNvPicPr>
            <a:picLocks noChangeAspect="1"/>
          </p:cNvPicPr>
          <p:nvPr/>
        </p:nvPicPr>
        <p:blipFill>
          <a:blip r:embed="rId3"/>
          <a:stretch>
            <a:fillRect/>
          </a:stretch>
        </p:blipFill>
        <p:spPr>
          <a:xfrm>
            <a:off x="6008580" y="278580"/>
            <a:ext cx="6090114" cy="6294693"/>
          </a:xfrm>
          <a:prstGeom prst="rect">
            <a:avLst/>
          </a:prstGeom>
        </p:spPr>
      </p:pic>
    </p:spTree>
    <p:extLst>
      <p:ext uri="{BB962C8B-B14F-4D97-AF65-F5344CB8AC3E}">
        <p14:creationId xmlns:p14="http://schemas.microsoft.com/office/powerpoint/2010/main" val="35765212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29E003-9287-4B73-A574-7D0BFC2B32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6790" y="1123527"/>
            <a:ext cx="9118415" cy="4604800"/>
          </a:xfrm>
          <a:prstGeom prst="rect">
            <a:avLst/>
          </a:prstGeom>
        </p:spPr>
      </p:pic>
    </p:spTree>
    <p:extLst>
      <p:ext uri="{BB962C8B-B14F-4D97-AF65-F5344CB8AC3E}">
        <p14:creationId xmlns:p14="http://schemas.microsoft.com/office/powerpoint/2010/main" val="3490931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CEC783-60D6-42A9-9D5A-8E07D6D0D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553" y="369651"/>
            <a:ext cx="11959564" cy="6039580"/>
          </a:xfrm>
          <a:prstGeom prst="rect">
            <a:avLst/>
          </a:prstGeom>
        </p:spPr>
      </p:pic>
    </p:spTree>
    <p:extLst>
      <p:ext uri="{BB962C8B-B14F-4D97-AF65-F5344CB8AC3E}">
        <p14:creationId xmlns:p14="http://schemas.microsoft.com/office/powerpoint/2010/main" val="131233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2062F4-9C26-4D2E-A32C-A36755DDD9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6790" y="1123527"/>
            <a:ext cx="9118415" cy="4604800"/>
          </a:xfrm>
          <a:prstGeom prst="rect">
            <a:avLst/>
          </a:prstGeom>
        </p:spPr>
      </p:pic>
    </p:spTree>
    <p:extLst>
      <p:ext uri="{BB962C8B-B14F-4D97-AF65-F5344CB8AC3E}">
        <p14:creationId xmlns:p14="http://schemas.microsoft.com/office/powerpoint/2010/main" val="3886366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3800</TotalTime>
  <Words>266</Words>
  <Application>Microsoft Macintosh PowerPoint</Application>
  <PresentationFormat>Widescreen</PresentationFormat>
  <Paragraphs>67</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-apple-system</vt:lpstr>
      <vt:lpstr>Arial</vt:lpstr>
      <vt:lpstr>Calibri</vt:lpstr>
      <vt:lpstr>Calibri Light</vt:lpstr>
      <vt:lpstr>Roboto</vt:lpstr>
      <vt:lpstr>Office Theme</vt:lpstr>
      <vt:lpstr>HAPS poster slides</vt:lpstr>
      <vt:lpstr>Motivation</vt:lpstr>
      <vt:lpstr>How the EPA regulates HAPs</vt:lpstr>
      <vt:lpstr>PowerPoint Presentation</vt:lpstr>
      <vt:lpstr>HAPS ridgeline plot</vt:lpstr>
      <vt:lpstr>Objectives</vt:lpstr>
      <vt:lpstr>Data</vt:lpstr>
      <vt:lpstr>PowerPoint Presentation</vt:lpstr>
      <vt:lpstr>PowerPoint Presentation</vt:lpstr>
      <vt:lpstr>PowerPoint Presentation</vt:lpstr>
      <vt:lpstr>PowerPoint Presentation</vt:lpstr>
      <vt:lpstr>PowerPoint Presentation</vt:lpstr>
      <vt:lpstr>covariates</vt:lpstr>
      <vt:lpstr>PowerPoint Presentation</vt:lpstr>
      <vt:lpstr>Model (equations?)</vt:lpstr>
      <vt:lpstr>Computational innovations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HAPS poster slides</dc:title>
  <dc:creator>Kassien, Mariana (NIH/NIEHS) [F]</dc:creator>
  <cp:lastModifiedBy>Kassien, Mariana (NIH/NIEHS) [F]</cp:lastModifiedBy>
  <cp:revision>2</cp:revision>
  <dcterms:created xsi:type="dcterms:W3CDTF">2024-12-03T03:45:32Z</dcterms:created>
  <dcterms:modified xsi:type="dcterms:W3CDTF">2024-12-05T19:05:32Z</dcterms:modified>
</cp:coreProperties>
</file>