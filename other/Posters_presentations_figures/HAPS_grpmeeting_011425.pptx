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9" r:id="rId4"/>
    <p:sldId id="260" r:id="rId5"/>
    <p:sldId id="373" r:id="rId6"/>
    <p:sldId id="370" r:id="rId7"/>
    <p:sldId id="372" r:id="rId8"/>
    <p:sldId id="261" r:id="rId9"/>
    <p:sldId id="380" r:id="rId10"/>
    <p:sldId id="374" r:id="rId11"/>
    <p:sldId id="381" r:id="rId12"/>
    <p:sldId id="384" r:id="rId13"/>
    <p:sldId id="382" r:id="rId14"/>
    <p:sldId id="385" r:id="rId15"/>
    <p:sldId id="379" r:id="rId16"/>
    <p:sldId id="281" r:id="rId17"/>
    <p:sldId id="282" r:id="rId18"/>
    <p:sldId id="283" r:id="rId19"/>
    <p:sldId id="284" r:id="rId20"/>
    <p:sldId id="366" r:id="rId21"/>
    <p:sldId id="367" r:id="rId22"/>
    <p:sldId id="368" r:id="rId23"/>
    <p:sldId id="369" r:id="rId24"/>
    <p:sldId id="325" r:id="rId25"/>
    <p:sldId id="326" r:id="rId26"/>
    <p:sldId id="327" r:id="rId27"/>
    <p:sldId id="328" r:id="rId28"/>
    <p:sldId id="321" r:id="rId29"/>
    <p:sldId id="322" r:id="rId30"/>
    <p:sldId id="323" r:id="rId31"/>
    <p:sldId id="32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6132"/>
  </p:normalViewPr>
  <p:slideViewPr>
    <p:cSldViewPr snapToGrid="0">
      <p:cViewPr>
        <p:scale>
          <a:sx n="81" d="100"/>
          <a:sy n="81" d="100"/>
        </p:scale>
        <p:origin x="792" y="10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08453-ED7D-BB47-B962-93510F40E789}" type="datetimeFigureOut">
              <a:rPr lang="en-US" smtClean="0"/>
              <a:t>1/14/25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38E25B-A215-A84A-AF88-58E8D5AD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04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85598-F199-45C1-9E10-12B9E4D456D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03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EC62E-B441-73B2-6AFE-B66C8110C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9CE333-9619-8BB5-8573-0E64F8050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85279-FD77-15C5-B070-4F1551FA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DC93-E8F1-9F41-AC91-BB6E00DFB88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82977-C021-B882-35EF-FC6C17324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08AB2-4CB7-2D4B-E08A-4771082E5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3FE9-2DE1-3949-8E31-1097D7ACC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01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974D6-1AB2-06DE-65F0-A0532E29E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459B6-1254-A7D7-CAC4-7596F6DEB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56712-DD2C-1F1B-8322-FB7C1EA2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DC93-E8F1-9F41-AC91-BB6E00DFB88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3BB1A-9D76-B3A7-4128-2C17D558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FC8A2-6946-E714-05EC-B0BD9E0E7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3FE9-2DE1-3949-8E31-1097D7ACC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96B4B-70D1-3BD3-197B-28A518E6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EE042-70DA-C1D1-C263-547182471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2C729-E8BE-B244-5B98-093379D58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DC93-E8F1-9F41-AC91-BB6E00DFB88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50FDC-E077-C474-C6E3-79DAF5CBD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4A409-F1F8-FD6D-F319-0EBDB1FF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3FE9-2DE1-3949-8E31-1097D7ACC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54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F2BC7-D38C-D945-FE39-86A2AE9BF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EE9B2-E492-CFB4-2105-DA889D3D50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A2AE7-7B7D-F256-A98D-4800F1595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C6E55-39EC-6F3A-207A-3A9CCCA3F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DC93-E8F1-9F41-AC91-BB6E00DFB88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50C18-13D5-7194-4E7E-0B73DBC07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35897-6181-79E9-A08A-CF8223073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3FE9-2DE1-3949-8E31-1097D7ACC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244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1DD9-86E2-65A6-F84E-B9C511412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1EA4A-8503-559B-D1AD-FBAA09A94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8432E-09CF-262D-BB95-E49B3FACA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D5C672-8FF4-2129-0A21-1639E443F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E7F36-E87E-5E08-11DA-C851178F7A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8085FD-D448-461E-3632-6C695C1B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DC93-E8F1-9F41-AC91-BB6E00DFB88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B19A94-C0EC-A518-3121-3724D3F4B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63E039-B963-777F-B92E-AD0465EC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3FE9-2DE1-3949-8E31-1097D7ACC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11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846C6-3198-FC4C-BC21-28B981401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5A3808-01B0-9C78-E80D-16F8A75CC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DC93-E8F1-9F41-AC91-BB6E00DFB88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B4BEEB-7B7A-BFB8-B539-2E854E116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BF7-B47C-5B2C-361D-749270BC6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3FE9-2DE1-3949-8E31-1097D7ACC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82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43401F-8B9D-319C-A74E-4EE566141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DC93-E8F1-9F41-AC91-BB6E00DFB88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9FABD-75CC-7EE9-9923-B7AD238A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A4F71-4AF2-85FC-1EE3-47DD38A9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3FE9-2DE1-3949-8E31-1097D7ACC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51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8E8BF-E766-98C5-23B5-D900668E8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A1FFB-BFBF-B76D-0837-DFA0E49C8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E337C-BE27-96A8-66AD-B5B8A02B7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A6026-F7EE-7CBA-E075-28C6CEF52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DC93-E8F1-9F41-AC91-BB6E00DFB88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B4549-76BF-8B37-C92F-82B282903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72991-F7F6-0996-45BB-E11048D1F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3FE9-2DE1-3949-8E31-1097D7ACC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29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9FB48-FB02-6345-5374-5C02840AD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1125E6-A694-C544-13B5-5A535C24CE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D6F31-EDCD-7E70-4A6D-687D96C42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85D45-E8A4-1BC4-63FB-F258C304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DC93-E8F1-9F41-AC91-BB6E00DFB88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2DD4A-52E4-7A30-1E5B-6B8DC811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E9B63-EAC2-DE4E-8842-AE0890237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3FE9-2DE1-3949-8E31-1097D7ACC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182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2F7E-751C-14EF-A288-06BF9E5DB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6FB461-6ED7-F4E8-E7E3-2C731CCE9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C56C0-E82B-5F13-562F-7D6F27DCF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DC93-E8F1-9F41-AC91-BB6E00DFB88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E16C9-90B8-FE3F-7072-926A3A9CF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5DABB-6372-1CF9-0FD5-A265D3E7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3FE9-2DE1-3949-8E31-1097D7ACC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66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D34B63-3B09-5566-2D20-4D606EBCB9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015D5-5010-B34C-DA00-27062F80B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98ABD-EB6C-359E-2E01-4D0B4FD2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DC93-E8F1-9F41-AC91-BB6E00DFB88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C82A2-443B-90CE-A07A-52CB7A383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2CADC-1EAB-2F62-2D6A-EAEB1EF49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3FE9-2DE1-3949-8E31-1097D7ACC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77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18449B-12C6-FD04-D9C6-4F549A29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D0A09-02F1-A8E4-A9F6-EC53D4E52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C40BA-8DE8-7FF3-2F48-291316A49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EDC93-E8F1-9F41-AC91-BB6E00DFB88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EB67D-7BA8-E480-2784-A7F906BB6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3EAF0-FF04-6DBE-9061-37489D9A5B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43FE9-2DE1-3949-8E31-1097D7ACC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27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73C3-C600-1B41-C018-792B735A39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HAPS project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75C92-C597-D4B9-ECC2-C3CC25E3BF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Mariana Kassien</a:t>
            </a:r>
          </a:p>
          <a:p>
            <a:r>
              <a:rPr lang="en-US" dirty="0"/>
              <a:t>{SET} group meeting Jan 14 2025</a:t>
            </a:r>
          </a:p>
        </p:txBody>
      </p:sp>
    </p:spTree>
    <p:extLst>
      <p:ext uri="{BB962C8B-B14F-4D97-AF65-F5344CB8AC3E}">
        <p14:creationId xmlns:p14="http://schemas.microsoft.com/office/powerpoint/2010/main" val="809838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4B3CE-EA90-A8D5-71A1-4DD6BBE5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AAED0-AA7B-4974-A8E1-054FA0EB9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3273"/>
            <a:ext cx="10515600" cy="4583690"/>
          </a:xfrm>
        </p:spPr>
        <p:txBody>
          <a:bodyPr>
            <a:normAutofit fontScale="77500" lnSpcReduction="20000"/>
          </a:bodyPr>
          <a:lstStyle/>
          <a:p>
            <a:pPr marL="457200" indent="-457200" defTabSz="4273356">
              <a:lnSpc>
                <a:spcPct val="150000"/>
              </a:lnSpc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188 compounds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designated by EPA since 1990</a:t>
            </a:r>
          </a:p>
          <a:p>
            <a:pPr marL="457200" indent="-457200" defTabSz="4273356">
              <a:lnSpc>
                <a:spcPct val="150000"/>
              </a:lnSpc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EPA regulates HAPs emissions, but unlike criteria pollutants there are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no ambient concentration standards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regarding HAPs exposure</a:t>
            </a:r>
          </a:p>
          <a:p>
            <a:pPr marL="457200" indent="-457200" defTabSz="4273356">
              <a:lnSpc>
                <a:spcPct val="150000"/>
              </a:lnSpc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HAPs database combines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monitoring data collected by multitude entities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: the EPA, other federal, sate, local, and tribal agencies, and other academic, community, and short-term studies</a:t>
            </a:r>
          </a:p>
          <a:p>
            <a:pPr marL="457200" indent="-457200" defTabSz="4273356">
              <a:lnSpc>
                <a:spcPct val="150000"/>
              </a:lnSpc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Extensive toxicology data on HAPs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adverse effects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: cancer, reproductive effects, and birth defects, among others</a:t>
            </a:r>
          </a:p>
          <a:p>
            <a:pPr marL="457200" indent="-457200" defTabSz="4273356">
              <a:lnSpc>
                <a:spcPct val="150000"/>
              </a:lnSpc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Need for more exposure and epidemiology studies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to understand public health impacts of HAPs</a:t>
            </a:r>
          </a:p>
        </p:txBody>
      </p:sp>
    </p:spTree>
    <p:extLst>
      <p:ext uri="{BB962C8B-B14F-4D97-AF65-F5344CB8AC3E}">
        <p14:creationId xmlns:p14="http://schemas.microsoft.com/office/powerpoint/2010/main" val="3944925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39061-106F-F4DE-BBF2-50FE913D0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57A939-0EA2-1C25-B01B-595F9921BB8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56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defTabSz="4273356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Map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HAPs concentratio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ns in the United States for recent years</a:t>
            </a:r>
          </a:p>
          <a:p>
            <a:pPr marL="742950" indent="-742950" defTabSz="4273356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novel statistical and computational methods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for large datasets in multivariate scenarios and missing/censored data</a:t>
            </a:r>
          </a:p>
          <a:p>
            <a:pPr marL="742950" indent="-742950" defTabSz="4273356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Develop an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analysis pipeline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for easy reproducibility and expansion</a:t>
            </a:r>
          </a:p>
        </p:txBody>
      </p:sp>
    </p:spTree>
    <p:extLst>
      <p:ext uri="{BB962C8B-B14F-4D97-AF65-F5344CB8AC3E}">
        <p14:creationId xmlns:p14="http://schemas.microsoft.com/office/powerpoint/2010/main" val="3470721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1EFBD-F195-7E75-2594-72AF29735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6C46B-D2A8-4EA5-8BB8-48020A701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9260"/>
            <a:ext cx="10093036" cy="5184775"/>
          </a:xfrm>
        </p:spPr>
        <p:txBody>
          <a:bodyPr>
            <a:normAutofit/>
          </a:bodyPr>
          <a:lstStyle/>
          <a:p>
            <a:pPr marL="0" indent="0" algn="just" defTabSz="5222875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Hazardous Air Pollutants: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5222875">
              <a:lnSpc>
                <a:spcPct val="120000"/>
              </a:lnSpc>
              <a:spcBef>
                <a:spcPts val="4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have 38 HAPs with 50+ sites across the US that have matching Tox information</a:t>
            </a:r>
          </a:p>
          <a:p>
            <a:pPr algn="just" defTabSz="5222875">
              <a:lnSpc>
                <a:spcPct val="120000"/>
              </a:lnSpc>
              <a:spcBef>
                <a:spcPts val="4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 analysis with 4 chemicals that have good data availability</a:t>
            </a:r>
          </a:p>
          <a:p>
            <a:pPr algn="just" defTabSz="5222875">
              <a:lnSpc>
                <a:spcPct val="120000"/>
              </a:lnSpc>
              <a:spcBef>
                <a:spcPts val="40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90604-472B-64E2-85F2-2B4B79471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934" y="3746931"/>
            <a:ext cx="7343683" cy="28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93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B3536D3-45D7-9821-EF89-750CEDC3E2BE}"/>
              </a:ext>
            </a:extLst>
          </p:cNvPr>
          <p:cNvGrpSpPr/>
          <p:nvPr/>
        </p:nvGrpSpPr>
        <p:grpSpPr>
          <a:xfrm>
            <a:off x="3095698" y="1027906"/>
            <a:ext cx="7821683" cy="5744267"/>
            <a:chOff x="-3445213" y="-2354093"/>
            <a:chExt cx="15544800" cy="1141614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3537E8C-6C34-48E3-4AF5-1B8FFFE394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2807"/>
            <a:stretch/>
          </p:blipFill>
          <p:spPr>
            <a:xfrm>
              <a:off x="4327187" y="3428999"/>
              <a:ext cx="7772400" cy="563305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ABD301E-A721-9A9D-0EA3-98E4625F4D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0332"/>
            <a:stretch/>
          </p:blipFill>
          <p:spPr>
            <a:xfrm>
              <a:off x="4327187" y="-2354093"/>
              <a:ext cx="7772400" cy="578309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8DF8951-CDAB-36F0-B9BB-0F85DF72B6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8614"/>
            <a:stretch/>
          </p:blipFill>
          <p:spPr>
            <a:xfrm>
              <a:off x="-3445213" y="-2354093"/>
              <a:ext cx="7772400" cy="589392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7A1F612-0E8D-05B1-E244-D041C6199E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2658"/>
            <a:stretch/>
          </p:blipFill>
          <p:spPr>
            <a:xfrm>
              <a:off x="-3445213" y="3428999"/>
              <a:ext cx="7772400" cy="563305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A70E9BC-DE13-40FB-1078-E00748E62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Site locations</a:t>
            </a:r>
          </a:p>
        </p:txBody>
      </p:sp>
    </p:spTree>
    <p:extLst>
      <p:ext uri="{BB962C8B-B14F-4D97-AF65-F5344CB8AC3E}">
        <p14:creationId xmlns:p14="http://schemas.microsoft.com/office/powerpoint/2010/main" val="94064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DA2A344C-C98A-8565-C14E-F40CA7393716}"/>
              </a:ext>
            </a:extLst>
          </p:cNvPr>
          <p:cNvGrpSpPr/>
          <p:nvPr/>
        </p:nvGrpSpPr>
        <p:grpSpPr>
          <a:xfrm>
            <a:off x="3398194" y="1479263"/>
            <a:ext cx="8761506" cy="5378737"/>
            <a:chOff x="4566844" y="2027903"/>
            <a:chExt cx="7273059" cy="446497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29BE18D-D50E-8887-7A68-FEE43FCCB9CF}"/>
                </a:ext>
              </a:extLst>
            </p:cNvPr>
            <p:cNvGrpSpPr/>
            <p:nvPr/>
          </p:nvGrpSpPr>
          <p:grpSpPr>
            <a:xfrm>
              <a:off x="4566844" y="2027903"/>
              <a:ext cx="7273059" cy="4464971"/>
              <a:chOff x="4566844" y="2027903"/>
              <a:chExt cx="7273059" cy="4464971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31AF87A2-8278-153C-1EE2-521F971EAE6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583" t="7272" r="2314" b="7670"/>
              <a:stretch/>
            </p:blipFill>
            <p:spPr>
              <a:xfrm>
                <a:off x="4603531" y="2027903"/>
                <a:ext cx="7236372" cy="4095639"/>
              </a:xfrm>
              <a:prstGeom prst="rect">
                <a:avLst/>
              </a:prstGeom>
            </p:spPr>
          </p:pic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7BF500F-A1C0-70D4-0F4F-2DEE5E0E474C}"/>
                  </a:ext>
                </a:extLst>
              </p:cNvPr>
              <p:cNvGrpSpPr/>
              <p:nvPr/>
            </p:nvGrpSpPr>
            <p:grpSpPr>
              <a:xfrm>
                <a:off x="5268818" y="2285203"/>
                <a:ext cx="3504912" cy="4207671"/>
                <a:chOff x="5268818" y="2285203"/>
                <a:chExt cx="3504912" cy="4207671"/>
              </a:xfrm>
            </p:grpSpPr>
            <p:pic>
              <p:nvPicPr>
                <p:cNvPr id="6" name="Picture 2" descr="Image result for benzene">
                  <a:extLst>
                    <a:ext uri="{FF2B5EF4-FFF2-40B4-BE49-F238E27FC236}">
                      <a16:creationId xmlns:a16="http://schemas.microsoft.com/office/drawing/2014/main" id="{BF718DFB-0C6B-F633-EE65-FBC4D65D8B2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 bwMode="auto">
                <a:xfrm>
                  <a:off x="5296205" y="4780736"/>
                  <a:ext cx="458163" cy="45816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" name="Picture 2" descr="Image result for chemspider: chloroform">
                  <a:extLst>
                    <a:ext uri="{FF2B5EF4-FFF2-40B4-BE49-F238E27FC236}">
                      <a16:creationId xmlns:a16="http://schemas.microsoft.com/office/drawing/2014/main" id="{CED2F31E-6C97-5A71-DC58-3C8B8A6C27C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296205" y="3088035"/>
                  <a:ext cx="515000" cy="515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" name="Picture 2" descr="Image result for chemspider hexane">
                  <a:extLst>
                    <a:ext uri="{FF2B5EF4-FFF2-40B4-BE49-F238E27FC236}">
                      <a16:creationId xmlns:a16="http://schemas.microsoft.com/office/drawing/2014/main" id="{078ECCBB-2475-0800-A308-267B48E7020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296205" y="2285203"/>
                  <a:ext cx="515000" cy="515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" name="Picture 2" descr="Image result for chemspider: carbon tetrachloride">
                  <a:extLst>
                    <a:ext uri="{FF2B5EF4-FFF2-40B4-BE49-F238E27FC236}">
                      <a16:creationId xmlns:a16="http://schemas.microsoft.com/office/drawing/2014/main" id="{E2383364-1040-22E0-C700-284A8212CB2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 bwMode="auto">
                <a:xfrm>
                  <a:off x="5268818" y="3863481"/>
                  <a:ext cx="569773" cy="56977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B53EBFA-BE8C-C308-95B9-3E65832595BC}"/>
                    </a:ext>
                  </a:extLst>
                </p:cNvPr>
                <p:cNvSpPr txBox="1"/>
                <p:nvPr/>
              </p:nvSpPr>
              <p:spPr>
                <a:xfrm>
                  <a:off x="6464252" y="6123542"/>
                  <a:ext cx="23094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Concentration (</a:t>
                  </a:r>
                  <a:r>
                    <a:rPr lang="en-US" dirty="0" err="1"/>
                    <a:t>μg</a:t>
                  </a:r>
                  <a:r>
                    <a:rPr lang="en-US" dirty="0"/>
                    <a:t>/m</a:t>
                  </a:r>
                  <a:r>
                    <a:rPr lang="en-US" baseline="30000" dirty="0"/>
                    <a:t>3</a:t>
                  </a:r>
                  <a:r>
                    <a:rPr lang="en-US" dirty="0"/>
                    <a:t>)</a:t>
                  </a:r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A7341E-1BD5-1AD6-1601-0705EC05D58C}"/>
                  </a:ext>
                </a:extLst>
              </p:cNvPr>
              <p:cNvSpPr txBox="1"/>
              <p:nvPr/>
            </p:nvSpPr>
            <p:spPr>
              <a:xfrm rot="16200000">
                <a:off x="4307317" y="3678814"/>
                <a:ext cx="8883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Density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08F2A0D-AD01-4C57-5E87-20525F05D2A8}"/>
                </a:ext>
              </a:extLst>
            </p:cNvPr>
            <p:cNvSpPr txBox="1"/>
            <p:nvPr/>
          </p:nvSpPr>
          <p:spPr>
            <a:xfrm>
              <a:off x="10166763" y="3507778"/>
              <a:ext cx="89209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AA86C1EF-A0D2-18CA-B875-EB76ED456AFD}"/>
              </a:ext>
            </a:extLst>
          </p:cNvPr>
          <p:cNvSpPr txBox="1">
            <a:spLocks/>
          </p:cNvSpPr>
          <p:nvPr/>
        </p:nvSpPr>
        <p:spPr>
          <a:xfrm>
            <a:off x="584561" y="-613203"/>
            <a:ext cx="5257800" cy="3063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Measurements and MDL variability</a:t>
            </a:r>
          </a:p>
        </p:txBody>
      </p:sp>
    </p:spTree>
    <p:extLst>
      <p:ext uri="{BB962C8B-B14F-4D97-AF65-F5344CB8AC3E}">
        <p14:creationId xmlns:p14="http://schemas.microsoft.com/office/powerpoint/2010/main" val="740484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55497-7672-9A97-9A9A-8F133E0C5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2993922" cy="3063875"/>
          </a:xfrm>
        </p:spPr>
        <p:txBody>
          <a:bodyPr/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GridMET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Covariates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3308C-A593-A03F-694B-1F7630CC08F9}"/>
              </a:ext>
            </a:extLst>
          </p:cNvPr>
          <p:cNvSpPr txBox="1"/>
          <p:nvPr/>
        </p:nvSpPr>
        <p:spPr>
          <a:xfrm>
            <a:off x="660214" y="2754873"/>
            <a:ext cx="34026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Wind Speed 10m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Wind direction 10m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Specific humidity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Maximum temperature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Minimum temperature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Precipitation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Surface Downwelling Solar Radiation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D54188F-78DE-EB64-DBFC-94B5D444FC9B}"/>
              </a:ext>
            </a:extLst>
          </p:cNvPr>
          <p:cNvGrpSpPr/>
          <p:nvPr/>
        </p:nvGrpSpPr>
        <p:grpSpPr>
          <a:xfrm>
            <a:off x="4240831" y="396791"/>
            <a:ext cx="7772400" cy="5889276"/>
            <a:chOff x="4240831" y="396791"/>
            <a:chExt cx="7772400" cy="588927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CFEB41A-24E2-1FC9-8DE7-C8A0A44F4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40831" y="571933"/>
              <a:ext cx="7772400" cy="571413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0AC428E-4715-CD32-FE96-6836BC1693F0}"/>
                </a:ext>
              </a:extLst>
            </p:cNvPr>
            <p:cNvSpPr txBox="1"/>
            <p:nvPr/>
          </p:nvSpPr>
          <p:spPr>
            <a:xfrm>
              <a:off x="5146964" y="396791"/>
              <a:ext cx="189807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b="0" i="0" dirty="0">
                  <a:solidFill>
                    <a:srgbClr val="1F2328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Wind Speed 10m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7C7F5B-D20C-9954-F589-548E6210C9E9}"/>
                </a:ext>
              </a:extLst>
            </p:cNvPr>
            <p:cNvSpPr txBox="1"/>
            <p:nvPr/>
          </p:nvSpPr>
          <p:spPr>
            <a:xfrm>
              <a:off x="8839200" y="420603"/>
              <a:ext cx="228599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b="0" i="0" dirty="0">
                  <a:solidFill>
                    <a:srgbClr val="1F2328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Wind Direction 10m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68C5B99-7B81-27E2-F7F7-3C7ED3FEDBB1}"/>
                </a:ext>
              </a:extLst>
            </p:cNvPr>
            <p:cNvSpPr txBox="1"/>
            <p:nvPr/>
          </p:nvSpPr>
          <p:spPr>
            <a:xfrm>
              <a:off x="5153891" y="1828139"/>
              <a:ext cx="189807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b="0" i="0" dirty="0">
                  <a:solidFill>
                    <a:srgbClr val="1F2328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Specific humidity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B1A3BF-A5D8-2484-20BD-BFF50719C4F5}"/>
                </a:ext>
              </a:extLst>
            </p:cNvPr>
            <p:cNvSpPr txBox="1"/>
            <p:nvPr/>
          </p:nvSpPr>
          <p:spPr>
            <a:xfrm>
              <a:off x="5146964" y="3261002"/>
              <a:ext cx="189807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b="0" i="0" dirty="0">
                  <a:solidFill>
                    <a:srgbClr val="1F2328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Min Temperature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AC4212-2AD6-9E8E-A77A-252FF8338B43}"/>
                </a:ext>
              </a:extLst>
            </p:cNvPr>
            <p:cNvSpPr txBox="1"/>
            <p:nvPr/>
          </p:nvSpPr>
          <p:spPr>
            <a:xfrm>
              <a:off x="9227127" y="3261002"/>
              <a:ext cx="189807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l"/>
              <a:r>
                <a:rPr lang="en-US" b="0" i="0" dirty="0">
                  <a:solidFill>
                    <a:srgbClr val="1F2328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Max temperature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E604BF-012D-FDF1-3222-FEB73A8EF5E1}"/>
                </a:ext>
              </a:extLst>
            </p:cNvPr>
            <p:cNvSpPr txBox="1"/>
            <p:nvPr/>
          </p:nvSpPr>
          <p:spPr>
            <a:xfrm>
              <a:off x="5153891" y="4693865"/>
              <a:ext cx="189807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b="0" i="0" dirty="0">
                  <a:solidFill>
                    <a:srgbClr val="1F2328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Radiation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6538D0E-5224-B868-5C2C-10CF9B841D42}"/>
                </a:ext>
              </a:extLst>
            </p:cNvPr>
            <p:cNvSpPr txBox="1"/>
            <p:nvPr/>
          </p:nvSpPr>
          <p:spPr>
            <a:xfrm>
              <a:off x="9033163" y="1828139"/>
              <a:ext cx="189807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b="0" i="0" dirty="0">
                  <a:solidFill>
                    <a:srgbClr val="1F2328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Precipitation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3711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3AD691CA-003E-3E94-E38D-F64DDC39B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63" y="448827"/>
            <a:ext cx="10909874" cy="596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79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6B50A-07DD-431E-823D-EED9141DE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Cross-validation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10013-42BF-5EDD-1855-BA1C3AB90A7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68829" y="1690688"/>
            <a:ext cx="9677400" cy="4653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273356">
              <a:spcBef>
                <a:spcPts val="327"/>
              </a:spcBef>
            </a:pPr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Spatial block cross-validation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(5 –fold)</a:t>
            </a:r>
          </a:p>
          <a:p>
            <a:pPr defTabSz="4273356">
              <a:spcBef>
                <a:spcPts val="327"/>
              </a:spcBef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273356">
              <a:spcBef>
                <a:spcPts val="327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MSE results across all outcomes 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  <a:ea typeface="+mn-ea"/>
              </a:rPr>
              <a:t>(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μg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  <a:ea typeface="+mn-ea"/>
              </a:rPr>
              <a:t>/m</a:t>
            </a:r>
            <a:r>
              <a:rPr lang="en-US" sz="2400" baseline="30000" dirty="0">
                <a:solidFill>
                  <a:prstClr val="black"/>
                </a:solidFill>
                <a:latin typeface="Calibri" panose="020F0502020204030204"/>
                <a:ea typeface="+mn-ea"/>
              </a:rPr>
              <a:t>3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  <a:ea typeface="+mn-ea"/>
              </a:rPr>
              <a:t>)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: 5, 26,  0.8, 75,  2</a:t>
            </a:r>
          </a:p>
          <a:p>
            <a:pPr defTabSz="4273356">
              <a:spcBef>
                <a:spcPts val="327"/>
              </a:spcBef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273356">
              <a:spcBef>
                <a:spcPts val="327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Mean MSE across CV-folds: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22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μg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  <a:ea typeface="+mn-ea"/>
              </a:rPr>
              <a:t>/m</a:t>
            </a:r>
            <a:r>
              <a:rPr lang="en-US" sz="2400" baseline="30000" dirty="0">
                <a:solidFill>
                  <a:prstClr val="black"/>
                </a:solidFill>
                <a:latin typeface="Calibri" panose="020F0502020204030204"/>
                <a:ea typeface="+mn-ea"/>
              </a:rPr>
              <a:t>3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defTabSz="4273356">
              <a:spcBef>
                <a:spcPts val="327"/>
              </a:spcBef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273356">
              <a:spcBef>
                <a:spcPts val="327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Potential issues:</a:t>
            </a:r>
          </a:p>
          <a:p>
            <a:pPr lvl="1" defTabSz="4273356">
              <a:spcBef>
                <a:spcPts val="327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Outlier data</a:t>
            </a:r>
          </a:p>
          <a:p>
            <a:pPr lvl="1" defTabSz="4273356">
              <a:spcBef>
                <a:spcPts val="327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Missing covariates</a:t>
            </a:r>
          </a:p>
          <a:p>
            <a:pPr lvl="1" defTabSz="4273356">
              <a:spcBef>
                <a:spcPts val="327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 sparsity</a:t>
            </a:r>
          </a:p>
          <a:p>
            <a:pPr lvl="1" defTabSz="4273356">
              <a:spcBef>
                <a:spcPts val="327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Pollutants sharing measuring sites</a:t>
            </a:r>
          </a:p>
          <a:p>
            <a:pPr defTabSz="4273356">
              <a:spcBef>
                <a:spcPts val="327"/>
              </a:spcBef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273356">
              <a:spcBef>
                <a:spcPts val="327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Other CV types to consider: k-means clustering, LOO, LLO with buffer</a:t>
            </a:r>
          </a:p>
        </p:txBody>
      </p:sp>
    </p:spTree>
    <p:extLst>
      <p:ext uri="{BB962C8B-B14F-4D97-AF65-F5344CB8AC3E}">
        <p14:creationId xmlns:p14="http://schemas.microsoft.com/office/powerpoint/2010/main" val="2353232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6E86240-E766-FC1A-F1E3-ED6F6A019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18" y="2546316"/>
            <a:ext cx="11625582" cy="4311684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422C0398-1C71-9AFE-D67F-BB91D2DF9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93" y="-575400"/>
            <a:ext cx="6921137" cy="3063875"/>
          </a:xfrm>
        </p:spPr>
        <p:txBody>
          <a:bodyPr/>
          <a:lstStyle/>
          <a:p>
            <a:r>
              <a:rPr lang="en-US" dirty="0"/>
              <a:t>First results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0FE5186-C054-2D10-4135-C9FD3E0D0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738" y="289710"/>
            <a:ext cx="4353910" cy="218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08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434F-6CC1-8E8F-DF93-B51532CF6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work: targets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07802-F137-8CFE-EED3-F68F6DD1D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Current challenges: </a:t>
            </a:r>
          </a:p>
          <a:p>
            <a:r>
              <a:rPr lang="en-US" dirty="0"/>
              <a:t>Reformatting “imperative” scripts</a:t>
            </a:r>
          </a:p>
          <a:p>
            <a:r>
              <a:rPr lang="en-US" dirty="0"/>
              <a:t>Integration of covariates from Beethoven</a:t>
            </a:r>
          </a:p>
          <a:p>
            <a:r>
              <a:rPr lang="en-US" dirty="0"/>
              <a:t>Dynamic branching setup</a:t>
            </a:r>
          </a:p>
        </p:txBody>
      </p:sp>
    </p:spTree>
    <p:extLst>
      <p:ext uri="{BB962C8B-B14F-4D97-AF65-F5344CB8AC3E}">
        <p14:creationId xmlns:p14="http://schemas.microsoft.com/office/powerpoint/2010/main" val="1456756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434F-6CC1-8E8F-DF93-B51532CF6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49"/>
            <a:ext cx="10515600" cy="1325563"/>
          </a:xfrm>
        </p:spPr>
        <p:txBody>
          <a:bodyPr/>
          <a:lstStyle/>
          <a:p>
            <a:r>
              <a:rPr lang="en-US" dirty="0"/>
              <a:t>Current work: targets pipeline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4A92E-DB89-C452-E8D9-B0D2220F7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193" y="1260767"/>
            <a:ext cx="7772400" cy="523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672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5D0DD-9367-0237-ED95-55778EA9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up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3327A-9B79-F2E2-078D-B2FB00065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Containerization</a:t>
            </a:r>
          </a:p>
          <a:p>
            <a:r>
              <a:rPr lang="en-US" dirty="0"/>
              <a:t>Beethoven covariate integration</a:t>
            </a:r>
          </a:p>
          <a:p>
            <a:r>
              <a:rPr lang="en-US" dirty="0"/>
              <a:t>Wind-dependent buffer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309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0EF2C-2146-6450-59E0-9149BE4CC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1535380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EB1AF-9859-5FA7-2F61-B6D2932D0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1DA9B-AA46-2237-1384-A89DF0509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73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benzene">
            <a:extLst>
              <a:ext uri="{FF2B5EF4-FFF2-40B4-BE49-F238E27FC236}">
                <a16:creationId xmlns:a16="http://schemas.microsoft.com/office/drawing/2014/main" id="{0A3F206A-6F83-4DDB-A653-8B44597B4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05734" y="1866457"/>
            <a:ext cx="3125086" cy="312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0830E25-C044-4B07-8DD8-83EE694C3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240" y="550506"/>
            <a:ext cx="5782552" cy="584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856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3CFD0F-455B-4FF8-912E-44707BCE4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90" y="1123527"/>
            <a:ext cx="9118415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39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F2DC34-28E5-4D44-9C68-30E0F8F37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56" y="923730"/>
            <a:ext cx="10211086" cy="515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034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6D1B7E-F714-483C-A948-007C3330B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90" y="1123527"/>
            <a:ext cx="9118415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332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26E901-95B2-42D8-843C-6E707658B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252" y="0"/>
            <a:ext cx="7614000" cy="6858000"/>
          </a:xfrm>
          <a:prstGeom prst="rect">
            <a:avLst/>
          </a:prstGeom>
        </p:spPr>
      </p:pic>
      <p:pic>
        <p:nvPicPr>
          <p:cNvPr id="1026" name="Picture 2" descr="Image result for chemspider hexane">
            <a:extLst>
              <a:ext uri="{FF2B5EF4-FFF2-40B4-BE49-F238E27FC236}">
                <a16:creationId xmlns:a16="http://schemas.microsoft.com/office/drawing/2014/main" id="{ADDC0780-80F4-4706-B159-38A7053EE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969" y="2310784"/>
            <a:ext cx="2886367" cy="288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2084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F89D31-FDFD-40DA-9137-7A8874AB7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90" y="1123527"/>
            <a:ext cx="9118415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095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1C8A96-BF9E-4C61-AE4C-80A473FFE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75471"/>
            <a:ext cx="10905066" cy="550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428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50868C-6B63-4C77-9FE8-ED19DED74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75471"/>
            <a:ext cx="10905066" cy="550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61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105D64-16B9-4052-985C-56620F09F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785" y="0"/>
            <a:ext cx="6283508" cy="6858000"/>
          </a:xfrm>
          <a:prstGeom prst="rect">
            <a:avLst/>
          </a:prstGeom>
        </p:spPr>
      </p:pic>
      <p:pic>
        <p:nvPicPr>
          <p:cNvPr id="12290" name="Picture 2" descr="Image result for chemspider: chloroform">
            <a:extLst>
              <a:ext uri="{FF2B5EF4-FFF2-40B4-BE49-F238E27FC236}">
                <a16:creationId xmlns:a16="http://schemas.microsoft.com/office/drawing/2014/main" id="{C48495A3-75AD-4B39-B8F2-757C1A819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392" y="1640634"/>
            <a:ext cx="3284376" cy="32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1144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47A46-2FB8-4A0F-8590-4A1057766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90" y="1123527"/>
            <a:ext cx="9118415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889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2C9055-F6E5-42CD-8D7D-B5C25405C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1" y="479881"/>
            <a:ext cx="11840167" cy="597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61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D4FB02-B7A8-40CE-93B8-62BC82D55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75471"/>
            <a:ext cx="10905066" cy="550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9380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Image result for chemspider: carbon tetrachloride">
            <a:extLst>
              <a:ext uri="{FF2B5EF4-FFF2-40B4-BE49-F238E27FC236}">
                <a16:creationId xmlns:a16="http://schemas.microsoft.com/office/drawing/2014/main" id="{3A7DA0C3-1DA3-4C8B-83D8-1C922997C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6485" y="1704664"/>
            <a:ext cx="3579450" cy="357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1D29CD-7FF6-4F05-90CE-6A6A35F13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580" y="278580"/>
            <a:ext cx="6090114" cy="629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212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29E003-9287-4B73-A574-7D0BFC2B3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90" y="1123527"/>
            <a:ext cx="9118415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931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CEC783-60D6-42A9-9D5A-8E07D6D0D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53" y="369651"/>
            <a:ext cx="11959564" cy="603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32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2062F4-9C26-4D2E-A32C-A36755DDD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90" y="1123527"/>
            <a:ext cx="9118415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366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3832</TotalTime>
  <Words>325</Words>
  <Application>Microsoft Macintosh PowerPoint</Application>
  <PresentationFormat>Widescreen</PresentationFormat>
  <Paragraphs>64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HAPS project summary</vt:lpstr>
      <vt:lpstr>Motivation</vt:lpstr>
      <vt:lpstr>Objectives</vt:lpstr>
      <vt:lpstr>Data</vt:lpstr>
      <vt:lpstr>Site locations</vt:lpstr>
      <vt:lpstr>PowerPoint Presentation</vt:lpstr>
      <vt:lpstr>GridMET Covariates</vt:lpstr>
      <vt:lpstr>PowerPoint Presentation</vt:lpstr>
      <vt:lpstr>Cross-validation</vt:lpstr>
      <vt:lpstr>First results</vt:lpstr>
      <vt:lpstr>Current work: targets pipeline</vt:lpstr>
      <vt:lpstr>Current work: targets pipeline</vt:lpstr>
      <vt:lpstr>Coming up next</vt:lpstr>
      <vt:lpstr>Thanks!</vt:lpstr>
      <vt:lpstr>Extras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HAPS poster slides</dc:title>
  <dc:creator>Kassien, Mariana (NIH/NIEHS) [F]</dc:creator>
  <cp:lastModifiedBy>Kassien, Mariana (NIH/NIEHS) [F]</cp:lastModifiedBy>
  <cp:revision>5</cp:revision>
  <dcterms:created xsi:type="dcterms:W3CDTF">2024-12-03T03:45:32Z</dcterms:created>
  <dcterms:modified xsi:type="dcterms:W3CDTF">2025-01-14T18:50:42Z</dcterms:modified>
</cp:coreProperties>
</file>