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70" r:id="rId3"/>
    <p:sldId id="257" r:id="rId4"/>
    <p:sldId id="375" r:id="rId5"/>
    <p:sldId id="3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132"/>
  </p:normalViewPr>
  <p:slideViewPr>
    <p:cSldViewPr snapToGrid="0">
      <p:cViewPr>
        <p:scale>
          <a:sx n="109" d="100"/>
          <a:sy n="109" d="100"/>
        </p:scale>
        <p:origin x="92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B1730-BFA9-5EB8-B262-A5F5C21E5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18AF48-FFF8-FDA0-6045-B4D9C9EFF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A5F36-B1C2-68ED-D694-6AFC8E3F3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DFE78-5454-DF35-33CE-D27B5A7E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27B79-632D-3D5B-40B3-DA303B01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5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A8E4-9570-9D1E-A3B6-A1C04CBD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2DE6C-67AC-BB58-7CD6-D549115B6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00ED6-C0FB-A19D-73F0-951991CE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4E5FB-C568-5F78-83AF-3C29BDC35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7118F-DCE4-E0C8-7C2C-DB5BB1A1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6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61669-1C96-B693-D6D1-0B5BB9729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EFACE-D84E-8320-2793-B67DC3281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B0DAD-A433-3A7E-8BDB-722D2B5A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0160D-D89B-7E00-8326-952681A6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5E2F9-CF63-C5D6-251E-9D9F71876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52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E3F7-9540-63B4-71CD-73407C83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DB790-DEE5-D7E9-505A-B0665CD58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89A77-788F-79BB-A73F-36C5FA23D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24A80-3FF6-C4E3-C695-AAFC514B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FB32F0-5387-934C-5C13-FC6A7509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DF277-E292-59EB-13FC-6642DBE6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18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ACDB-4FBA-E95A-3473-ADB394F70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82E75-8597-2F75-0E54-3C5AE0330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5958-FA5D-77A4-B13D-1BA3C7107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D9E6A-19EA-02A5-E3C7-50A79123AC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83A67-BEDA-7D36-F90E-22D15F488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CB068A-A824-6E8C-6F58-5C0C7AB99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2DE4E-FE1E-4C61-7CA6-C7A81E9D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9160C-CE60-AA8E-6264-6C100F55E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74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E5E08-7A9D-0977-463B-50F4120D5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A4C02-D4C1-D053-FD69-2DA4A17BD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DD3EF-A557-12B1-461C-CAF390384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E70D2-B301-F301-FE09-C9F8814BB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09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3373FF-7118-8004-9566-771B4FC37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682E5-FC6E-EDBB-4F3C-A9CBFB50F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63FB4-10AB-79FB-3466-1F7EBC1E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3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D51A-ABC7-55C7-3A9D-326107F7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BB3B-D3C1-3D6F-CAEE-9B4EFB99F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90F35-423F-6FCC-90D4-AFB58D5B5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F1372-C9E4-3764-EF7D-52DDC916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BEF6C-0242-0491-6087-5B01A0B81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227A0-FE16-FB5B-B038-45CE1B77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452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9BB22-178D-A666-0440-DCBDB0D88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E1649D-8B99-8420-34B2-AE837724C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66CC3-B507-B5A4-E412-299A465CC5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851D1-F6B0-15E8-D0CB-9A767A0C1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D6B72-1C73-1A38-2D09-9FF87321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BDE83F-3DF7-EE33-F49D-C50A25BD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14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3CB0-D2AA-8E08-3F48-BD3AB11B1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A8C76-722F-FB02-1BE9-652705572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B710C-0D88-F45C-0ECA-F63F0D2A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159B1-14E7-5ADE-D018-71ACA8CA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A0546-0A38-9F49-3183-DFE8EC93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7D09F-3289-8329-90A0-B927C3F77F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84082-CCD2-0858-9FA0-E4BFC59ED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EB1F2-717C-3096-EA0E-0839933A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5A2F6-92FE-836A-B71B-8BF755A0D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2C4C7-EC90-6C39-697F-597B5132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30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3B707B-63B6-CAC7-7DE2-E21438A2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E9D35-5249-6306-A8DB-D30B94BE6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C02E1-FFA6-6FFE-8D43-C19D207F67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38D3E-BC21-E84A-A44C-3E3D931D8314}" type="datetimeFigureOut">
              <a:rPr lang="en-US" smtClean="0"/>
              <a:t>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3F542-91F5-B3AE-811D-71E8608677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95F55-FE6C-A6A7-6CF7-B30AC1A21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9C09E-CD02-2F45-8F81-D7C16D4707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7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1B1AB-97AE-BDF4-A8B0-5B3E25309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AGU Poster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8A8694-EDA2-FAB4-C8D2-1213441526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3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7841F-1205-34E5-4CC3-699996092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20661" cy="255995"/>
          </a:xfrm>
        </p:spPr>
        <p:txBody>
          <a:bodyPr>
            <a:normAutofit fontScale="90000"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HAPS ridgeline plot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AD5BEE-8D4E-D905-C9A5-ABC7F95C0ABA}"/>
              </a:ext>
            </a:extLst>
          </p:cNvPr>
          <p:cNvGrpSpPr/>
          <p:nvPr/>
        </p:nvGrpSpPr>
        <p:grpSpPr>
          <a:xfrm>
            <a:off x="2962683" y="820615"/>
            <a:ext cx="7493832" cy="4970584"/>
            <a:chOff x="3259015" y="1160585"/>
            <a:chExt cx="7493832" cy="497058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F1AF35E-7226-165A-5287-9D938F4E9B9D}"/>
                </a:ext>
              </a:extLst>
            </p:cNvPr>
            <p:cNvSpPr/>
            <p:nvPr/>
          </p:nvSpPr>
          <p:spPr>
            <a:xfrm>
              <a:off x="3259015" y="1160585"/>
              <a:ext cx="7493832" cy="49705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A2A344C-C98A-8565-C14E-F40CA7393716}"/>
                </a:ext>
              </a:extLst>
            </p:cNvPr>
            <p:cNvGrpSpPr/>
            <p:nvPr/>
          </p:nvGrpSpPr>
          <p:grpSpPr>
            <a:xfrm>
              <a:off x="3479788" y="1447409"/>
              <a:ext cx="7273059" cy="4464971"/>
              <a:chOff x="4566844" y="2027903"/>
              <a:chExt cx="7273059" cy="4464971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29BE18D-D50E-8887-7A68-FEE43FCCB9CF}"/>
                  </a:ext>
                </a:extLst>
              </p:cNvPr>
              <p:cNvGrpSpPr/>
              <p:nvPr/>
            </p:nvGrpSpPr>
            <p:grpSpPr>
              <a:xfrm>
                <a:off x="4566844" y="2027903"/>
                <a:ext cx="7273059" cy="4464971"/>
                <a:chOff x="4566844" y="2027903"/>
                <a:chExt cx="7273059" cy="4464971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31AF87A2-8278-153C-1EE2-521F971EAE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4583" t="7272" r="2314" b="7670"/>
                <a:stretch/>
              </p:blipFill>
              <p:spPr>
                <a:xfrm>
                  <a:off x="4603531" y="2027903"/>
                  <a:ext cx="7236372" cy="4095639"/>
                </a:xfrm>
                <a:prstGeom prst="rect">
                  <a:avLst/>
                </a:prstGeom>
              </p:spPr>
            </p:pic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47BF500F-A1C0-70D4-0F4F-2DEE5E0E474C}"/>
                    </a:ext>
                  </a:extLst>
                </p:cNvPr>
                <p:cNvGrpSpPr/>
                <p:nvPr/>
              </p:nvGrpSpPr>
              <p:grpSpPr>
                <a:xfrm>
                  <a:off x="5268818" y="2285203"/>
                  <a:ext cx="3504912" cy="4207671"/>
                  <a:chOff x="5268818" y="2285203"/>
                  <a:chExt cx="3504912" cy="4207671"/>
                </a:xfrm>
              </p:grpSpPr>
              <p:pic>
                <p:nvPicPr>
                  <p:cNvPr id="6" name="Picture 2" descr="Image result for benzene">
                    <a:extLst>
                      <a:ext uri="{FF2B5EF4-FFF2-40B4-BE49-F238E27FC236}">
                        <a16:creationId xmlns:a16="http://schemas.microsoft.com/office/drawing/2014/main" id="{BF718DFB-0C6B-F633-EE65-FBC4D65D8B2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5296205" y="4780736"/>
                    <a:ext cx="458163" cy="45816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" name="Picture 2" descr="Image result for chemspider: chloroform">
                    <a:extLst>
                      <a:ext uri="{FF2B5EF4-FFF2-40B4-BE49-F238E27FC236}">
                        <a16:creationId xmlns:a16="http://schemas.microsoft.com/office/drawing/2014/main" id="{CED2F31E-6C97-5A71-DC58-3C8B8A6C27C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296205" y="3088035"/>
                    <a:ext cx="515000" cy="515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8" name="Picture 2" descr="Image result for chemspider hexane">
                    <a:extLst>
                      <a:ext uri="{FF2B5EF4-FFF2-40B4-BE49-F238E27FC236}">
                        <a16:creationId xmlns:a16="http://schemas.microsoft.com/office/drawing/2014/main" id="{078ECCBB-2475-0800-A308-267B48E7020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296205" y="2285203"/>
                    <a:ext cx="515000" cy="5150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9" name="Picture 2" descr="Image result for chemspider: carbon tetrachloride">
                    <a:extLst>
                      <a:ext uri="{FF2B5EF4-FFF2-40B4-BE49-F238E27FC236}">
                        <a16:creationId xmlns:a16="http://schemas.microsoft.com/office/drawing/2014/main" id="{E2383364-1040-22E0-C700-284A8212CB2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 bwMode="auto">
                  <a:xfrm>
                    <a:off x="5268818" y="3863481"/>
                    <a:ext cx="569773" cy="569773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1B53EBFA-BE8C-C308-95B9-3E65832595BC}"/>
                      </a:ext>
                    </a:extLst>
                  </p:cNvPr>
                  <p:cNvSpPr txBox="1"/>
                  <p:nvPr/>
                </p:nvSpPr>
                <p:spPr>
                  <a:xfrm>
                    <a:off x="6464252" y="6123542"/>
                    <a:ext cx="230947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Concentration (</a:t>
                    </a:r>
                    <a:r>
                      <a:rPr lang="en-US" dirty="0" err="1"/>
                      <a:t>μg</a:t>
                    </a:r>
                    <a:r>
                      <a:rPr lang="en-US" dirty="0"/>
                      <a:t>/m</a:t>
                    </a:r>
                    <a:r>
                      <a:rPr lang="en-US" baseline="30000" dirty="0"/>
                      <a:t>3</a:t>
                    </a:r>
                    <a:r>
                      <a:rPr lang="en-US" dirty="0"/>
                      <a:t>)</a:t>
                    </a:r>
                  </a:p>
                </p:txBody>
              </p: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7A7341E-1BD5-1AD6-1601-0705EC05D58C}"/>
                    </a:ext>
                  </a:extLst>
                </p:cNvPr>
                <p:cNvSpPr txBox="1"/>
                <p:nvPr/>
              </p:nvSpPr>
              <p:spPr>
                <a:xfrm rot="16200000">
                  <a:off x="4307317" y="3678814"/>
                  <a:ext cx="888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Density</a:t>
                  </a:r>
                </a:p>
              </p:txBody>
            </p:sp>
          </p:grp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08F2A0D-AD01-4C57-5E87-20525F05D2A8}"/>
                  </a:ext>
                </a:extLst>
              </p:cNvPr>
              <p:cNvSpPr txBox="1"/>
              <p:nvPr/>
            </p:nvSpPr>
            <p:spPr>
              <a:xfrm>
                <a:off x="10166763" y="3507778"/>
                <a:ext cx="892098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048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BE8FF79-4C76-1C21-CF4F-0960384212F3}"/>
              </a:ext>
            </a:extLst>
          </p:cNvPr>
          <p:cNvGrpSpPr/>
          <p:nvPr/>
        </p:nvGrpSpPr>
        <p:grpSpPr>
          <a:xfrm>
            <a:off x="3077932" y="1151245"/>
            <a:ext cx="5929806" cy="3990316"/>
            <a:chOff x="767072" y="2148991"/>
            <a:chExt cx="11068971" cy="7448589"/>
          </a:xfrm>
        </p:grpSpPr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44A71007-3A91-2BEC-6E36-299005335055}"/>
                </a:ext>
              </a:extLst>
            </p:cNvPr>
            <p:cNvGrpSpPr/>
            <p:nvPr/>
          </p:nvGrpSpPr>
          <p:grpSpPr>
            <a:xfrm>
              <a:off x="767072" y="2148991"/>
              <a:ext cx="11068971" cy="7448589"/>
              <a:chOff x="406448" y="-1056622"/>
              <a:chExt cx="11068971" cy="7448589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4BCD06D-940B-6502-A57D-8C941C32D18D}"/>
                  </a:ext>
                </a:extLst>
              </p:cNvPr>
              <p:cNvSpPr/>
              <p:nvPr/>
            </p:nvSpPr>
            <p:spPr>
              <a:xfrm>
                <a:off x="609600" y="127166"/>
                <a:ext cx="1331495" cy="6249570"/>
              </a:xfrm>
              <a:prstGeom prst="roundRect">
                <a:avLst/>
              </a:prstGeom>
              <a:solidFill>
                <a:srgbClr val="CCD8E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4" dirty="0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2046A41B-1242-C371-7BDB-F3461A008303}"/>
                  </a:ext>
                </a:extLst>
              </p:cNvPr>
              <p:cNvSpPr/>
              <p:nvPr/>
            </p:nvSpPr>
            <p:spPr>
              <a:xfrm>
                <a:off x="2027113" y="127166"/>
                <a:ext cx="6053106" cy="6264801"/>
              </a:xfrm>
              <a:prstGeom prst="roundRect">
                <a:avLst>
                  <a:gd name="adj" fmla="val 4776"/>
                </a:avLst>
              </a:prstGeom>
              <a:solidFill>
                <a:srgbClr val="D8E7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4" dirty="0"/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5A41A75-6126-D22E-45A5-A5D8378B5F9B}"/>
                  </a:ext>
                </a:extLst>
              </p:cNvPr>
              <p:cNvSpPr/>
              <p:nvPr/>
            </p:nvSpPr>
            <p:spPr>
              <a:xfrm>
                <a:off x="8200014" y="127166"/>
                <a:ext cx="1638798" cy="6249570"/>
              </a:xfrm>
              <a:prstGeom prst="roundRect">
                <a:avLst/>
              </a:prstGeom>
              <a:solidFill>
                <a:srgbClr val="FCEC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4" dirty="0"/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6E3BF3D0-CCBC-115E-D133-4A1015C2C949}"/>
                  </a:ext>
                </a:extLst>
              </p:cNvPr>
              <p:cNvSpPr/>
              <p:nvPr/>
            </p:nvSpPr>
            <p:spPr>
              <a:xfrm>
                <a:off x="9920983" y="111935"/>
                <a:ext cx="1554436" cy="6264801"/>
              </a:xfrm>
              <a:prstGeom prst="roundRect">
                <a:avLst/>
              </a:prstGeom>
              <a:solidFill>
                <a:srgbClr val="F7DAC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4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29B3423-8FC3-C7D1-6AA1-800C9389B5FD}"/>
                  </a:ext>
                </a:extLst>
              </p:cNvPr>
              <p:cNvSpPr txBox="1"/>
              <p:nvPr/>
            </p:nvSpPr>
            <p:spPr>
              <a:xfrm>
                <a:off x="8177965" y="267171"/>
                <a:ext cx="1700462" cy="572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93" b="1" dirty="0">
                    <a:solidFill>
                      <a:schemeClr val="accent4">
                        <a:lumMod val="75000"/>
                      </a:schemeClr>
                    </a:solidFill>
                  </a:rPr>
                  <a:t>Modeling</a:t>
                </a: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927B90B6-DD44-9E22-14E0-F8757762EBBA}"/>
                  </a:ext>
                </a:extLst>
              </p:cNvPr>
              <p:cNvSpPr/>
              <p:nvPr/>
            </p:nvSpPr>
            <p:spPr>
              <a:xfrm>
                <a:off x="3265801" y="2206896"/>
                <a:ext cx="1614475" cy="111246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64" dirty="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639194B-BC74-87A0-183D-990A587CED4D}"/>
                  </a:ext>
                </a:extLst>
              </p:cNvPr>
              <p:cNvGrpSpPr/>
              <p:nvPr/>
            </p:nvGrpSpPr>
            <p:grpSpPr>
              <a:xfrm>
                <a:off x="780086" y="876798"/>
                <a:ext cx="10340443" cy="5305398"/>
                <a:chOff x="780086" y="876798"/>
                <a:chExt cx="10340443" cy="5305398"/>
              </a:xfrm>
            </p:grpSpPr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C4F1C585-E13B-8176-0A01-5749FF32CFC3}"/>
                    </a:ext>
                  </a:extLst>
                </p:cNvPr>
                <p:cNvSpPr/>
                <p:nvPr/>
              </p:nvSpPr>
              <p:spPr>
                <a:xfrm>
                  <a:off x="2327480" y="876798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Exploratory Analysis</a:t>
                  </a:r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383D33E6-8A20-A84F-BEAB-3074B668AB49}"/>
                    </a:ext>
                  </a:extLst>
                </p:cNvPr>
                <p:cNvSpPr/>
                <p:nvPr/>
              </p:nvSpPr>
              <p:spPr>
                <a:xfrm>
                  <a:off x="2949309" y="1386294"/>
                  <a:ext cx="953189" cy="452293"/>
                </a:xfrm>
                <a:custGeom>
                  <a:avLst/>
                  <a:gdLst>
                    <a:gd name="connsiteX0" fmla="*/ 0 w 953189"/>
                    <a:gd name="connsiteY0" fmla="*/ 45229 h 452293"/>
                    <a:gd name="connsiteX1" fmla="*/ 45229 w 953189"/>
                    <a:gd name="connsiteY1" fmla="*/ 0 h 452293"/>
                    <a:gd name="connsiteX2" fmla="*/ 907960 w 953189"/>
                    <a:gd name="connsiteY2" fmla="*/ 0 h 452293"/>
                    <a:gd name="connsiteX3" fmla="*/ 953189 w 953189"/>
                    <a:gd name="connsiteY3" fmla="*/ 45229 h 452293"/>
                    <a:gd name="connsiteX4" fmla="*/ 953189 w 953189"/>
                    <a:gd name="connsiteY4" fmla="*/ 407064 h 452293"/>
                    <a:gd name="connsiteX5" fmla="*/ 907960 w 953189"/>
                    <a:gd name="connsiteY5" fmla="*/ 452293 h 452293"/>
                    <a:gd name="connsiteX6" fmla="*/ 45229 w 953189"/>
                    <a:gd name="connsiteY6" fmla="*/ 452293 h 452293"/>
                    <a:gd name="connsiteX7" fmla="*/ 0 w 953189"/>
                    <a:gd name="connsiteY7" fmla="*/ 407064 h 452293"/>
                    <a:gd name="connsiteX8" fmla="*/ 0 w 953189"/>
                    <a:gd name="connsiteY8" fmla="*/ 45229 h 4522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52293">
                      <a:moveTo>
                        <a:pt x="0" y="45229"/>
                      </a:moveTo>
                      <a:cubicBezTo>
                        <a:pt x="0" y="20250"/>
                        <a:pt x="20250" y="0"/>
                        <a:pt x="45229" y="0"/>
                      </a:cubicBezTo>
                      <a:lnTo>
                        <a:pt x="907960" y="0"/>
                      </a:lnTo>
                      <a:cubicBezTo>
                        <a:pt x="932939" y="0"/>
                        <a:pt x="953189" y="20250"/>
                        <a:pt x="953189" y="45229"/>
                      </a:cubicBezTo>
                      <a:lnTo>
                        <a:pt x="953189" y="407064"/>
                      </a:lnTo>
                      <a:cubicBezTo>
                        <a:pt x="953189" y="432043"/>
                        <a:pt x="932939" y="452293"/>
                        <a:pt x="907960" y="452293"/>
                      </a:cubicBezTo>
                      <a:lnTo>
                        <a:pt x="45229" y="452293"/>
                      </a:lnTo>
                      <a:cubicBezTo>
                        <a:pt x="20250" y="452293"/>
                        <a:pt x="0" y="432043"/>
                        <a:pt x="0" y="407064"/>
                      </a:cubicBezTo>
                      <a:lnTo>
                        <a:pt x="0" y="4522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519" tIns="11519" rIns="11519" bIns="11519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Select Chemicals</a:t>
                  </a:r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2EA450D5-309B-37D3-4D41-643668E73DE5}"/>
                    </a:ext>
                  </a:extLst>
                </p:cNvPr>
                <p:cNvSpPr/>
                <p:nvPr/>
              </p:nvSpPr>
              <p:spPr>
                <a:xfrm>
                  <a:off x="5000072" y="2387546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Daily Averages</a:t>
                  </a:r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8D083FDC-1F1A-EB17-9A08-C446E954DDA9}"/>
                    </a:ext>
                  </a:extLst>
                </p:cNvPr>
                <p:cNvSpPr/>
                <p:nvPr/>
              </p:nvSpPr>
              <p:spPr>
                <a:xfrm>
                  <a:off x="10151448" y="178342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Validation metrics</a:t>
                  </a:r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9BC6D275-FC59-ACFE-9822-70770CF4344E}"/>
                    </a:ext>
                  </a:extLst>
                </p:cNvPr>
                <p:cNvSpPr/>
                <p:nvPr/>
              </p:nvSpPr>
              <p:spPr>
                <a:xfrm>
                  <a:off x="819937" y="373691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Covariate data</a:t>
                  </a:r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6108FC26-1376-3445-D72D-460B6D225835}"/>
                    </a:ext>
                  </a:extLst>
                </p:cNvPr>
                <p:cNvSpPr/>
                <p:nvPr/>
              </p:nvSpPr>
              <p:spPr>
                <a:xfrm>
                  <a:off x="5602244" y="3654564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Process @HAPs</a:t>
                  </a:r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A03B6054-9D2C-7D9C-403C-408F4FC54EDE}"/>
                    </a:ext>
                  </a:extLst>
                </p:cNvPr>
                <p:cNvSpPr/>
                <p:nvPr/>
              </p:nvSpPr>
              <p:spPr>
                <a:xfrm>
                  <a:off x="6819858" y="3654658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Calculate @HAPs</a:t>
                  </a:r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445BCA41-1479-EEDB-90F1-9A96DDFBFF31}"/>
                    </a:ext>
                  </a:extLst>
                </p:cNvPr>
                <p:cNvSpPr/>
                <p:nvPr/>
              </p:nvSpPr>
              <p:spPr>
                <a:xfrm>
                  <a:off x="8465479" y="2478879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Model cross-validation</a:t>
                  </a:r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F0C81913-5D91-6CAF-F60E-D45DA0E05E66}"/>
                    </a:ext>
                  </a:extLst>
                </p:cNvPr>
                <p:cNvSpPr/>
                <p:nvPr/>
              </p:nvSpPr>
              <p:spPr>
                <a:xfrm>
                  <a:off x="8487874" y="3993861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Full model fit</a:t>
                  </a:r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09B9DF2F-0C1D-97F7-8F62-AAF3E76A8216}"/>
                    </a:ext>
                  </a:extLst>
                </p:cNvPr>
                <p:cNvSpPr/>
                <p:nvPr/>
              </p:nvSpPr>
              <p:spPr>
                <a:xfrm>
                  <a:off x="10167341" y="3190703"/>
                  <a:ext cx="953188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43" dirty="0"/>
                    <a:t>Parameter interpretation</a:t>
                  </a:r>
                </a:p>
              </p:txBody>
            </p:sp>
            <p:sp>
              <p:nvSpPr>
                <p:cNvPr id="46" name="Freeform 45">
                  <a:extLst>
                    <a:ext uri="{FF2B5EF4-FFF2-40B4-BE49-F238E27FC236}">
                      <a16:creationId xmlns:a16="http://schemas.microsoft.com/office/drawing/2014/main" id="{21B3E1E3-96CB-DD12-94C1-54C4A47141A1}"/>
                    </a:ext>
                  </a:extLst>
                </p:cNvPr>
                <p:cNvSpPr/>
                <p:nvPr/>
              </p:nvSpPr>
              <p:spPr>
                <a:xfrm>
                  <a:off x="5609929" y="477735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Process @Pred. grid</a:t>
                  </a:r>
                </a:p>
              </p:txBody>
            </p:sp>
            <p:sp>
              <p:nvSpPr>
                <p:cNvPr id="48" name="Freeform 47">
                  <a:extLst>
                    <a:ext uri="{FF2B5EF4-FFF2-40B4-BE49-F238E27FC236}">
                      <a16:creationId xmlns:a16="http://schemas.microsoft.com/office/drawing/2014/main" id="{A1CC7869-7469-58A3-8292-C172634F1413}"/>
                    </a:ext>
                  </a:extLst>
                </p:cNvPr>
                <p:cNvSpPr/>
                <p:nvPr/>
              </p:nvSpPr>
              <p:spPr>
                <a:xfrm>
                  <a:off x="6855972" y="4777400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Calculate @Pred. grid</a:t>
                  </a:r>
                </a:p>
              </p:txBody>
            </p:sp>
            <p:sp>
              <p:nvSpPr>
                <p:cNvPr id="50" name="Freeform 49">
                  <a:extLst>
                    <a:ext uri="{FF2B5EF4-FFF2-40B4-BE49-F238E27FC236}">
                      <a16:creationId xmlns:a16="http://schemas.microsoft.com/office/drawing/2014/main" id="{383B5A1F-7DCF-8A24-AD62-9BAB7E1B255D}"/>
                    </a:ext>
                  </a:extLst>
                </p:cNvPr>
                <p:cNvSpPr/>
                <p:nvPr/>
              </p:nvSpPr>
              <p:spPr>
                <a:xfrm>
                  <a:off x="10167339" y="459798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Predictions</a:t>
                  </a:r>
                </a:p>
              </p:txBody>
            </p:sp>
            <p:sp>
              <p:nvSpPr>
                <p:cNvPr id="51" name="Freeform 50">
                  <a:extLst>
                    <a:ext uri="{FF2B5EF4-FFF2-40B4-BE49-F238E27FC236}">
                      <a16:creationId xmlns:a16="http://schemas.microsoft.com/office/drawing/2014/main" id="{52EEC20C-97D1-4641-6A18-B1228CEC4A2F}"/>
                    </a:ext>
                  </a:extLst>
                </p:cNvPr>
                <p:cNvSpPr/>
                <p:nvPr/>
              </p:nvSpPr>
              <p:spPr>
                <a:xfrm>
                  <a:off x="786063" y="5705602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Prediction grid</a:t>
                  </a:r>
                </a:p>
              </p:txBody>
            </p:sp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D7C11A48-367E-DBEE-8A15-4F58BEDE5410}"/>
                    </a:ext>
                  </a:extLst>
                </p:cNvPr>
                <p:cNvSpPr/>
                <p:nvPr/>
              </p:nvSpPr>
              <p:spPr>
                <a:xfrm>
                  <a:off x="780086" y="1350240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HAPs data</a:t>
                  </a:r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1BB8D47E-0EED-26CF-6FC2-A8891EF74551}"/>
                    </a:ext>
                  </a:extLst>
                </p:cNvPr>
                <p:cNvSpPr/>
                <p:nvPr/>
              </p:nvSpPr>
              <p:spPr>
                <a:xfrm>
                  <a:off x="3630805" y="1873053"/>
                  <a:ext cx="953189" cy="476594"/>
                </a:xfrm>
                <a:custGeom>
                  <a:avLst/>
                  <a:gdLst>
                    <a:gd name="connsiteX0" fmla="*/ 0 w 953189"/>
                    <a:gd name="connsiteY0" fmla="*/ 47659 h 476594"/>
                    <a:gd name="connsiteX1" fmla="*/ 47659 w 953189"/>
                    <a:gd name="connsiteY1" fmla="*/ 0 h 476594"/>
                    <a:gd name="connsiteX2" fmla="*/ 905530 w 953189"/>
                    <a:gd name="connsiteY2" fmla="*/ 0 h 476594"/>
                    <a:gd name="connsiteX3" fmla="*/ 953189 w 953189"/>
                    <a:gd name="connsiteY3" fmla="*/ 47659 h 476594"/>
                    <a:gd name="connsiteX4" fmla="*/ 953189 w 953189"/>
                    <a:gd name="connsiteY4" fmla="*/ 428935 h 476594"/>
                    <a:gd name="connsiteX5" fmla="*/ 905530 w 953189"/>
                    <a:gd name="connsiteY5" fmla="*/ 476594 h 476594"/>
                    <a:gd name="connsiteX6" fmla="*/ 47659 w 953189"/>
                    <a:gd name="connsiteY6" fmla="*/ 476594 h 476594"/>
                    <a:gd name="connsiteX7" fmla="*/ 0 w 953189"/>
                    <a:gd name="connsiteY7" fmla="*/ 428935 h 476594"/>
                    <a:gd name="connsiteX8" fmla="*/ 0 w 953189"/>
                    <a:gd name="connsiteY8" fmla="*/ 47659 h 476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53189" h="476594">
                      <a:moveTo>
                        <a:pt x="0" y="47659"/>
                      </a:moveTo>
                      <a:cubicBezTo>
                        <a:pt x="0" y="21338"/>
                        <a:pt x="21338" y="0"/>
                        <a:pt x="47659" y="0"/>
                      </a:cubicBezTo>
                      <a:lnTo>
                        <a:pt x="905530" y="0"/>
                      </a:lnTo>
                      <a:cubicBezTo>
                        <a:pt x="931851" y="0"/>
                        <a:pt x="953189" y="21338"/>
                        <a:pt x="953189" y="47659"/>
                      </a:cubicBezTo>
                      <a:lnTo>
                        <a:pt x="953189" y="428935"/>
                      </a:lnTo>
                      <a:cubicBezTo>
                        <a:pt x="953189" y="455256"/>
                        <a:pt x="931851" y="476594"/>
                        <a:pt x="905530" y="476594"/>
                      </a:cubicBezTo>
                      <a:lnTo>
                        <a:pt x="47659" y="476594"/>
                      </a:lnTo>
                      <a:cubicBezTo>
                        <a:pt x="21338" y="476594"/>
                        <a:pt x="0" y="455256"/>
                        <a:pt x="0" y="428935"/>
                      </a:cubicBezTo>
                      <a:lnTo>
                        <a:pt x="0" y="47659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1900" tIns="11900" rIns="11900" bIns="11900" numCol="1" spcCol="1270" anchor="ctr" anchorCtr="0">
                  <a:noAutofit/>
                </a:bodyPr>
                <a:lstStyle/>
                <a:p>
                  <a:pPr algn="ctr" defTabSz="309554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696" dirty="0"/>
                    <a:t>Preprocess</a:t>
                  </a: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D0B630-B80D-A969-6BB4-ABA38AA76E1D}"/>
                  </a:ext>
                </a:extLst>
              </p:cNvPr>
              <p:cNvSpPr txBox="1"/>
              <p:nvPr/>
            </p:nvSpPr>
            <p:spPr>
              <a:xfrm>
                <a:off x="406448" y="245828"/>
                <a:ext cx="1700462" cy="572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93" b="1" dirty="0">
                    <a:solidFill>
                      <a:schemeClr val="accent1">
                        <a:lumMod val="75000"/>
                      </a:schemeClr>
                    </a:solidFill>
                  </a:rPr>
                  <a:t>Input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7B2F2A-E4B8-4CCD-0C6A-405714D72D31}"/>
                  </a:ext>
                </a:extLst>
              </p:cNvPr>
              <p:cNvSpPr txBox="1"/>
              <p:nvPr/>
            </p:nvSpPr>
            <p:spPr>
              <a:xfrm>
                <a:off x="3769526" y="237469"/>
                <a:ext cx="2521607" cy="572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93" b="1" dirty="0">
                    <a:solidFill>
                      <a:schemeClr val="accent6">
                        <a:lumMod val="75000"/>
                      </a:schemeClr>
                    </a:solidFill>
                  </a:rPr>
                  <a:t>Data Processing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A8DDF6-BBD1-C0E4-6FEB-F50D6A20E98F}"/>
                  </a:ext>
                </a:extLst>
              </p:cNvPr>
              <p:cNvSpPr txBox="1"/>
              <p:nvPr/>
            </p:nvSpPr>
            <p:spPr>
              <a:xfrm>
                <a:off x="9765799" y="249761"/>
                <a:ext cx="1700462" cy="572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393" b="1" dirty="0">
                    <a:solidFill>
                      <a:schemeClr val="accent2">
                        <a:lumMod val="75000"/>
                      </a:schemeClr>
                    </a:solidFill>
                  </a:rPr>
                  <a:t>Results</a:t>
                </a:r>
              </a:p>
            </p:txBody>
          </p:sp>
          <p:cxnSp>
            <p:nvCxnSpPr>
              <p:cNvPr id="57" name="Curved Connector 56">
                <a:extLst>
                  <a:ext uri="{FF2B5EF4-FFF2-40B4-BE49-F238E27FC236}">
                    <a16:creationId xmlns:a16="http://schemas.microsoft.com/office/drawing/2014/main" id="{6F0847BC-F638-D22B-1386-8DBB777972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09721" y="1111261"/>
                <a:ext cx="617761" cy="495648"/>
              </a:xfrm>
              <a:prstGeom prst="bentConnector3">
                <a:avLst>
                  <a:gd name="adj1" fmla="val 78465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Curved Connector 62">
                <a:extLst>
                  <a:ext uri="{FF2B5EF4-FFF2-40B4-BE49-F238E27FC236}">
                    <a16:creationId xmlns:a16="http://schemas.microsoft.com/office/drawing/2014/main" id="{65620D74-7EFE-100E-D6BA-16EA5A1EB47D}"/>
                  </a:ext>
                </a:extLst>
              </p:cNvPr>
              <p:cNvCxnSpPr/>
              <p:nvPr/>
            </p:nvCxnSpPr>
            <p:spPr>
              <a:xfrm rot="16200000" flipH="1">
                <a:off x="2738324" y="1401456"/>
                <a:ext cx="259048" cy="162919"/>
              </a:xfrm>
              <a:prstGeom prst="bentConnector3">
                <a:avLst>
                  <a:gd name="adj1" fmla="val 999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Curved Connector 88">
                <a:extLst>
                  <a:ext uri="{FF2B5EF4-FFF2-40B4-BE49-F238E27FC236}">
                    <a16:creationId xmlns:a16="http://schemas.microsoft.com/office/drawing/2014/main" id="{A044F5A6-1414-2733-448B-BF00598B145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386826" y="2958124"/>
                <a:ext cx="803156" cy="615190"/>
              </a:xfrm>
              <a:prstGeom prst="bentConnector3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Curved Connector 92">
                <a:extLst>
                  <a:ext uri="{FF2B5EF4-FFF2-40B4-BE49-F238E27FC236}">
                    <a16:creationId xmlns:a16="http://schemas.microsoft.com/office/drawing/2014/main" id="{E751036F-909D-FA5D-87C4-A33C0D3D78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3531" y="3839792"/>
                <a:ext cx="38279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Curved Connector 94">
                <a:extLst>
                  <a:ext uri="{FF2B5EF4-FFF2-40B4-BE49-F238E27FC236}">
                    <a16:creationId xmlns:a16="http://schemas.microsoft.com/office/drawing/2014/main" id="{509EB784-0D20-5257-42A2-C218CE85EB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2548" y="4139914"/>
                <a:ext cx="3827905" cy="734034"/>
              </a:xfrm>
              <a:prstGeom prst="bentConnector3">
                <a:avLst>
                  <a:gd name="adj1" fmla="val 90986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Curved Connector 104">
                <a:extLst>
                  <a:ext uri="{FF2B5EF4-FFF2-40B4-BE49-F238E27FC236}">
                    <a16:creationId xmlns:a16="http://schemas.microsoft.com/office/drawing/2014/main" id="{0F4163B1-77A6-26BD-2E3E-9A9744F6CB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2594" y="3840389"/>
                <a:ext cx="25991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Curved Connector 107">
                <a:extLst>
                  <a:ext uri="{FF2B5EF4-FFF2-40B4-BE49-F238E27FC236}">
                    <a16:creationId xmlns:a16="http://schemas.microsoft.com/office/drawing/2014/main" id="{6F1C719C-0923-C2C9-8F24-054C243A09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72594" y="5015650"/>
                <a:ext cx="29088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Curved Connector 111">
                <a:extLst>
                  <a:ext uri="{FF2B5EF4-FFF2-40B4-BE49-F238E27FC236}">
                    <a16:creationId xmlns:a16="http://schemas.microsoft.com/office/drawing/2014/main" id="{7ED2A18E-2C38-678B-A0E6-B236FB032D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26929" y="5119541"/>
                <a:ext cx="3873524" cy="861661"/>
              </a:xfrm>
              <a:prstGeom prst="bentConnector3">
                <a:avLst>
                  <a:gd name="adj1" fmla="val 91249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Curved Connector 117">
                <a:extLst>
                  <a:ext uri="{FF2B5EF4-FFF2-40B4-BE49-F238E27FC236}">
                    <a16:creationId xmlns:a16="http://schemas.microsoft.com/office/drawing/2014/main" id="{88FC626D-15A3-4C29-C29C-0EB4C9A3E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09161" y="5009385"/>
                <a:ext cx="235817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Curved Connector 62">
                <a:extLst>
                  <a:ext uri="{FF2B5EF4-FFF2-40B4-BE49-F238E27FC236}">
                    <a16:creationId xmlns:a16="http://schemas.microsoft.com/office/drawing/2014/main" id="{20814589-09C3-D70E-972E-48E1B599522C}"/>
                  </a:ext>
                </a:extLst>
              </p:cNvPr>
              <p:cNvCxnSpPr/>
              <p:nvPr/>
            </p:nvCxnSpPr>
            <p:spPr>
              <a:xfrm rot="16200000" flipH="1">
                <a:off x="3419822" y="1888407"/>
                <a:ext cx="259048" cy="162919"/>
              </a:xfrm>
              <a:prstGeom prst="bentConnector3">
                <a:avLst>
                  <a:gd name="adj1" fmla="val 99900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Curved Connector 62">
                <a:extLst>
                  <a:ext uri="{FF2B5EF4-FFF2-40B4-BE49-F238E27FC236}">
                    <a16:creationId xmlns:a16="http://schemas.microsoft.com/office/drawing/2014/main" id="{655FAA92-8A2F-E524-77B2-B37E611F68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83996" y="2076886"/>
                <a:ext cx="892671" cy="310662"/>
              </a:xfrm>
              <a:prstGeom prst="bentConnector3">
                <a:avLst>
                  <a:gd name="adj1" fmla="val 99876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5" name="Curved Connector 117">
                <a:extLst>
                  <a:ext uri="{FF2B5EF4-FFF2-40B4-BE49-F238E27FC236}">
                    <a16:creationId xmlns:a16="http://schemas.microsoft.com/office/drawing/2014/main" id="{BBDF5100-E142-5854-2514-95710594D1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9515" y="4488372"/>
                <a:ext cx="1207824" cy="208022"/>
              </a:xfrm>
              <a:prstGeom prst="bentConnector3">
                <a:avLst>
                  <a:gd name="adj1" fmla="val -8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Curved Connector 117">
                <a:extLst>
                  <a:ext uri="{FF2B5EF4-FFF2-40B4-BE49-F238E27FC236}">
                    <a16:creationId xmlns:a16="http://schemas.microsoft.com/office/drawing/2014/main" id="{18EB9BB1-02F2-73FF-7019-02DF4E9FEB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32567" y="4131158"/>
                <a:ext cx="1161687" cy="232079"/>
              </a:xfrm>
              <a:prstGeom prst="bentConnector3">
                <a:avLst>
                  <a:gd name="adj1" fmla="val -1335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8" name="Curved Connector 117">
                <a:extLst>
                  <a:ext uri="{FF2B5EF4-FFF2-40B4-BE49-F238E27FC236}">
                    <a16:creationId xmlns:a16="http://schemas.microsoft.com/office/drawing/2014/main" id="{78BEF4E8-7CF6-EA45-D92E-201A2CEFD039}"/>
                  </a:ext>
                </a:extLst>
              </p:cNvPr>
              <p:cNvCxnSpPr>
                <a:cxnSpLocks/>
                <a:stCxn id="36" idx="3"/>
                <a:endCxn id="38" idx="7"/>
              </p:cNvCxnSpPr>
              <p:nvPr/>
            </p:nvCxnSpPr>
            <p:spPr>
              <a:xfrm flipV="1">
                <a:off x="7773047" y="2907814"/>
                <a:ext cx="692432" cy="794503"/>
              </a:xfrm>
              <a:prstGeom prst="bentConnector3">
                <a:avLst>
                  <a:gd name="adj1" fmla="val 77095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Curved Connector 117">
                <a:extLst>
                  <a:ext uri="{FF2B5EF4-FFF2-40B4-BE49-F238E27FC236}">
                    <a16:creationId xmlns:a16="http://schemas.microsoft.com/office/drawing/2014/main" id="{875BE5BD-C03A-5D44-0C0D-97BE38F055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42073" y="3429000"/>
                <a:ext cx="1225266" cy="564861"/>
              </a:xfrm>
              <a:prstGeom prst="bentConnector3">
                <a:avLst>
                  <a:gd name="adj1" fmla="val 1389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Curved Connector 117">
                <a:extLst>
                  <a:ext uri="{FF2B5EF4-FFF2-40B4-BE49-F238E27FC236}">
                    <a16:creationId xmlns:a16="http://schemas.microsoft.com/office/drawing/2014/main" id="{C3CCE050-7466-564B-CE5D-76F9FA523D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42073" y="2013536"/>
                <a:ext cx="1209375" cy="463757"/>
              </a:xfrm>
              <a:prstGeom prst="bentConnector3">
                <a:avLst>
                  <a:gd name="adj1" fmla="val 69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Curved Connector 62">
                <a:extLst>
                  <a:ext uri="{FF2B5EF4-FFF2-40B4-BE49-F238E27FC236}">
                    <a16:creationId xmlns:a16="http://schemas.microsoft.com/office/drawing/2014/main" id="{600E3354-6D68-13B7-DC25-5BEFD75360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3261" y="2564108"/>
                <a:ext cx="2521607" cy="41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4" name="Curved Connector 62">
                <a:extLst>
                  <a:ext uri="{FF2B5EF4-FFF2-40B4-BE49-F238E27FC236}">
                    <a16:creationId xmlns:a16="http://schemas.microsoft.com/office/drawing/2014/main" id="{BEFE7299-6E98-05B8-CBB8-4FFF1AA028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7068" y="2737853"/>
                <a:ext cx="2534613" cy="1414583"/>
              </a:xfrm>
              <a:prstGeom prst="bentConnector3">
                <a:avLst>
                  <a:gd name="adj1" fmla="val 76033"/>
                </a:avLst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361" name="Picture 2">
                <a:extLst>
                  <a:ext uri="{FF2B5EF4-FFF2-40B4-BE49-F238E27FC236}">
                    <a16:creationId xmlns:a16="http://schemas.microsoft.com/office/drawing/2014/main" id="{77C5B8E6-28BC-ACDF-AA1F-154A788F33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02804" y="753776"/>
                <a:ext cx="933040" cy="107658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2" name="Graphic 361">
                <a:extLst>
                  <a:ext uri="{FF2B5EF4-FFF2-40B4-BE49-F238E27FC236}">
                    <a16:creationId xmlns:a16="http://schemas.microsoft.com/office/drawing/2014/main" id="{A18AFAF9-25ED-691F-B2C8-F505927C09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128912" y="-1056622"/>
                <a:ext cx="929765" cy="1076570"/>
              </a:xfrm>
              <a:prstGeom prst="rect">
                <a:avLst/>
              </a:prstGeom>
            </p:spPr>
          </p:pic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F4F64BB2-158C-35DE-C893-3E980B1890C3}"/>
                  </a:ext>
                </a:extLst>
              </p:cNvPr>
              <p:cNvSpPr txBox="1"/>
              <p:nvPr/>
            </p:nvSpPr>
            <p:spPr>
              <a:xfrm>
                <a:off x="3654743" y="-928401"/>
                <a:ext cx="4757751" cy="864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11" b="1" dirty="0"/>
                  <a:t>Analysis Pipeline</a:t>
                </a: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CFE5F26-145D-8D0E-FBC7-C3E60173618D}"/>
                </a:ext>
              </a:extLst>
            </p:cNvPr>
            <p:cNvGrpSpPr/>
            <p:nvPr/>
          </p:nvGrpSpPr>
          <p:grpSpPr>
            <a:xfrm>
              <a:off x="1534113" y="4924819"/>
              <a:ext cx="1652553" cy="2039373"/>
              <a:chOff x="1902598" y="5065203"/>
              <a:chExt cx="1652553" cy="2039373"/>
            </a:xfrm>
          </p:grpSpPr>
          <p:pic>
            <p:nvPicPr>
              <p:cNvPr id="379" name="Graphic 378">
                <a:extLst>
                  <a:ext uri="{FF2B5EF4-FFF2-40B4-BE49-F238E27FC236}">
                    <a16:creationId xmlns:a16="http://schemas.microsoft.com/office/drawing/2014/main" id="{46D750D9-9C3A-3082-87F1-3C27015E8E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902598" y="5825111"/>
                <a:ext cx="1259629" cy="1279465"/>
              </a:xfrm>
              <a:prstGeom prst="rect">
                <a:avLst/>
              </a:prstGeom>
            </p:spPr>
          </p:pic>
          <p:pic>
            <p:nvPicPr>
              <p:cNvPr id="387" name="Graphic 386">
                <a:extLst>
                  <a:ext uri="{FF2B5EF4-FFF2-40B4-BE49-F238E27FC236}">
                    <a16:creationId xmlns:a16="http://schemas.microsoft.com/office/drawing/2014/main" id="{13DA6499-DF38-E512-9676-8474F8EE35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481112" y="5065203"/>
                <a:ext cx="1074039" cy="1133708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97B1547-78C2-9F4D-A60C-DBBFD3F9A8D9}"/>
                </a:ext>
              </a:extLst>
            </p:cNvPr>
            <p:cNvSpPr txBox="1"/>
            <p:nvPr/>
          </p:nvSpPr>
          <p:spPr>
            <a:xfrm>
              <a:off x="3634875" y="5576226"/>
              <a:ext cx="1625374" cy="1465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91846" indent="-91846">
                <a:buFont typeface="Arial" panose="020B0604020202020204" pitchFamily="34" charset="0"/>
                <a:buChar char="•"/>
              </a:pPr>
              <a:r>
                <a:rPr lang="en-US" sz="643" dirty="0">
                  <a:solidFill>
                    <a:schemeClr val="bg2">
                      <a:lumMod val="25000"/>
                    </a:schemeClr>
                  </a:solidFill>
                </a:rPr>
                <a:t>Homogenize units</a:t>
              </a:r>
            </a:p>
            <a:p>
              <a:pPr marL="91846" indent="-91846">
                <a:buFont typeface="Arial" panose="020B0604020202020204" pitchFamily="34" charset="0"/>
                <a:buChar char="•"/>
              </a:pPr>
              <a:r>
                <a:rPr lang="en-US" sz="643" dirty="0">
                  <a:solidFill>
                    <a:schemeClr val="bg2">
                      <a:lumMod val="25000"/>
                    </a:schemeClr>
                  </a:solidFill>
                </a:rPr>
                <a:t>Amend records</a:t>
              </a:r>
            </a:p>
            <a:p>
              <a:pPr marL="91846" indent="-91846">
                <a:buFont typeface="Arial" panose="020B0604020202020204" pitchFamily="34" charset="0"/>
                <a:buChar char="•"/>
              </a:pPr>
              <a:r>
                <a:rPr lang="en-US" sz="643" dirty="0">
                  <a:solidFill>
                    <a:schemeClr val="bg2">
                      <a:lumMod val="25000"/>
                    </a:schemeClr>
                  </a:solidFill>
                </a:rPr>
                <a:t>Process non-detects</a:t>
              </a:r>
            </a:p>
            <a:p>
              <a:pPr marL="91846" indent="-91846">
                <a:buFont typeface="Arial" panose="020B0604020202020204" pitchFamily="34" charset="0"/>
                <a:buChar char="•"/>
              </a:pPr>
              <a:r>
                <a:rPr lang="en-US" sz="643" dirty="0">
                  <a:solidFill>
                    <a:schemeClr val="bg2">
                      <a:lumMod val="25000"/>
                    </a:schemeClr>
                  </a:solidFill>
                </a:rPr>
                <a:t>Add site metadata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742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DC7F699-409D-1213-07EE-7C1026645874}"/>
              </a:ext>
            </a:extLst>
          </p:cNvPr>
          <p:cNvGrpSpPr/>
          <p:nvPr/>
        </p:nvGrpSpPr>
        <p:grpSpPr>
          <a:xfrm>
            <a:off x="-2359081" y="-290195"/>
            <a:ext cx="18487880" cy="6858000"/>
            <a:chOff x="-2359081" y="-290195"/>
            <a:chExt cx="1848788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454DF9E-22A8-364B-CA75-4D0239F4633F}"/>
                </a:ext>
              </a:extLst>
            </p:cNvPr>
            <p:cNvSpPr/>
            <p:nvPr/>
          </p:nvSpPr>
          <p:spPr>
            <a:xfrm>
              <a:off x="-2359081" y="457200"/>
              <a:ext cx="18487879" cy="5905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9429D9B-8454-FD36-EB45-77BE93FAE61A}"/>
                </a:ext>
              </a:extLst>
            </p:cNvPr>
            <p:cNvGrpSpPr/>
            <p:nvPr/>
          </p:nvGrpSpPr>
          <p:grpSpPr>
            <a:xfrm>
              <a:off x="-2359081" y="-290195"/>
              <a:ext cx="7080358" cy="6858000"/>
              <a:chOff x="2555819" y="-137795"/>
              <a:chExt cx="7080358" cy="685800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F976581-B283-0684-DFD0-11091E003FD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t="82185"/>
              <a:stretch/>
            </p:blipFill>
            <p:spPr>
              <a:xfrm>
                <a:off x="2555819" y="4462790"/>
                <a:ext cx="7080358" cy="122173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9C7C64E-7F51-C041-BE80-7B635D4EAE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555819" y="-137795"/>
                <a:ext cx="7080358" cy="6858000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D4F0772-FADB-8BCF-AE84-1C275E96BC20}"/>
                  </a:ext>
                </a:extLst>
              </p:cNvPr>
              <p:cNvSpPr txBox="1"/>
              <p:nvPr/>
            </p:nvSpPr>
            <p:spPr>
              <a:xfrm>
                <a:off x="4019860" y="911870"/>
                <a:ext cx="41522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Mean Benzene 2021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0777E85-E251-ADEF-DD9A-EA7EFBD3A48B}"/>
                </a:ext>
              </a:extLst>
            </p:cNvPr>
            <p:cNvGrpSpPr/>
            <p:nvPr/>
          </p:nvGrpSpPr>
          <p:grpSpPr>
            <a:xfrm>
              <a:off x="3344679" y="-290195"/>
              <a:ext cx="7080359" cy="6858000"/>
              <a:chOff x="2555820" y="-137795"/>
              <a:chExt cx="7080359" cy="6858000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E9372F9-ED89-BB62-85F5-A66737C46A9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t="86000"/>
              <a:stretch/>
            </p:blipFill>
            <p:spPr>
              <a:xfrm>
                <a:off x="2555821" y="4724400"/>
                <a:ext cx="7080358" cy="96012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F451A39-7864-779C-2DB8-0067B8EE4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555820" y="-137795"/>
                <a:ext cx="7080358" cy="6858000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C4E92F-B24F-5B56-E65F-647238FECD61}"/>
                  </a:ext>
                </a:extLst>
              </p:cNvPr>
              <p:cNvSpPr txBox="1"/>
              <p:nvPr/>
            </p:nvSpPr>
            <p:spPr>
              <a:xfrm>
                <a:off x="4019860" y="911870"/>
                <a:ext cx="41522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Mean Chloroform 2021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3A9F176-8A2F-A617-2CE8-A8847EF10A6E}"/>
                </a:ext>
              </a:extLst>
            </p:cNvPr>
            <p:cNvGrpSpPr/>
            <p:nvPr/>
          </p:nvGrpSpPr>
          <p:grpSpPr>
            <a:xfrm>
              <a:off x="9048440" y="-290195"/>
              <a:ext cx="7080359" cy="6858000"/>
              <a:chOff x="2555819" y="-137795"/>
              <a:chExt cx="7080359" cy="685800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49655A64-D373-7469-C0AF-41B00B3DD3B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t="86000"/>
              <a:stretch/>
            </p:blipFill>
            <p:spPr>
              <a:xfrm>
                <a:off x="2555819" y="4724400"/>
                <a:ext cx="7080358" cy="96012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FD4F031-8CE5-69E2-33D0-BBCCAAB7FC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555820" y="-137795"/>
                <a:ext cx="7080358" cy="68580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16430B-A7B1-3839-946B-FD7E1E5F0AC8}"/>
                  </a:ext>
                </a:extLst>
              </p:cNvPr>
              <p:cNvSpPr txBox="1"/>
              <p:nvPr/>
            </p:nvSpPr>
            <p:spPr>
              <a:xfrm>
                <a:off x="4019860" y="911870"/>
                <a:ext cx="41522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Mean Hexane 2021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B8D9E6F-AFB5-CEDC-93CB-377C4EAB2787}"/>
                </a:ext>
              </a:extLst>
            </p:cNvPr>
            <p:cNvSpPr txBox="1"/>
            <p:nvPr/>
          </p:nvSpPr>
          <p:spPr>
            <a:xfrm>
              <a:off x="-322937" y="5609242"/>
              <a:ext cx="30080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Concentration (</a:t>
              </a:r>
              <a:r>
                <a:rPr lang="en-US" sz="2400" dirty="0" err="1"/>
                <a:t>μg</a:t>
              </a:r>
              <a:r>
                <a:rPr lang="en-US" sz="2400" dirty="0"/>
                <a:t>/m</a:t>
              </a:r>
              <a:r>
                <a:rPr lang="en-US" sz="2400" baseline="30000" dirty="0"/>
                <a:t>3</a:t>
              </a:r>
              <a:r>
                <a:rPr lang="en-US" sz="2400" dirty="0"/>
                <a:t>)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01BA8E-169C-26F4-3C60-42BD46DA59EA}"/>
                </a:ext>
              </a:extLst>
            </p:cNvPr>
            <p:cNvSpPr txBox="1"/>
            <p:nvPr/>
          </p:nvSpPr>
          <p:spPr>
            <a:xfrm>
              <a:off x="5380823" y="5583535"/>
              <a:ext cx="30080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Concentration (</a:t>
              </a:r>
              <a:r>
                <a:rPr lang="en-US" sz="2400" dirty="0" err="1"/>
                <a:t>μg</a:t>
              </a:r>
              <a:r>
                <a:rPr lang="en-US" sz="2400" dirty="0"/>
                <a:t>/m</a:t>
              </a:r>
              <a:r>
                <a:rPr lang="en-US" sz="2400" baseline="30000" dirty="0"/>
                <a:t>3</a:t>
              </a:r>
              <a:r>
                <a:rPr lang="en-US" sz="2400" dirty="0"/>
                <a:t>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05E8A3F-5825-8F46-5A0F-D5DDF2B0C939}"/>
                </a:ext>
              </a:extLst>
            </p:cNvPr>
            <p:cNvSpPr txBox="1"/>
            <p:nvPr/>
          </p:nvSpPr>
          <p:spPr>
            <a:xfrm>
              <a:off x="11084585" y="5609241"/>
              <a:ext cx="30080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Concentration (</a:t>
              </a:r>
              <a:r>
                <a:rPr lang="en-US" sz="2400" dirty="0" err="1"/>
                <a:t>μg</a:t>
              </a:r>
              <a:r>
                <a:rPr lang="en-US" sz="2400" dirty="0"/>
                <a:t>/m</a:t>
              </a:r>
              <a:r>
                <a:rPr lang="en-US" sz="2400" baseline="30000" dirty="0"/>
                <a:t>3</a:t>
              </a:r>
              <a:r>
                <a:rPr lang="en-US" sz="24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77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B3536D3-45D7-9821-EF89-750CEDC3E2BE}"/>
              </a:ext>
            </a:extLst>
          </p:cNvPr>
          <p:cNvGrpSpPr/>
          <p:nvPr/>
        </p:nvGrpSpPr>
        <p:grpSpPr>
          <a:xfrm>
            <a:off x="-1676400" y="-2279073"/>
            <a:ext cx="15544800" cy="11416146"/>
            <a:chOff x="-3445213" y="-2354093"/>
            <a:chExt cx="15544800" cy="114161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537E8C-6C34-48E3-4AF5-1B8FFFE394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2807"/>
            <a:stretch/>
          </p:blipFill>
          <p:spPr>
            <a:xfrm>
              <a:off x="4327187" y="3428999"/>
              <a:ext cx="7772400" cy="563305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ABD301E-A721-9A9D-0EA3-98E4625F4D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10332"/>
            <a:stretch/>
          </p:blipFill>
          <p:spPr>
            <a:xfrm>
              <a:off x="4327187" y="-2354093"/>
              <a:ext cx="7772400" cy="578309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8DF8951-CDAB-36F0-B9BB-0F85DF72B6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8614"/>
            <a:stretch/>
          </p:blipFill>
          <p:spPr>
            <a:xfrm>
              <a:off x="-3445213" y="-2354093"/>
              <a:ext cx="7772400" cy="589392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A1F612-0E8D-05B1-E244-D041C6199E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2658"/>
            <a:stretch/>
          </p:blipFill>
          <p:spPr>
            <a:xfrm>
              <a:off x="-3445213" y="3428999"/>
              <a:ext cx="7772400" cy="5633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064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95</Words>
  <Application>Microsoft Macintosh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AGU Poster figures</vt:lpstr>
      <vt:lpstr>HAPS ridgeline plot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AGU Poster figures</dc:title>
  <dc:creator>Kassien, Mariana (NIH/NIEHS) [F]</dc:creator>
  <cp:lastModifiedBy>Kassien, Mariana (NIH/NIEHS) [F]</cp:lastModifiedBy>
  <cp:revision>1</cp:revision>
  <dcterms:created xsi:type="dcterms:W3CDTF">2025-02-05T18:45:33Z</dcterms:created>
  <dcterms:modified xsi:type="dcterms:W3CDTF">2025-02-05T18:51:53Z</dcterms:modified>
</cp:coreProperties>
</file>