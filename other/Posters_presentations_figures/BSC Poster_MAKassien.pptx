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8" r:id="rId2"/>
  </p:sldIdLst>
  <p:sldSz cx="51206400" cy="40233600"/>
  <p:notesSz cx="14833600" cy="94488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24">
          <p15:clr>
            <a:srgbClr val="A4A3A4"/>
          </p15:clr>
        </p15:guide>
        <p15:guide id="2" orient="horz" pos="624">
          <p15:clr>
            <a:srgbClr val="A4A3A4"/>
          </p15:clr>
        </p15:guide>
        <p15:guide id="3" orient="horz" pos="24624">
          <p15:clr>
            <a:srgbClr val="A4A3A4"/>
          </p15:clr>
        </p15:guide>
        <p15:guide id="4" orient="horz" pos="1440">
          <p15:clr>
            <a:srgbClr val="A4A3A4"/>
          </p15:clr>
        </p15:guide>
        <p15:guide id="5" orient="horz" pos="23472">
          <p15:clr>
            <a:srgbClr val="A4A3A4"/>
          </p15:clr>
        </p15:guide>
        <p15:guide id="6" pos="16128">
          <p15:clr>
            <a:srgbClr val="A4A3A4"/>
          </p15:clr>
        </p15:guide>
        <p15:guide id="7" pos="864">
          <p15:clr>
            <a:srgbClr val="A4A3A4"/>
          </p15:clr>
        </p15:guide>
        <p15:guide id="8" pos="3139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2038"/>
    <a:srgbClr val="134679"/>
    <a:srgbClr val="FFFFFF"/>
    <a:srgbClr val="CC0000"/>
    <a:srgbClr val="6666FF"/>
    <a:srgbClr val="00CCFF"/>
    <a:srgbClr val="33CCFF"/>
    <a:srgbClr val="66CCFF"/>
    <a:srgbClr val="DDF2FF"/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5620"/>
    <p:restoredTop sz="94660"/>
  </p:normalViewPr>
  <p:slideViewPr>
    <p:cSldViewPr showGuides="1">
      <p:cViewPr>
        <p:scale>
          <a:sx n="15" d="100"/>
          <a:sy n="15" d="100"/>
        </p:scale>
        <p:origin x="2584" y="1024"/>
      </p:cViewPr>
      <p:guideLst>
        <p:guide orient="horz" pos="3024"/>
        <p:guide orient="horz" pos="624"/>
        <p:guide orient="horz" pos="24624"/>
        <p:guide orient="horz" pos="1440"/>
        <p:guide orient="horz" pos="23472"/>
        <p:guide pos="16128"/>
        <p:guide pos="864"/>
        <p:guide pos="31392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64325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8606" tIns="69299" rIns="138606" bIns="69299" numCol="1" anchor="t" anchorCtr="0" compatLnSpc="1">
            <a:prstTxWarp prst="textNoShape">
              <a:avLst/>
            </a:prstTxWarp>
          </a:bodyPr>
          <a:lstStyle>
            <a:lvl1pPr defTabSz="1385888">
              <a:defRPr sz="18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8401050" y="0"/>
            <a:ext cx="64325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8606" tIns="69299" rIns="138606" bIns="69299" numCol="1" anchor="t" anchorCtr="0" compatLnSpc="1">
            <a:prstTxWarp prst="textNoShape">
              <a:avLst/>
            </a:prstTxWarp>
          </a:bodyPr>
          <a:lstStyle>
            <a:lvl1pPr algn="r" defTabSz="1385888">
              <a:defRPr sz="18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24925"/>
            <a:ext cx="64325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8606" tIns="69299" rIns="138606" bIns="69299" numCol="1" anchor="b" anchorCtr="0" compatLnSpc="1">
            <a:prstTxWarp prst="textNoShape">
              <a:avLst/>
            </a:prstTxWarp>
          </a:bodyPr>
          <a:lstStyle>
            <a:lvl1pPr defTabSz="1385888">
              <a:defRPr sz="18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8401050" y="8924925"/>
            <a:ext cx="64325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8606" tIns="69299" rIns="138606" bIns="69299" numCol="1" anchor="b" anchorCtr="0" compatLnSpc="1">
            <a:prstTxWarp prst="textNoShape">
              <a:avLst/>
            </a:prstTxWarp>
          </a:bodyPr>
          <a:lstStyle>
            <a:lvl1pPr algn="r" defTabSz="1385888">
              <a:defRPr sz="1800"/>
            </a:lvl1pPr>
          </a:lstStyle>
          <a:p>
            <a:fld id="{33A113B0-A691-4317-9D32-EBD83EB1540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65435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6427788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8402638" y="0"/>
            <a:ext cx="6427787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5162550" y="708025"/>
            <a:ext cx="4508500" cy="3543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482725" y="4487863"/>
            <a:ext cx="11868150" cy="425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84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74138"/>
            <a:ext cx="6427788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4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8402638" y="8974138"/>
            <a:ext cx="6427787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6FF68CD-ACE0-4259-BE69-B3BCDFBE50C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9822110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ＭＳ Ｐゴシック" pitchFamily="-109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fld id="{CBD41AA2-B506-4F29-8ABB-42FDC11FA708}" type="slidenum">
              <a:rPr lang="en-US" altLang="en-US" sz="1200"/>
              <a:pPr eaLnBrk="1" hangingPunct="1"/>
              <a:t>1</a:t>
            </a:fld>
            <a:endParaRPr lang="en-US" altLang="en-US" sz="1200"/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7950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40163" y="12498388"/>
            <a:ext cx="43526075" cy="8624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80325" y="22799675"/>
            <a:ext cx="35845750" cy="102806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1419260-C900-4237-BA68-07974F351BA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4491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A62BA36-5BBF-48EA-8544-58D058E4831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2659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4950" y="25854025"/>
            <a:ext cx="43526075" cy="7989888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44950" y="17052925"/>
            <a:ext cx="43526075" cy="88011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9BB527-D6C2-4929-BE39-EA4C1AFE25D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7851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41750" y="11622088"/>
            <a:ext cx="21685250" cy="241411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79400" y="11622088"/>
            <a:ext cx="21685250" cy="241411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786CF7-327F-41C4-9BFD-E6A93E3E9A4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7559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638" y="1611313"/>
            <a:ext cx="46085125" cy="670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60638" y="9005888"/>
            <a:ext cx="22625050" cy="3752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638" y="12758738"/>
            <a:ext cx="22625050" cy="231806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6012775" y="9005888"/>
            <a:ext cx="22632988" cy="3752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6012775" y="12758738"/>
            <a:ext cx="22632988" cy="231806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B9F686-EA2A-4652-98E6-A5DFF65FEC2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5569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A51CD17-730E-427E-AFBB-F3E636BDC5B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070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8064B6C-88DE-48D9-AEF3-16E56BE017C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4776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638" y="1601788"/>
            <a:ext cx="16846550" cy="681672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019963" y="1601788"/>
            <a:ext cx="28625800" cy="34337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638" y="8418513"/>
            <a:ext cx="16846550" cy="275209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A5614B4-99F9-4605-BC6A-F2871D9D363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3376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6175" y="28163838"/>
            <a:ext cx="30724475" cy="332422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36175" y="3595688"/>
            <a:ext cx="30724475" cy="24139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36175" y="31488063"/>
            <a:ext cx="30724475" cy="47228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460CECD-1780-48D5-8A4D-8AF4739E28E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90208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EEBBB9A-CFED-4E44-A46F-563DBFFCAB5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2895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483925" y="3575050"/>
            <a:ext cx="10880725" cy="321881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41750" y="3575050"/>
            <a:ext cx="32489775" cy="321881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B5ACDF-9DD8-414B-997B-02AAF168AF3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8628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FFFFFF"/>
            </a:gs>
            <a:gs pos="100000">
              <a:srgbClr val="134679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41750" y="3575050"/>
            <a:ext cx="43522900" cy="670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22481" tIns="261240" rIns="522481" bIns="26124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41750" y="11622088"/>
            <a:ext cx="43522900" cy="24141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22481" tIns="261240" rIns="522481" bIns="26124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841750" y="36658550"/>
            <a:ext cx="10668000" cy="267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522481" tIns="261240" rIns="522481" bIns="261240" numCol="1" anchor="t" anchorCtr="0" compatLnSpc="1">
            <a:prstTxWarp prst="textNoShape">
              <a:avLst/>
            </a:prstTxWarp>
          </a:bodyPr>
          <a:lstStyle>
            <a:lvl1pPr>
              <a:defRPr sz="80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7494250" y="36658550"/>
            <a:ext cx="16217900" cy="267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522481" tIns="261240" rIns="522481" bIns="261240" numCol="1" anchor="t" anchorCtr="0" compatLnSpc="1">
            <a:prstTxWarp prst="textNoShape">
              <a:avLst/>
            </a:prstTxWarp>
          </a:bodyPr>
          <a:lstStyle>
            <a:lvl1pPr algn="ctr">
              <a:defRPr sz="80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6696650" y="36658550"/>
            <a:ext cx="10668000" cy="267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522481" tIns="261240" rIns="522481" bIns="261240" numCol="1" anchor="t" anchorCtr="0" compatLnSpc="1">
            <a:prstTxWarp prst="textNoShape">
              <a:avLst/>
            </a:prstTxWarp>
          </a:bodyPr>
          <a:lstStyle>
            <a:lvl1pPr algn="r">
              <a:defRPr sz="8000"/>
            </a:lvl1pPr>
          </a:lstStyle>
          <a:p>
            <a:fld id="{DC5CFE56-7B21-4685-B9BD-3B5C9D9BEBE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5224463" rtl="0" eaLnBrk="0" fontAlgn="base" hangingPunct="0">
        <a:spcBef>
          <a:spcPct val="0"/>
        </a:spcBef>
        <a:spcAft>
          <a:spcPct val="0"/>
        </a:spcAft>
        <a:defRPr sz="25100">
          <a:solidFill>
            <a:schemeClr val="tx2"/>
          </a:solidFill>
          <a:latin typeface="+mj-lt"/>
          <a:ea typeface="MS PGothic" pitchFamily="34" charset="-128"/>
          <a:cs typeface="ＭＳ Ｐゴシック" pitchFamily="-109" charset="-128"/>
        </a:defRPr>
      </a:lvl1pPr>
      <a:lvl2pPr algn="ctr" defTabSz="5224463" rtl="0" eaLnBrk="0" fontAlgn="base" hangingPunct="0">
        <a:spcBef>
          <a:spcPct val="0"/>
        </a:spcBef>
        <a:spcAft>
          <a:spcPct val="0"/>
        </a:spcAft>
        <a:defRPr sz="25100">
          <a:solidFill>
            <a:schemeClr val="tx2"/>
          </a:solidFill>
          <a:latin typeface="Times New Roman" pitchFamily="18" charset="0"/>
          <a:ea typeface="MS PGothic" pitchFamily="34" charset="-128"/>
          <a:cs typeface="ＭＳ Ｐゴシック" pitchFamily="-109" charset="-128"/>
        </a:defRPr>
      </a:lvl2pPr>
      <a:lvl3pPr algn="ctr" defTabSz="5224463" rtl="0" eaLnBrk="0" fontAlgn="base" hangingPunct="0">
        <a:spcBef>
          <a:spcPct val="0"/>
        </a:spcBef>
        <a:spcAft>
          <a:spcPct val="0"/>
        </a:spcAft>
        <a:defRPr sz="25100">
          <a:solidFill>
            <a:schemeClr val="tx2"/>
          </a:solidFill>
          <a:latin typeface="Times New Roman" pitchFamily="18" charset="0"/>
          <a:ea typeface="MS PGothic" pitchFamily="34" charset="-128"/>
          <a:cs typeface="ＭＳ Ｐゴシック" pitchFamily="-109" charset="-128"/>
        </a:defRPr>
      </a:lvl3pPr>
      <a:lvl4pPr algn="ctr" defTabSz="5224463" rtl="0" eaLnBrk="0" fontAlgn="base" hangingPunct="0">
        <a:spcBef>
          <a:spcPct val="0"/>
        </a:spcBef>
        <a:spcAft>
          <a:spcPct val="0"/>
        </a:spcAft>
        <a:defRPr sz="25100">
          <a:solidFill>
            <a:schemeClr val="tx2"/>
          </a:solidFill>
          <a:latin typeface="Times New Roman" pitchFamily="18" charset="0"/>
          <a:ea typeface="MS PGothic" pitchFamily="34" charset="-128"/>
          <a:cs typeface="ＭＳ Ｐゴシック" pitchFamily="-109" charset="-128"/>
        </a:defRPr>
      </a:lvl4pPr>
      <a:lvl5pPr algn="ctr" defTabSz="5224463" rtl="0" eaLnBrk="0" fontAlgn="base" hangingPunct="0">
        <a:spcBef>
          <a:spcPct val="0"/>
        </a:spcBef>
        <a:spcAft>
          <a:spcPct val="0"/>
        </a:spcAft>
        <a:defRPr sz="25100">
          <a:solidFill>
            <a:schemeClr val="tx2"/>
          </a:solidFill>
          <a:latin typeface="Times New Roman" pitchFamily="18" charset="0"/>
          <a:ea typeface="MS PGothic" pitchFamily="34" charset="-128"/>
          <a:cs typeface="ＭＳ Ｐゴシック" pitchFamily="-109" charset="-128"/>
        </a:defRPr>
      </a:lvl5pPr>
      <a:lvl6pPr marL="457200" algn="ctr" defTabSz="5224463" rtl="0" fontAlgn="base">
        <a:spcBef>
          <a:spcPct val="0"/>
        </a:spcBef>
        <a:spcAft>
          <a:spcPct val="0"/>
        </a:spcAft>
        <a:defRPr sz="25100">
          <a:solidFill>
            <a:schemeClr val="tx2"/>
          </a:solidFill>
          <a:latin typeface="Times New Roman" pitchFamily="18" charset="0"/>
        </a:defRPr>
      </a:lvl6pPr>
      <a:lvl7pPr marL="914400" algn="ctr" defTabSz="5224463" rtl="0" fontAlgn="base">
        <a:spcBef>
          <a:spcPct val="0"/>
        </a:spcBef>
        <a:spcAft>
          <a:spcPct val="0"/>
        </a:spcAft>
        <a:defRPr sz="25100">
          <a:solidFill>
            <a:schemeClr val="tx2"/>
          </a:solidFill>
          <a:latin typeface="Times New Roman" pitchFamily="18" charset="0"/>
        </a:defRPr>
      </a:lvl7pPr>
      <a:lvl8pPr marL="1371600" algn="ctr" defTabSz="5224463" rtl="0" fontAlgn="base">
        <a:spcBef>
          <a:spcPct val="0"/>
        </a:spcBef>
        <a:spcAft>
          <a:spcPct val="0"/>
        </a:spcAft>
        <a:defRPr sz="25100">
          <a:solidFill>
            <a:schemeClr val="tx2"/>
          </a:solidFill>
          <a:latin typeface="Times New Roman" pitchFamily="18" charset="0"/>
        </a:defRPr>
      </a:lvl8pPr>
      <a:lvl9pPr marL="1828800" algn="ctr" defTabSz="5224463" rtl="0" fontAlgn="base">
        <a:spcBef>
          <a:spcPct val="0"/>
        </a:spcBef>
        <a:spcAft>
          <a:spcPct val="0"/>
        </a:spcAft>
        <a:defRPr sz="25100">
          <a:solidFill>
            <a:schemeClr val="tx2"/>
          </a:solidFill>
          <a:latin typeface="Times New Roman" pitchFamily="18" charset="0"/>
        </a:defRPr>
      </a:lvl9pPr>
    </p:titleStyle>
    <p:bodyStyle>
      <a:lvl1pPr marL="1958975" indent="-1958975" algn="l" defTabSz="5224463" rtl="0" eaLnBrk="0" fontAlgn="base" hangingPunct="0">
        <a:spcBef>
          <a:spcPct val="20000"/>
        </a:spcBef>
        <a:spcAft>
          <a:spcPct val="0"/>
        </a:spcAft>
        <a:buChar char="•"/>
        <a:defRPr sz="18300">
          <a:solidFill>
            <a:schemeClr val="tx1"/>
          </a:solidFill>
          <a:latin typeface="+mn-lt"/>
          <a:ea typeface="MS PGothic" pitchFamily="34" charset="-128"/>
          <a:cs typeface="ＭＳ Ｐゴシック" pitchFamily="-109" charset="-128"/>
        </a:defRPr>
      </a:lvl1pPr>
      <a:lvl2pPr marL="4244975" indent="-1633538" algn="l" defTabSz="5224463" rtl="0" eaLnBrk="0" fontAlgn="base" hangingPunct="0">
        <a:spcBef>
          <a:spcPct val="20000"/>
        </a:spcBef>
        <a:spcAft>
          <a:spcPct val="0"/>
        </a:spcAft>
        <a:buChar char="–"/>
        <a:defRPr sz="16000">
          <a:solidFill>
            <a:schemeClr val="tx1"/>
          </a:solidFill>
          <a:latin typeface="+mn-lt"/>
          <a:ea typeface="MS PGothic" pitchFamily="34" charset="-128"/>
        </a:defRPr>
      </a:lvl2pPr>
      <a:lvl3pPr marL="6530975" indent="-1306513" algn="l" defTabSz="5224463" rtl="0" eaLnBrk="0" fontAlgn="base" hangingPunct="0">
        <a:spcBef>
          <a:spcPct val="20000"/>
        </a:spcBef>
        <a:spcAft>
          <a:spcPct val="0"/>
        </a:spcAft>
        <a:buChar char="•"/>
        <a:defRPr sz="13700">
          <a:solidFill>
            <a:schemeClr val="tx1"/>
          </a:solidFill>
          <a:latin typeface="+mn-lt"/>
          <a:ea typeface="MS PGothic" pitchFamily="34" charset="-128"/>
        </a:defRPr>
      </a:lvl3pPr>
      <a:lvl4pPr marL="9142413" indent="-1304925" algn="l" defTabSz="5224463" rtl="0" eaLnBrk="0" fontAlgn="base" hangingPunct="0">
        <a:spcBef>
          <a:spcPct val="20000"/>
        </a:spcBef>
        <a:spcAft>
          <a:spcPct val="0"/>
        </a:spcAft>
        <a:buChar char="–"/>
        <a:defRPr sz="11400">
          <a:solidFill>
            <a:schemeClr val="tx1"/>
          </a:solidFill>
          <a:latin typeface="+mn-lt"/>
          <a:ea typeface="MS PGothic" pitchFamily="34" charset="-128"/>
        </a:defRPr>
      </a:lvl4pPr>
      <a:lvl5pPr marL="11755438" indent="-1304925" algn="l" defTabSz="5224463" rtl="0" eaLnBrk="0" fontAlgn="base" hangingPunct="0">
        <a:spcBef>
          <a:spcPct val="20000"/>
        </a:spcBef>
        <a:spcAft>
          <a:spcPct val="0"/>
        </a:spcAft>
        <a:buChar char="»"/>
        <a:defRPr sz="11400">
          <a:solidFill>
            <a:schemeClr val="tx1"/>
          </a:solidFill>
          <a:latin typeface="+mn-lt"/>
          <a:ea typeface="MS PGothic" pitchFamily="34" charset="-128"/>
        </a:defRPr>
      </a:lvl5pPr>
      <a:lvl6pPr marL="12212638" indent="-1304925" algn="l" defTabSz="5224463" rtl="0" fontAlgn="base">
        <a:spcBef>
          <a:spcPct val="20000"/>
        </a:spcBef>
        <a:spcAft>
          <a:spcPct val="0"/>
        </a:spcAft>
        <a:buChar char="»"/>
        <a:defRPr sz="11400">
          <a:solidFill>
            <a:schemeClr val="tx1"/>
          </a:solidFill>
          <a:latin typeface="+mn-lt"/>
        </a:defRPr>
      </a:lvl6pPr>
      <a:lvl7pPr marL="12669838" indent="-1304925" algn="l" defTabSz="5224463" rtl="0" fontAlgn="base">
        <a:spcBef>
          <a:spcPct val="20000"/>
        </a:spcBef>
        <a:spcAft>
          <a:spcPct val="0"/>
        </a:spcAft>
        <a:buChar char="»"/>
        <a:defRPr sz="11400">
          <a:solidFill>
            <a:schemeClr val="tx1"/>
          </a:solidFill>
          <a:latin typeface="+mn-lt"/>
        </a:defRPr>
      </a:lvl7pPr>
      <a:lvl8pPr marL="13127038" indent="-1304925" algn="l" defTabSz="5224463" rtl="0" fontAlgn="base">
        <a:spcBef>
          <a:spcPct val="20000"/>
        </a:spcBef>
        <a:spcAft>
          <a:spcPct val="0"/>
        </a:spcAft>
        <a:buChar char="»"/>
        <a:defRPr sz="11400">
          <a:solidFill>
            <a:schemeClr val="tx1"/>
          </a:solidFill>
          <a:latin typeface="+mn-lt"/>
        </a:defRPr>
      </a:lvl8pPr>
      <a:lvl9pPr marL="13584238" indent="-1304925" algn="l" defTabSz="5224463" rtl="0" fontAlgn="base">
        <a:spcBef>
          <a:spcPct val="20000"/>
        </a:spcBef>
        <a:spcAft>
          <a:spcPct val="0"/>
        </a:spcAft>
        <a:buChar char="»"/>
        <a:defRPr sz="1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13" Type="http://schemas.openxmlformats.org/officeDocument/2006/relationships/image" Target="../media/image10.emf"/><Relationship Id="rId3" Type="http://schemas.openxmlformats.org/officeDocument/2006/relationships/image" Target="../media/image1.jpeg"/><Relationship Id="rId7" Type="http://schemas.openxmlformats.org/officeDocument/2006/relationships/image" Target="../media/image5.emf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emf"/><Relationship Id="rId11" Type="http://schemas.openxmlformats.org/officeDocument/2006/relationships/image" Target="../media/image9.png"/><Relationship Id="rId5" Type="http://schemas.openxmlformats.org/officeDocument/2006/relationships/image" Target="../media/image3.emf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 descr="National Institute of Environmental Health Sciences&#10;&#10;Division of Translational Toxicology">
            <a:extLst>
              <a:ext uri="{FF2B5EF4-FFF2-40B4-BE49-F238E27FC236}">
                <a16:creationId xmlns:a16="http://schemas.microsoft.com/office/drawing/2014/main" id="{FE6F947A-0A74-49BE-9937-36EAC07DF4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51206400" cy="2514600"/>
          </a:xfrm>
          <a:prstGeom prst="rect">
            <a:avLst/>
          </a:prstGeom>
        </p:spPr>
      </p:pic>
      <p:sp>
        <p:nvSpPr>
          <p:cNvPr id="35" name="Text Box 599"/>
          <p:cNvSpPr txBox="1">
            <a:spLocks noChangeArrowheads="1"/>
          </p:cNvSpPr>
          <p:nvPr/>
        </p:nvSpPr>
        <p:spPr bwMode="auto">
          <a:xfrm>
            <a:off x="2781300" y="2602914"/>
            <a:ext cx="45643800" cy="37199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algn="ctr" eaLnBrk="0" hangingPunct="0">
              <a:defRPr/>
            </a:pPr>
            <a:r>
              <a:rPr lang="en-US" sz="96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Mapping Exposures and Cumulative Risk of Hazardous Air Pollutants in the United States</a:t>
            </a:r>
          </a:p>
          <a:p>
            <a:pPr algn="ctr" eaLnBrk="0" hangingPunct="0">
              <a:defRPr/>
            </a:pPr>
            <a:r>
              <a:rPr lang="en-US" sz="54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Mariana </a:t>
            </a:r>
            <a:r>
              <a:rPr lang="en-US" sz="5400" dirty="0" err="1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Alifa</a:t>
            </a:r>
            <a:r>
              <a:rPr lang="en-US" sz="54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Kassien*, Kyle P. Messier</a:t>
            </a:r>
          </a:p>
          <a:p>
            <a:pPr algn="ctr" eaLnBrk="0" hangingPunct="0">
              <a:defRPr/>
            </a:pPr>
            <a:r>
              <a:rPr lang="en-US" sz="54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Division of Translational Toxicology, National Institute of Environmental Health Sciences, Research Triangle Park, NC 27709</a:t>
            </a:r>
          </a:p>
        </p:txBody>
      </p:sp>
      <p:sp>
        <p:nvSpPr>
          <p:cNvPr id="38" name="Text Box 534"/>
          <p:cNvSpPr txBox="1">
            <a:spLocks noChangeArrowheads="1"/>
          </p:cNvSpPr>
          <p:nvPr/>
        </p:nvSpPr>
        <p:spPr bwMode="auto">
          <a:xfrm>
            <a:off x="1402976" y="6553200"/>
            <a:ext cx="10972800" cy="822960"/>
          </a:xfrm>
          <a:prstGeom prst="rect">
            <a:avLst/>
          </a:prstGeom>
          <a:gradFill rotWithShape="0">
            <a:gsLst>
              <a:gs pos="0">
                <a:srgbClr val="134679"/>
              </a:gs>
              <a:gs pos="100000">
                <a:srgbClr val="092038"/>
              </a:gs>
            </a:gsLst>
            <a:lin ang="0" scaled="1"/>
          </a:gradFill>
          <a:ln w="19050">
            <a:solidFill>
              <a:srgbClr val="092038"/>
            </a:solidFill>
            <a:miter lim="800000"/>
            <a:headEnd/>
            <a:tailEnd/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txBody>
          <a:bodyPr lIns="457200" rIns="457200" anchor="ctr"/>
          <a:lstStyle>
            <a:defPPr>
              <a:defRPr lang="en-US"/>
            </a:defPPr>
            <a:lvl1pPr>
              <a:tabLst>
                <a:tab pos="1206500" algn="l"/>
              </a:tabLst>
              <a:defRPr sz="4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Summary</a:t>
            </a:r>
          </a:p>
        </p:txBody>
      </p:sp>
      <p:sp>
        <p:nvSpPr>
          <p:cNvPr id="33" name="Rectangle 533"/>
          <p:cNvSpPr>
            <a:spLocks noChangeArrowheads="1"/>
          </p:cNvSpPr>
          <p:nvPr/>
        </p:nvSpPr>
        <p:spPr bwMode="auto">
          <a:xfrm>
            <a:off x="1402976" y="7376159"/>
            <a:ext cx="10972800" cy="9909811"/>
          </a:xfrm>
          <a:prstGeom prst="rect">
            <a:avLst/>
          </a:prstGeom>
          <a:solidFill>
            <a:srgbClr val="FFFFFF"/>
          </a:solidFill>
          <a:ln w="19050">
            <a:solidFill>
              <a:srgbClr val="092038"/>
            </a:solidFill>
            <a:miter lim="800000"/>
            <a:headEnd/>
            <a:tailEnd/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txBody>
          <a:bodyPr wrap="square" lIns="457200" tIns="365760" rIns="457200" bIns="45720" anchor="t"/>
          <a:lstStyle/>
          <a:p>
            <a:pPr marL="285750" marR="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600" kern="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 This project aims </a:t>
            </a:r>
            <a:r>
              <a:rPr lang="en-US" sz="3600" b="1" kern="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to </a:t>
            </a:r>
            <a: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>increase the chemical and space-time coverage </a:t>
            </a: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for risk assessment</a:t>
            </a:r>
            <a:r>
              <a:rPr lang="en-US" sz="3600" kern="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 form Hazardous Air Pollutants (HAPs)</a:t>
            </a:r>
          </a:p>
          <a:p>
            <a:pPr marL="285750" marR="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600" kern="0" dirty="0"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The available data for </a:t>
            </a:r>
            <a:r>
              <a:rPr lang="en-US" sz="36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HAPs presents several </a:t>
            </a:r>
            <a:r>
              <a:rPr lang="en-US" sz="3600" b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modeling challenges </a:t>
            </a:r>
            <a:r>
              <a:rPr lang="en-US" sz="36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such as </a:t>
            </a:r>
            <a:r>
              <a:rPr lang="en-US" sz="3600" kern="100" dirty="0" err="1"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spatio</a:t>
            </a:r>
            <a:r>
              <a:rPr lang="en-US" sz="36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-temporal sparsity, abundance of non-detects, and inhomogeneity of measurement methods and agencies. </a:t>
            </a:r>
          </a:p>
          <a:p>
            <a:pPr marL="285750" marR="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600" kern="100" dirty="0"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We present a </a:t>
            </a:r>
            <a:r>
              <a:rPr lang="en-US" sz="3600" b="1" kern="100" dirty="0"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novel statistical framework </a:t>
            </a:r>
            <a:r>
              <a:rPr lang="en-US" sz="3600" kern="100" dirty="0"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combined with </a:t>
            </a:r>
            <a:r>
              <a:rPr lang="en-US" sz="3600" b="1" kern="100" dirty="0"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analysis pipelines </a:t>
            </a:r>
            <a:r>
              <a:rPr lang="en-US" sz="3600" kern="100" dirty="0"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which will allow for the simultaneous modeling of several chemicals even in the presence of censored data. </a:t>
            </a:r>
          </a:p>
          <a:p>
            <a:pPr marL="285750" marR="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6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We develop our </a:t>
            </a:r>
            <a:r>
              <a:rPr lang="en-US" sz="3600" b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initial model </a:t>
            </a:r>
            <a:r>
              <a:rPr lang="en-US" sz="36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for two HAPs in the state of Texas, with plans to subsequently expand the model to several more pollutants nation-wide and estimate cumulative risk from the modeled exposures. </a:t>
            </a:r>
          </a:p>
        </p:txBody>
      </p:sp>
      <p:sp>
        <p:nvSpPr>
          <p:cNvPr id="43" name="Text Box 534"/>
          <p:cNvSpPr txBox="1">
            <a:spLocks noChangeArrowheads="1"/>
          </p:cNvSpPr>
          <p:nvPr/>
        </p:nvSpPr>
        <p:spPr bwMode="auto">
          <a:xfrm>
            <a:off x="1402976" y="18268699"/>
            <a:ext cx="10972800" cy="822960"/>
          </a:xfrm>
          <a:prstGeom prst="rect">
            <a:avLst/>
          </a:prstGeom>
          <a:gradFill rotWithShape="0">
            <a:gsLst>
              <a:gs pos="0">
                <a:srgbClr val="134679"/>
              </a:gs>
              <a:gs pos="100000">
                <a:srgbClr val="092038"/>
              </a:gs>
            </a:gsLst>
            <a:lin ang="0" scaled="1"/>
          </a:gradFill>
          <a:ln w="19050">
            <a:solidFill>
              <a:srgbClr val="092038"/>
            </a:solidFill>
            <a:miter lim="800000"/>
            <a:headEnd/>
            <a:tailEnd/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txBody>
          <a:bodyPr lIns="457200" rIns="457200" anchor="ctr"/>
          <a:lstStyle>
            <a:defPPr>
              <a:defRPr lang="en-US"/>
            </a:defPPr>
            <a:lvl1pPr>
              <a:tabLst>
                <a:tab pos="1206500" algn="l"/>
              </a:tabLst>
              <a:defRPr sz="4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Relevance</a:t>
            </a:r>
          </a:p>
        </p:txBody>
      </p:sp>
      <p:sp>
        <p:nvSpPr>
          <p:cNvPr id="42" name="Rectangle 533"/>
          <p:cNvSpPr>
            <a:spLocks noChangeArrowheads="1"/>
          </p:cNvSpPr>
          <p:nvPr/>
        </p:nvSpPr>
        <p:spPr bwMode="auto">
          <a:xfrm>
            <a:off x="1402976" y="19091660"/>
            <a:ext cx="10972800" cy="8995276"/>
          </a:xfrm>
          <a:prstGeom prst="rect">
            <a:avLst/>
          </a:prstGeom>
          <a:solidFill>
            <a:srgbClr val="FFFFFF"/>
          </a:solidFill>
          <a:ln w="19050">
            <a:solidFill>
              <a:srgbClr val="092038"/>
            </a:solidFill>
            <a:miter lim="800000"/>
            <a:headEnd/>
            <a:tailEnd/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txBody>
          <a:bodyPr wrap="square" lIns="457200" tIns="365760" rIns="457200" bIns="45720" anchor="t"/>
          <a:lstStyle/>
          <a:p>
            <a:pPr marL="457200" indent="-457200" defTabSz="4273356">
              <a:spcBef>
                <a:spcPts val="327"/>
              </a:spcBef>
              <a:buFont typeface="Arial" panose="020B0604020202020204" pitchFamily="34" charset="0"/>
              <a:buChar char="•"/>
            </a:pP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HAPs are </a:t>
            </a:r>
            <a: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>188 compounds</a:t>
            </a: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 designated by the Environmental Protection Agency (EPA) since 1990.</a:t>
            </a:r>
          </a:p>
          <a:p>
            <a:pPr marL="457200" indent="-457200" defTabSz="4273356">
              <a:spcBef>
                <a:spcPts val="327"/>
              </a:spcBef>
              <a:buFont typeface="Arial" panose="020B0604020202020204" pitchFamily="34" charset="0"/>
              <a:buChar char="•"/>
            </a:pP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EPA regulates HAPs emissions, but (unlike criteria pollutants) there are </a:t>
            </a:r>
            <a: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>no ambient concentration standards </a:t>
            </a: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regarding HAPs exposure.</a:t>
            </a:r>
          </a:p>
          <a:p>
            <a:pPr marL="457200" indent="-457200" defTabSz="4273356">
              <a:spcBef>
                <a:spcPts val="327"/>
              </a:spcBef>
              <a:buFont typeface="Arial" panose="020B0604020202020204" pitchFamily="34" charset="0"/>
              <a:buChar char="•"/>
            </a:pP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The HAPs database combines </a:t>
            </a:r>
            <a: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>monitoring data collected by multitude entities</a:t>
            </a: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: the EPA , other federal, sate, local, and tribal agencies, and other academic, community, and short-term studies.</a:t>
            </a:r>
          </a:p>
          <a:p>
            <a:pPr marL="457200" indent="-457200" defTabSz="4273356">
              <a:spcBef>
                <a:spcPts val="327"/>
              </a:spcBef>
              <a:buFont typeface="Arial" panose="020B0604020202020204" pitchFamily="34" charset="0"/>
              <a:buChar char="•"/>
            </a:pP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There are extensive toxicology data on HAPs </a:t>
            </a:r>
            <a: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>adverse effects</a:t>
            </a: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: cancer, reproductive effects, and birth defects, among others.</a:t>
            </a:r>
          </a:p>
          <a:p>
            <a:pPr marL="457200" indent="-457200" defTabSz="4273356">
              <a:spcBef>
                <a:spcPts val="327"/>
              </a:spcBef>
              <a:buFont typeface="Arial" panose="020B0604020202020204" pitchFamily="34" charset="0"/>
              <a:buChar char="•"/>
            </a:pPr>
            <a: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>We need more exposure and epidemiology studies </a:t>
            </a: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to understand public health impacts of HAPs.</a:t>
            </a:r>
          </a:p>
        </p:txBody>
      </p:sp>
      <p:sp>
        <p:nvSpPr>
          <p:cNvPr id="75" name="Text Box 534"/>
          <p:cNvSpPr txBox="1">
            <a:spLocks noChangeArrowheads="1"/>
          </p:cNvSpPr>
          <p:nvPr/>
        </p:nvSpPr>
        <p:spPr bwMode="auto">
          <a:xfrm>
            <a:off x="1402976" y="28982572"/>
            <a:ext cx="10972800" cy="822960"/>
          </a:xfrm>
          <a:prstGeom prst="rect">
            <a:avLst/>
          </a:prstGeom>
          <a:gradFill rotWithShape="0">
            <a:gsLst>
              <a:gs pos="0">
                <a:srgbClr val="134679"/>
              </a:gs>
              <a:gs pos="100000">
                <a:srgbClr val="092038"/>
              </a:gs>
            </a:gsLst>
            <a:lin ang="0" scaled="1"/>
          </a:gradFill>
          <a:ln w="19050">
            <a:solidFill>
              <a:srgbClr val="092038"/>
            </a:solidFill>
            <a:miter lim="800000"/>
            <a:headEnd/>
            <a:tailEnd/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txBody>
          <a:bodyPr lIns="457200" rIns="457200" anchor="ctr"/>
          <a:lstStyle>
            <a:defPPr>
              <a:defRPr lang="en-US"/>
            </a:defPPr>
            <a:lvl1pPr>
              <a:tabLst>
                <a:tab pos="1206500" algn="l"/>
              </a:tabLst>
              <a:defRPr sz="4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Project Aim and Objectives</a:t>
            </a:r>
          </a:p>
        </p:txBody>
      </p:sp>
      <p:sp>
        <p:nvSpPr>
          <p:cNvPr id="56" name="Rectangle 533"/>
          <p:cNvSpPr>
            <a:spLocks noChangeArrowheads="1"/>
          </p:cNvSpPr>
          <p:nvPr/>
        </p:nvSpPr>
        <p:spPr bwMode="auto">
          <a:xfrm>
            <a:off x="1402976" y="29805519"/>
            <a:ext cx="10972800" cy="8218279"/>
          </a:xfrm>
          <a:prstGeom prst="rect">
            <a:avLst/>
          </a:prstGeom>
          <a:solidFill>
            <a:srgbClr val="FFFFFF"/>
          </a:solidFill>
          <a:ln w="19050">
            <a:solidFill>
              <a:srgbClr val="092038"/>
            </a:solidFill>
            <a:miter lim="800000"/>
            <a:headEnd/>
            <a:tailEnd/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txBody>
          <a:bodyPr wrap="square" lIns="457200" tIns="365760" rIns="457200" bIns="45720" anchor="t"/>
          <a:lstStyle/>
          <a:p>
            <a:pPr algn="just" defTabSz="4273356">
              <a:spcBef>
                <a:spcPts val="600"/>
              </a:spcBef>
              <a:spcAft>
                <a:spcPts val="600"/>
              </a:spcAft>
            </a:pP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This project aims to increase the chemical and space-time coverage for risk assessment from HAPs by designing exposure models for censored outcomes and using the </a:t>
            </a:r>
            <a:r>
              <a:rPr lang="en-US" sz="3600" dirty="0" err="1">
                <a:latin typeface="Calibri" panose="020F0502020204030204" pitchFamily="34" charset="0"/>
                <a:cs typeface="Calibri" panose="020F0502020204030204" pitchFamily="34" charset="0"/>
              </a:rPr>
              <a:t>GeoTox</a:t>
            </a: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 framework</a:t>
            </a:r>
          </a:p>
          <a:p>
            <a:pPr algn="just" defTabSz="4273356">
              <a:spcBef>
                <a:spcPts val="600"/>
              </a:spcBef>
              <a:spcAft>
                <a:spcPts val="600"/>
              </a:spcAft>
            </a:pP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To fulfill this aim, we will:</a:t>
            </a:r>
          </a:p>
          <a:p>
            <a:pPr marL="742950" indent="-742950" defTabSz="4273356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Map </a:t>
            </a:r>
            <a: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>HAPs concentratio</a:t>
            </a: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ns in the United States for recent years</a:t>
            </a:r>
          </a:p>
          <a:p>
            <a:pPr marL="742950" indent="-742950" defTabSz="4273356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Use </a:t>
            </a:r>
            <a: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>novel statistical and computational methods </a:t>
            </a: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for large datasets in multivariate scenarios and missing/censored data</a:t>
            </a:r>
          </a:p>
          <a:p>
            <a:pPr marL="742950" indent="-742950" defTabSz="4273356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Develop an </a:t>
            </a:r>
            <a: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>analysis pipeline </a:t>
            </a: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for easy reproducibility and expansion</a:t>
            </a:r>
          </a:p>
        </p:txBody>
      </p:sp>
      <p:sp>
        <p:nvSpPr>
          <p:cNvPr id="91" name="Text Box 539"/>
          <p:cNvSpPr txBox="1">
            <a:spLocks noChangeArrowheads="1"/>
          </p:cNvSpPr>
          <p:nvPr/>
        </p:nvSpPr>
        <p:spPr bwMode="auto">
          <a:xfrm>
            <a:off x="13832207" y="14131099"/>
            <a:ext cx="10972800" cy="822960"/>
          </a:xfrm>
          <a:prstGeom prst="rect">
            <a:avLst/>
          </a:prstGeom>
          <a:gradFill rotWithShape="0">
            <a:gsLst>
              <a:gs pos="0">
                <a:srgbClr val="134679"/>
              </a:gs>
              <a:gs pos="100000">
                <a:srgbClr val="092038"/>
              </a:gs>
            </a:gsLst>
            <a:lin ang="0" scaled="1"/>
          </a:gradFill>
          <a:ln w="19050">
            <a:solidFill>
              <a:srgbClr val="092038"/>
            </a:solidFill>
            <a:miter lim="800000"/>
            <a:headEnd/>
            <a:tailEnd/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txBody>
          <a:bodyPr lIns="457200" rIns="457200" anchor="ctr"/>
          <a:lstStyle>
            <a:defPPr>
              <a:defRPr lang="en-US"/>
            </a:defPPr>
            <a:lvl1pPr>
              <a:tabLst>
                <a:tab pos="1206500" algn="l"/>
              </a:tabLst>
              <a:defRPr sz="4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HAPs sites in the United States</a:t>
            </a:r>
          </a:p>
        </p:txBody>
      </p:sp>
      <p:sp>
        <p:nvSpPr>
          <p:cNvPr id="90" name="Rectangle 535" descr="&quot;&quot;"/>
          <p:cNvSpPr>
            <a:spLocks noChangeArrowheads="1"/>
          </p:cNvSpPr>
          <p:nvPr/>
        </p:nvSpPr>
        <p:spPr bwMode="auto">
          <a:xfrm>
            <a:off x="13815224" y="14954059"/>
            <a:ext cx="10972800" cy="12993878"/>
          </a:xfrm>
          <a:prstGeom prst="rect">
            <a:avLst/>
          </a:prstGeom>
          <a:solidFill>
            <a:srgbClr val="FFFFFF"/>
          </a:solidFill>
          <a:ln w="19050">
            <a:solidFill>
              <a:srgbClr val="092038"/>
            </a:solidFill>
            <a:miter lim="800000"/>
            <a:headEnd/>
            <a:tailEnd/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txBody>
          <a:bodyPr wrap="square" lIns="457200" tIns="365760" rIns="457200" bIns="45720" anchor="t"/>
          <a:lstStyle/>
          <a:p>
            <a:pPr algn="just" defTabSz="5222875">
              <a:spcBef>
                <a:spcPts val="400"/>
              </a:spcBef>
            </a:pP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Table 1. Site statistics for the pollutants selected on the first phase of modeling.</a:t>
            </a:r>
          </a:p>
          <a:p>
            <a:pPr algn="just" defTabSz="5222875">
              <a:spcBef>
                <a:spcPts val="400"/>
              </a:spcBef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defTabSz="5222875">
              <a:spcBef>
                <a:spcPts val="400"/>
              </a:spcBef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defTabSz="5222875">
              <a:spcBef>
                <a:spcPts val="400"/>
              </a:spcBef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defTabSz="5222875">
              <a:spcBef>
                <a:spcPts val="400"/>
              </a:spcBef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defTabSz="5222875">
              <a:spcBef>
                <a:spcPts val="400"/>
              </a:spcBef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defTabSz="5222875">
              <a:spcBef>
                <a:spcPts val="400"/>
              </a:spcBef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 defTabSz="5222875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We selected Benzene and Hexane for the first phase of modeling, due to their relative abundance of data and measurements above the Minimum detection limit (MDL) </a:t>
            </a:r>
          </a:p>
          <a:p>
            <a:pPr algn="just" defTabSz="5222875">
              <a:spcBef>
                <a:spcPts val="400"/>
              </a:spcBef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defTabSz="5222875">
              <a:spcBef>
                <a:spcPts val="400"/>
              </a:spcBef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defTabSz="5222875">
              <a:spcBef>
                <a:spcPts val="400"/>
              </a:spcBef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defTabSz="5222875">
              <a:spcBef>
                <a:spcPts val="400"/>
              </a:spcBef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defTabSz="5222875">
              <a:spcBef>
                <a:spcPts val="400"/>
              </a:spcBef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defTabSz="5222875">
              <a:spcBef>
                <a:spcPts val="400"/>
              </a:spcBef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defTabSz="5222875">
              <a:spcBef>
                <a:spcPts val="400"/>
              </a:spcBef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defTabSz="5222875">
              <a:spcBef>
                <a:spcPts val="400"/>
              </a:spcBef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defTabSz="5222875">
              <a:spcBef>
                <a:spcPts val="400"/>
              </a:spcBef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defTabSz="5222875">
              <a:spcBef>
                <a:spcPts val="400"/>
              </a:spcBef>
            </a:pPr>
            <a:r>
              <a:rPr lang="en-US" sz="2600" i="1" dirty="0">
                <a:latin typeface="Calibri" panose="020F0502020204030204" pitchFamily="34" charset="0"/>
                <a:cs typeface="Calibri" panose="020F0502020204030204" pitchFamily="34" charset="0"/>
              </a:rPr>
              <a:t>Figure 1. Site locations of HAPs monitoring sites for the year 2021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algn="just" defTabSz="5222875">
              <a:spcBef>
                <a:spcPts val="400"/>
              </a:spcBef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 defTabSz="5222875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There is big spatial heterogeneity in site density, with some cities concentrating most sites while other states have few or no data available. </a:t>
            </a:r>
          </a:p>
          <a:p>
            <a:pPr marL="342900" indent="-342900" algn="just" defTabSz="5222875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There is significant overlap in site locations between chemicals.   </a:t>
            </a:r>
          </a:p>
          <a:p>
            <a:pPr algn="just" defTabSz="5222875">
              <a:spcBef>
                <a:spcPts val="400"/>
              </a:spcBef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Text Box 549"/>
          <p:cNvSpPr txBox="1">
            <a:spLocks noChangeArrowheads="1"/>
          </p:cNvSpPr>
          <p:nvPr/>
        </p:nvSpPr>
        <p:spPr bwMode="auto">
          <a:xfrm>
            <a:off x="13791605" y="28571092"/>
            <a:ext cx="10972800" cy="822960"/>
          </a:xfrm>
          <a:prstGeom prst="rect">
            <a:avLst/>
          </a:prstGeom>
          <a:gradFill rotWithShape="0">
            <a:gsLst>
              <a:gs pos="0">
                <a:srgbClr val="134679"/>
              </a:gs>
              <a:gs pos="100000">
                <a:srgbClr val="092038"/>
              </a:gs>
            </a:gsLst>
            <a:lin ang="0" scaled="1"/>
          </a:gradFill>
          <a:ln w="19050">
            <a:solidFill>
              <a:srgbClr val="092038"/>
            </a:solidFill>
            <a:miter lim="800000"/>
            <a:headEnd/>
            <a:tailEnd/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txBody>
          <a:bodyPr lIns="457200" rIns="457200" anchor="ctr"/>
          <a:lstStyle>
            <a:defPPr>
              <a:defRPr lang="en-US"/>
            </a:defPPr>
            <a:lvl1pPr>
              <a:tabLst>
                <a:tab pos="1206500" algn="l"/>
              </a:tabLst>
              <a:defRPr sz="4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First modeling phase: Texas</a:t>
            </a:r>
          </a:p>
        </p:txBody>
      </p:sp>
      <p:sp>
        <p:nvSpPr>
          <p:cNvPr id="44" name="Rectangle 548" descr="&quot;&quot;"/>
          <p:cNvSpPr>
            <a:spLocks noChangeArrowheads="1"/>
          </p:cNvSpPr>
          <p:nvPr/>
        </p:nvSpPr>
        <p:spPr bwMode="auto">
          <a:xfrm>
            <a:off x="13791605" y="29394052"/>
            <a:ext cx="10972800" cy="8629747"/>
          </a:xfrm>
          <a:prstGeom prst="rect">
            <a:avLst/>
          </a:prstGeom>
          <a:solidFill>
            <a:srgbClr val="FFFFFF"/>
          </a:solidFill>
          <a:ln w="19050">
            <a:solidFill>
              <a:srgbClr val="092038"/>
            </a:solidFill>
            <a:miter lim="800000"/>
            <a:headEnd/>
            <a:tailEnd/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txBody>
          <a:bodyPr wrap="square" lIns="457200" tIns="365760" rIns="457200" bIns="45720" anchor="t"/>
          <a:lstStyle/>
          <a:p>
            <a:pPr marL="457200" indent="-457200" algn="just" defTabSz="5222875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There are 78 sites available Texas, all with measurements for both Benzene and Hexane. </a:t>
            </a:r>
          </a:p>
          <a:p>
            <a:pPr marL="457200" indent="-457200" algn="just" defTabSz="5222875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The overlap between the densities of measured values and minimum detection limit (MDL) correspond with the presence of  censored values (non-detects) in the data.</a:t>
            </a:r>
          </a:p>
          <a:p>
            <a:pPr marL="457200" indent="-457200" algn="just" defTabSz="5222875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 defTabSz="5222875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 defTabSz="5222875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 defTabSz="5222875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 defTabSz="5222875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 defTabSz="5222875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 defTabSz="5222875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defTabSz="5222875">
              <a:spcBef>
                <a:spcPts val="400"/>
              </a:spcBef>
            </a:pPr>
            <a:endParaRPr lang="en-US" sz="2600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defTabSz="5222875">
              <a:spcBef>
                <a:spcPts val="400"/>
              </a:spcBef>
            </a:pPr>
            <a:endParaRPr lang="en-US" sz="2600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defTabSz="5222875">
              <a:spcBef>
                <a:spcPts val="400"/>
              </a:spcBef>
            </a:pPr>
            <a:endParaRPr lang="en-US" sz="2600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defTabSz="5222875">
              <a:spcBef>
                <a:spcPts val="400"/>
              </a:spcBef>
            </a:pPr>
            <a:r>
              <a:rPr lang="en-US" sz="2600" i="1" dirty="0">
                <a:latin typeface="Calibri" panose="020F0502020204030204" pitchFamily="34" charset="0"/>
                <a:cs typeface="Calibri" panose="020F0502020204030204" pitchFamily="34" charset="0"/>
              </a:rPr>
              <a:t>Figure 2. Density of measured values (red) and minimum detection limit (pink) for Hexane (top) and Benzene (bottom) in Texas for 2021.  </a:t>
            </a:r>
          </a:p>
        </p:txBody>
      </p:sp>
      <p:sp>
        <p:nvSpPr>
          <p:cNvPr id="83" name="Text Box 534"/>
          <p:cNvSpPr txBox="1">
            <a:spLocks noChangeArrowheads="1"/>
          </p:cNvSpPr>
          <p:nvPr/>
        </p:nvSpPr>
        <p:spPr bwMode="auto">
          <a:xfrm>
            <a:off x="38830624" y="6584885"/>
            <a:ext cx="10972800" cy="822960"/>
          </a:xfrm>
          <a:prstGeom prst="rect">
            <a:avLst/>
          </a:prstGeom>
          <a:gradFill rotWithShape="0">
            <a:gsLst>
              <a:gs pos="0">
                <a:srgbClr val="134679"/>
              </a:gs>
              <a:gs pos="100000">
                <a:srgbClr val="092038"/>
              </a:gs>
            </a:gsLst>
            <a:lin ang="0" scaled="1"/>
          </a:gradFill>
          <a:ln w="19050">
            <a:solidFill>
              <a:srgbClr val="092038"/>
            </a:solidFill>
            <a:miter lim="800000"/>
            <a:headEnd/>
            <a:tailEnd/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txBody>
          <a:bodyPr lIns="457200" rIns="457200" anchor="ctr"/>
          <a:lstStyle>
            <a:defPPr>
              <a:defRPr lang="en-US"/>
            </a:defPPr>
            <a:lvl1pPr>
              <a:tabLst>
                <a:tab pos="1206500" algn="l"/>
              </a:tabLst>
              <a:defRPr sz="4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Analysis Pipeline Development</a:t>
            </a:r>
          </a:p>
        </p:txBody>
      </p:sp>
      <p:sp>
        <p:nvSpPr>
          <p:cNvPr id="82" name="Rectangle 533" descr="&quot;&quot;"/>
          <p:cNvSpPr>
            <a:spLocks noChangeArrowheads="1"/>
          </p:cNvSpPr>
          <p:nvPr/>
        </p:nvSpPr>
        <p:spPr bwMode="auto">
          <a:xfrm>
            <a:off x="38830624" y="7407845"/>
            <a:ext cx="10972800" cy="12914303"/>
          </a:xfrm>
          <a:prstGeom prst="rect">
            <a:avLst/>
          </a:prstGeom>
          <a:solidFill>
            <a:srgbClr val="FFFFFF"/>
          </a:solidFill>
          <a:ln w="19050">
            <a:solidFill>
              <a:srgbClr val="092038"/>
            </a:solidFill>
            <a:miter lim="800000"/>
            <a:headEnd/>
            <a:tailEnd/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txBody>
          <a:bodyPr wrap="square" lIns="457200" tIns="365760" rIns="457200" bIns="45720" anchor="t"/>
          <a:lstStyle/>
          <a:p>
            <a:pPr marL="342900" indent="-342900" defTabSz="5222875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targets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package in R provides tools to coordinate the workflow of computationally demanding projects. </a:t>
            </a:r>
          </a:p>
          <a:p>
            <a:pPr marL="342900" indent="-342900" defTabSz="5222875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The workflow connects the function blocks as shown in Figure 4, such that in the event of a change to a block, downstream blocks will be automatically updated while upstream blocks are left untouched. </a:t>
            </a:r>
          </a:p>
          <a:p>
            <a:pPr marL="342900" indent="-342900" defTabSz="5222875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The pipeline also streamlines computationally intensive calculations by allowing for </a:t>
            </a:r>
            <a:r>
              <a:rPr 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easy parallelization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of processes by “dynamic branching” and </a:t>
            </a:r>
            <a:r>
              <a:rPr 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space-saving storage 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format options for the data generated. </a:t>
            </a:r>
          </a:p>
          <a:p>
            <a:pPr defTabSz="5222875">
              <a:spcBef>
                <a:spcPts val="400"/>
              </a:spcBef>
            </a:pPr>
            <a:endParaRPr lang="en-US" sz="2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defTabSz="5222875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2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defTabSz="5222875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2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defTabSz="5222875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2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defTabSz="5222875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2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defTabSz="5222875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2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defTabSz="5222875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2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defTabSz="5222875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2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defTabSz="5222875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2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defTabSz="5222875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2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defTabSz="5222875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2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defTabSz="5222875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2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defTabSz="5222875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2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defTabSz="5222875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2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defTabSz="5222875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2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defTabSz="5222875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2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5222875">
              <a:spcBef>
                <a:spcPts val="400"/>
              </a:spcBef>
            </a:pPr>
            <a:endParaRPr lang="en-US" sz="2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5222875">
              <a:spcBef>
                <a:spcPts val="400"/>
              </a:spcBef>
            </a:pP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Figure 4. Diagram of the analysis workflow set up with the R targets framework. Each block represents a function or group of functions, with arrows pointing from upstream to downstream to indicate each block’s dependencies.</a:t>
            </a:r>
          </a:p>
          <a:p>
            <a:pPr marL="342900" indent="-342900" algn="just" defTabSz="5222875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Text Box 539"/>
          <p:cNvSpPr txBox="1">
            <a:spLocks noChangeArrowheads="1"/>
          </p:cNvSpPr>
          <p:nvPr/>
        </p:nvSpPr>
        <p:spPr bwMode="auto">
          <a:xfrm>
            <a:off x="26270792" y="23341966"/>
            <a:ext cx="10972800" cy="822960"/>
          </a:xfrm>
          <a:prstGeom prst="rect">
            <a:avLst/>
          </a:prstGeom>
          <a:gradFill rotWithShape="0">
            <a:gsLst>
              <a:gs pos="0">
                <a:srgbClr val="134679"/>
              </a:gs>
              <a:gs pos="100000">
                <a:srgbClr val="092038"/>
              </a:gs>
            </a:gsLst>
            <a:lin ang="0" scaled="1"/>
          </a:gradFill>
          <a:ln w="19050">
            <a:solidFill>
              <a:srgbClr val="092038"/>
            </a:solidFill>
            <a:miter lim="800000"/>
            <a:headEnd/>
            <a:tailEnd/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txBody>
          <a:bodyPr lIns="457200" rIns="457200" anchor="ctr"/>
          <a:lstStyle>
            <a:defPPr>
              <a:defRPr lang="en-US"/>
            </a:defPPr>
            <a:lvl1pPr>
              <a:tabLst>
                <a:tab pos="1206500" algn="l"/>
              </a:tabLst>
              <a:defRPr sz="4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Initial Results</a:t>
            </a:r>
          </a:p>
        </p:txBody>
      </p:sp>
      <p:sp>
        <p:nvSpPr>
          <p:cNvPr id="46" name="Rectangle 535" descr="&quot;&quot;"/>
          <p:cNvSpPr>
            <a:spLocks noChangeArrowheads="1"/>
          </p:cNvSpPr>
          <p:nvPr/>
        </p:nvSpPr>
        <p:spPr bwMode="auto">
          <a:xfrm>
            <a:off x="26276812" y="24164927"/>
            <a:ext cx="10972800" cy="13858872"/>
          </a:xfrm>
          <a:prstGeom prst="rect">
            <a:avLst/>
          </a:prstGeom>
          <a:solidFill>
            <a:srgbClr val="FFFFFF"/>
          </a:solidFill>
          <a:ln w="19050">
            <a:solidFill>
              <a:srgbClr val="092038"/>
            </a:solidFill>
            <a:miter lim="800000"/>
            <a:headEnd/>
            <a:tailEnd/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txBody>
          <a:bodyPr wrap="square" lIns="457200" tIns="365760" rIns="457200" bIns="45720" anchor="t"/>
          <a:lstStyle/>
          <a:p>
            <a:pPr algn="just" defTabSz="4273356">
              <a:spcBef>
                <a:spcPts val="327"/>
              </a:spcBef>
            </a:pP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Validation Metrics</a:t>
            </a:r>
          </a:p>
          <a:p>
            <a:pPr defTabSz="4273356">
              <a:spcBef>
                <a:spcPts val="327"/>
              </a:spcBef>
            </a:pPr>
            <a:r>
              <a:rPr lang="en-US" sz="2800" u="sng" dirty="0">
                <a:latin typeface="Calibri" panose="020F0502020204030204" pitchFamily="34" charset="0"/>
                <a:cs typeface="Calibri" panose="020F0502020204030204" pitchFamily="34" charset="0"/>
              </a:rPr>
              <a:t>Spatial block cross-validation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(CV), 5–fold</a:t>
            </a:r>
          </a:p>
          <a:p>
            <a:pPr defTabSz="4273356">
              <a:spcBef>
                <a:spcPts val="327"/>
              </a:spcBef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Normalized RMSE results:</a:t>
            </a:r>
          </a:p>
          <a:p>
            <a:pPr marL="457200" indent="-457200" defTabSz="4273356">
              <a:spcBef>
                <a:spcPts val="327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Benzene: 2.2, 1.5, 3.6, 1.5, 1.3</a:t>
            </a:r>
          </a:p>
          <a:p>
            <a:pPr marL="457200" indent="-457200" defTabSz="4273356">
              <a:spcBef>
                <a:spcPts val="327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Hexane: 1.2, 77.5, 0.9, 2.1, 3.0</a:t>
            </a:r>
          </a:p>
          <a:p>
            <a:pPr marL="342900" indent="-342900" defTabSz="4273356">
              <a:spcBef>
                <a:spcPts val="327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Values greater than 1 indicate model over-prediction</a:t>
            </a:r>
          </a:p>
          <a:p>
            <a:pPr marL="342900" indent="-342900" defTabSz="4273356">
              <a:spcBef>
                <a:spcPts val="327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Variability in RMSE indicates potential outlier data in some CV folds</a:t>
            </a:r>
          </a:p>
          <a:p>
            <a:pPr marL="342900" indent="-342900" defTabSz="4273356">
              <a:spcBef>
                <a:spcPts val="327"/>
              </a:spcBef>
              <a:buFont typeface="Arial" panose="020B0604020202020204" pitchFamily="34" charset="0"/>
              <a:buChar char="•"/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4273356">
              <a:spcBef>
                <a:spcPts val="327"/>
              </a:spcBef>
            </a:pP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Prediction Maps</a:t>
            </a:r>
          </a:p>
          <a:p>
            <a:pPr marL="457200" indent="-457200" defTabSz="4273356">
              <a:spcBef>
                <a:spcPts val="327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The prediction is able to capture the influence of spatial patterns in the land use and emissions covariates</a:t>
            </a:r>
          </a:p>
          <a:p>
            <a:pPr marL="457200" indent="-457200" defTabSz="4273356">
              <a:spcBef>
                <a:spcPts val="327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Values show overprediction in comparison to Figure 2</a:t>
            </a:r>
          </a:p>
          <a:p>
            <a:pPr marL="457200" indent="-457200" defTabSz="4273356">
              <a:spcBef>
                <a:spcPts val="327"/>
              </a:spcBef>
              <a:buFont typeface="Arial" panose="020B0604020202020204" pitchFamily="34" charset="0"/>
              <a:buChar char="•"/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defTabSz="4273356">
              <a:spcBef>
                <a:spcPts val="327"/>
              </a:spcBef>
              <a:buFont typeface="Arial" panose="020B0604020202020204" pitchFamily="34" charset="0"/>
              <a:buChar char="•"/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defTabSz="4273356">
              <a:spcBef>
                <a:spcPts val="327"/>
              </a:spcBef>
              <a:buFont typeface="Arial" panose="020B0604020202020204" pitchFamily="34" charset="0"/>
              <a:buChar char="•"/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4273356">
              <a:spcBef>
                <a:spcPts val="327"/>
              </a:spcBef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4273356">
              <a:spcBef>
                <a:spcPts val="327"/>
              </a:spcBef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4273356">
              <a:spcBef>
                <a:spcPts val="327"/>
              </a:spcBef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4273356">
              <a:spcBef>
                <a:spcPts val="327"/>
              </a:spcBef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4273356">
              <a:spcBef>
                <a:spcPts val="327"/>
              </a:spcBef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4273356">
              <a:spcBef>
                <a:spcPts val="327"/>
              </a:spcBef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4273356">
              <a:spcBef>
                <a:spcPts val="327"/>
              </a:spcBef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4273356">
              <a:spcBef>
                <a:spcPts val="327"/>
              </a:spcBef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4273356">
              <a:spcBef>
                <a:spcPts val="327"/>
              </a:spcBef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4273356">
              <a:spcBef>
                <a:spcPts val="327"/>
              </a:spcBef>
            </a:pPr>
            <a:endParaRPr lang="en-US" sz="2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defTabSz="4273356">
              <a:spcBef>
                <a:spcPts val="327"/>
              </a:spcBef>
            </a:pPr>
            <a:r>
              <a:rPr lang="en-US" sz="2600" i="1" dirty="0">
                <a:latin typeface="Calibri" panose="020F0502020204030204" pitchFamily="34" charset="0"/>
                <a:cs typeface="Calibri" panose="020F0502020204030204" pitchFamily="34" charset="0"/>
              </a:rPr>
              <a:t>Figure 3. Yearly average of model predictions for Benzene (top) and Hexane (bottom) in log</a:t>
            </a:r>
            <a:r>
              <a:rPr lang="en-US" sz="2600" i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10 </a:t>
            </a:r>
            <a:r>
              <a:rPr lang="en-US" sz="2600" i="1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l-GR" sz="2600" i="1" dirty="0">
                <a:latin typeface="Calibri" panose="020F0502020204030204" pitchFamily="34" charset="0"/>
                <a:cs typeface="Calibri" panose="020F0502020204030204" pitchFamily="34" charset="0"/>
              </a:rPr>
              <a:t>μ</a:t>
            </a:r>
            <a:r>
              <a:rPr lang="en-US" sz="2600" i="1" dirty="0">
                <a:latin typeface="Calibri" panose="020F0502020204030204" pitchFamily="34" charset="0"/>
                <a:cs typeface="Calibri" panose="020F0502020204030204" pitchFamily="34" charset="0"/>
              </a:rPr>
              <a:t>g/m</a:t>
            </a:r>
            <a:r>
              <a:rPr lang="en-US" sz="2600" i="1" baseline="30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sz="2600" i="1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defTabSz="4273356">
              <a:spcBef>
                <a:spcPts val="327"/>
              </a:spcBef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" name="Text Box 539"/>
          <p:cNvSpPr txBox="1">
            <a:spLocks noChangeArrowheads="1"/>
          </p:cNvSpPr>
          <p:nvPr/>
        </p:nvSpPr>
        <p:spPr bwMode="auto">
          <a:xfrm>
            <a:off x="38798938" y="20722541"/>
            <a:ext cx="10972800" cy="822960"/>
          </a:xfrm>
          <a:prstGeom prst="rect">
            <a:avLst/>
          </a:prstGeom>
          <a:gradFill rotWithShape="0">
            <a:gsLst>
              <a:gs pos="0">
                <a:srgbClr val="134679"/>
              </a:gs>
              <a:gs pos="100000">
                <a:srgbClr val="092038"/>
              </a:gs>
            </a:gsLst>
            <a:lin ang="0" scaled="1"/>
          </a:gradFill>
          <a:ln w="19050">
            <a:solidFill>
              <a:srgbClr val="092038"/>
            </a:solidFill>
            <a:miter lim="800000"/>
            <a:headEnd/>
            <a:tailEnd/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txBody>
          <a:bodyPr lIns="457200" rIns="457200" anchor="ctr"/>
          <a:lstStyle>
            <a:defPPr>
              <a:defRPr lang="en-US"/>
            </a:defPPr>
            <a:lvl1pPr>
              <a:tabLst>
                <a:tab pos="1206500" algn="l"/>
              </a:tabLst>
              <a:defRPr sz="4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Conclusion </a:t>
            </a:r>
          </a:p>
        </p:txBody>
      </p:sp>
      <p:sp>
        <p:nvSpPr>
          <p:cNvPr id="84" name="Rectangle 535"/>
          <p:cNvSpPr>
            <a:spLocks noChangeArrowheads="1"/>
          </p:cNvSpPr>
          <p:nvPr/>
        </p:nvSpPr>
        <p:spPr bwMode="auto">
          <a:xfrm>
            <a:off x="38798938" y="21576425"/>
            <a:ext cx="10972800" cy="5909805"/>
          </a:xfrm>
          <a:prstGeom prst="rect">
            <a:avLst/>
          </a:prstGeom>
          <a:solidFill>
            <a:srgbClr val="FFFFFF"/>
          </a:solidFill>
          <a:ln w="19050">
            <a:solidFill>
              <a:srgbClr val="092038"/>
            </a:solidFill>
            <a:miter lim="800000"/>
            <a:headEnd/>
            <a:tailEnd/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txBody>
          <a:bodyPr wrap="square" lIns="457200" tIns="365760" rIns="457200" bIns="45720" anchor="t"/>
          <a:lstStyle/>
          <a:p>
            <a:pPr marL="420841" indent="-420841" algn="just" defTabSz="4273356">
              <a:spcBef>
                <a:spcPts val="327"/>
              </a:spcBef>
              <a:buFont typeface="+mj-lt"/>
              <a:buAutoNum type="arabicPeriod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We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modeled the concentrations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oft two HAPs in Texas for 2021</a:t>
            </a:r>
          </a:p>
          <a:p>
            <a:pPr marL="420841" indent="-420841" algn="just" defTabSz="4273356">
              <a:spcBef>
                <a:spcPts val="327"/>
              </a:spcBef>
              <a:buFont typeface="+mj-lt"/>
              <a:buAutoNum type="arabicPeriod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We used a small initial set of data and covariates to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develop the analysis pipeline.</a:t>
            </a:r>
          </a:p>
          <a:p>
            <a:pPr marL="420841" indent="-420841" algn="just" defTabSz="4273356">
              <a:spcBef>
                <a:spcPts val="327"/>
              </a:spcBef>
              <a:buFont typeface="+mj-lt"/>
              <a:buAutoNum type="arabicPeriod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Preliminary results show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areas for improvement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841248" lvl="1" indent="-457200" algn="just" defTabSz="4273356">
              <a:spcBef>
                <a:spcPts val="327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Heterogeneity in validation results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 investigate data outliers and rethink cross-validation methods.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41248" lvl="1" indent="-457200" algn="just" defTabSz="4273356">
              <a:spcBef>
                <a:spcPts val="327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Overprediction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 a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ddition of relevant covariates will allow for improvements across chemicals.</a:t>
            </a:r>
          </a:p>
          <a:p>
            <a:pPr marL="420841" indent="-420841" algn="just" defTabSz="4273356">
              <a:spcBef>
                <a:spcPts val="327"/>
              </a:spcBef>
              <a:buFont typeface="+mj-lt"/>
              <a:buAutoNum type="arabicPeriod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The use of our analysis pipeline will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streamline the expansion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of this initial study, increasing computational efficiency and reducing user error.</a:t>
            </a:r>
          </a:p>
        </p:txBody>
      </p:sp>
      <p:sp>
        <p:nvSpPr>
          <p:cNvPr id="55" name="Text Box 549"/>
          <p:cNvSpPr txBox="1">
            <a:spLocks noChangeArrowheads="1"/>
          </p:cNvSpPr>
          <p:nvPr/>
        </p:nvSpPr>
        <p:spPr bwMode="auto">
          <a:xfrm>
            <a:off x="38794456" y="28128117"/>
            <a:ext cx="10972800" cy="822960"/>
          </a:xfrm>
          <a:prstGeom prst="rect">
            <a:avLst/>
          </a:prstGeom>
          <a:gradFill rotWithShape="0">
            <a:gsLst>
              <a:gs pos="0">
                <a:srgbClr val="134679"/>
              </a:gs>
              <a:gs pos="100000">
                <a:srgbClr val="092038"/>
              </a:gs>
            </a:gsLst>
            <a:lin ang="0" scaled="1"/>
          </a:gradFill>
          <a:ln w="19050">
            <a:solidFill>
              <a:srgbClr val="092038"/>
            </a:solidFill>
            <a:miter lim="800000"/>
            <a:headEnd/>
            <a:tailEnd/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txBody>
          <a:bodyPr lIns="457200" rIns="457200" anchor="ctr"/>
          <a:lstStyle>
            <a:defPPr>
              <a:defRPr lang="en-US"/>
            </a:defPPr>
            <a:lvl1pPr>
              <a:tabLst>
                <a:tab pos="1206500" algn="l"/>
              </a:tabLst>
              <a:defRPr sz="4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References</a:t>
            </a:r>
          </a:p>
        </p:txBody>
      </p:sp>
      <p:sp>
        <p:nvSpPr>
          <p:cNvPr id="53" name="Rectangle 548"/>
          <p:cNvSpPr>
            <a:spLocks noChangeArrowheads="1"/>
          </p:cNvSpPr>
          <p:nvPr/>
        </p:nvSpPr>
        <p:spPr bwMode="auto">
          <a:xfrm>
            <a:off x="38794456" y="28955115"/>
            <a:ext cx="10972800" cy="4852561"/>
          </a:xfrm>
          <a:prstGeom prst="rect">
            <a:avLst/>
          </a:prstGeom>
          <a:solidFill>
            <a:srgbClr val="FFFFFF"/>
          </a:solidFill>
          <a:ln w="19050">
            <a:solidFill>
              <a:srgbClr val="092038"/>
            </a:solidFill>
            <a:miter lim="800000"/>
            <a:headEnd/>
            <a:tailEnd/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txBody>
          <a:bodyPr wrap="square" lIns="457200" tIns="365760" rIns="457200" bIns="45720" anchor="t"/>
          <a:lstStyle/>
          <a:p>
            <a:pPr marL="457200" indent="-457200" algn="just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Bair E, Kidd B, Wimberley E, Mav D, Messier K (2024). 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PrestoGP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: Penalized Regression for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Spatio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-Temporal Outcomes via Gaussian Processes. R package version 0.2.0.9036, https://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niehs.github.io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PrestoGP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/.</a:t>
            </a:r>
          </a:p>
          <a:p>
            <a:pPr marL="457200" indent="-457200" algn="just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Climate and Health Outcomes Research Data System (CHORDS). https://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www.niehs.nih.gov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/research/programs/chords. </a:t>
            </a:r>
          </a:p>
          <a:p>
            <a:pPr marL="457200" indent="-457200" algn="just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Landau WM (2021). “The targets R package: a dynamic Make-like function-oriented pipeline toolkit for reproducibility and high-performance computing.” Journal of Open Source Software, 6(57), 2959. https://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doi.org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/10.21105/joss.02959.</a:t>
            </a:r>
          </a:p>
          <a:p>
            <a:pPr marL="457200" indent="-457200" algn="just">
              <a:spcBef>
                <a:spcPts val="0"/>
              </a:spcBef>
              <a:spcAft>
                <a:spcPts val="0"/>
              </a:spcAft>
            </a:pP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Manware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M, Song I, Marques E,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Alifa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Kassien M, Messier K (2024). 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amadeus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: Accessing and Analyzing Large-Scale Environmental Data. R package version 1.2.0, https://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niehs.github.io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amadeus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/.</a:t>
            </a:r>
          </a:p>
          <a:p>
            <a:pPr marL="457200" marR="0" indent="-457200" algn="just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Messier KP,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Katzfuss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M. Scalable penalized spatiotemporal land-use regression for ground-level nitrogen dioxide. Ann Appl Stat. 2021 Jun;15(2):688-710.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doi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: 10.1214/20-aoas1422.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Epub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2021 Jul 12. PMID: 35069963; PMCID: PMC8774268.</a:t>
            </a:r>
          </a:p>
          <a:p>
            <a:pPr algn="just" defTabSz="5222875">
              <a:spcBef>
                <a:spcPts val="400"/>
              </a:spcBef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Text Box 549"/>
          <p:cNvSpPr txBox="1">
            <a:spLocks noChangeArrowheads="1"/>
          </p:cNvSpPr>
          <p:nvPr/>
        </p:nvSpPr>
        <p:spPr bwMode="auto">
          <a:xfrm>
            <a:off x="38794456" y="34449563"/>
            <a:ext cx="10972800" cy="822960"/>
          </a:xfrm>
          <a:prstGeom prst="rect">
            <a:avLst/>
          </a:prstGeom>
          <a:gradFill rotWithShape="0">
            <a:gsLst>
              <a:gs pos="0">
                <a:srgbClr val="134679"/>
              </a:gs>
              <a:gs pos="100000">
                <a:srgbClr val="092038"/>
              </a:gs>
            </a:gsLst>
            <a:lin ang="0" scaled="1"/>
          </a:gradFill>
          <a:ln w="19050">
            <a:solidFill>
              <a:srgbClr val="092038"/>
            </a:solidFill>
            <a:miter lim="800000"/>
            <a:headEnd/>
            <a:tailEnd/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txBody>
          <a:bodyPr lIns="457200" rIns="457200" anchor="ctr"/>
          <a:lstStyle>
            <a:defPPr>
              <a:defRPr lang="en-US"/>
            </a:defPPr>
            <a:lvl1pPr>
              <a:tabLst>
                <a:tab pos="1206500" algn="l"/>
              </a:tabLst>
              <a:defRPr sz="4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Acknowledgments</a:t>
            </a:r>
          </a:p>
        </p:txBody>
      </p:sp>
      <p:sp>
        <p:nvSpPr>
          <p:cNvPr id="51" name="Rectangle 548"/>
          <p:cNvSpPr>
            <a:spLocks noChangeArrowheads="1"/>
          </p:cNvSpPr>
          <p:nvPr/>
        </p:nvSpPr>
        <p:spPr bwMode="auto">
          <a:xfrm>
            <a:off x="38798938" y="35280600"/>
            <a:ext cx="1097280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92038"/>
            </a:solidFill>
            <a:miter lim="800000"/>
            <a:headEnd/>
            <a:tailEnd/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txBody>
          <a:bodyPr wrap="square" lIns="457200" tIns="365760" rIns="457200" bIns="45720" anchor="t"/>
          <a:lstStyle/>
          <a:p>
            <a:pPr algn="just" defTabSz="5222875">
              <a:spcBef>
                <a:spcPts val="400"/>
              </a:spcBef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We acknowledge the following groups and agencies for their support of this project: </a:t>
            </a:r>
          </a:p>
          <a:p>
            <a:pPr marL="342900" indent="-342900" algn="just" defTabSz="5222875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The {SET} research group</a:t>
            </a:r>
          </a:p>
          <a:p>
            <a:pPr marL="342900" indent="-342900" algn="just" defTabSz="5222875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The Biostatistics and Computational Biology Branch </a:t>
            </a:r>
          </a:p>
          <a:p>
            <a:pPr marL="342900" indent="-342900" algn="just" defTabSz="5222875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The Predictive Toxicology Branch</a:t>
            </a:r>
          </a:p>
          <a:p>
            <a:pPr marL="342900" indent="-342900" algn="just" defTabSz="5222875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This work is part of the CHORDS project, funded by by the Office of the Secretary’s Patient-Centered Outcomes Research Trust Fund (OS-PCORTF).</a:t>
            </a:r>
          </a:p>
          <a:p>
            <a:pPr marL="342900" indent="-342900" algn="just" defTabSz="5222875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0" name="Picture 49" descr="National Institutes of Health • U.S. Department of Health and Human Sciences">
            <a:extLst>
              <a:ext uri="{FF2B5EF4-FFF2-40B4-BE49-F238E27FC236}">
                <a16:creationId xmlns:a16="http://schemas.microsoft.com/office/drawing/2014/main" id="{6FC1BCC6-9ABA-4571-A9FD-93ED35D585E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0" y="38850418"/>
            <a:ext cx="14630400" cy="3925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889CE19-2684-EFB5-F9A7-4049ACBE54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28904" y="11183871"/>
            <a:ext cx="10663121" cy="7178040"/>
          </a:xfrm>
          <a:prstGeom prst="rect">
            <a:avLst/>
          </a:prstGeom>
        </p:spPr>
      </p:pic>
      <p:sp>
        <p:nvSpPr>
          <p:cNvPr id="25" name="Text Box 539">
            <a:extLst>
              <a:ext uri="{FF2B5EF4-FFF2-40B4-BE49-F238E27FC236}">
                <a16:creationId xmlns:a16="http://schemas.microsoft.com/office/drawing/2014/main" id="{89800D6E-FF85-3685-3BC3-12B248E3BB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32207" y="6593533"/>
            <a:ext cx="10972800" cy="822960"/>
          </a:xfrm>
          <a:prstGeom prst="rect">
            <a:avLst/>
          </a:prstGeom>
          <a:gradFill rotWithShape="0">
            <a:gsLst>
              <a:gs pos="0">
                <a:srgbClr val="134679"/>
              </a:gs>
              <a:gs pos="100000">
                <a:srgbClr val="092038"/>
              </a:gs>
            </a:gsLst>
            <a:lin ang="0" scaled="1"/>
          </a:gradFill>
          <a:ln w="19050">
            <a:solidFill>
              <a:srgbClr val="092038"/>
            </a:solidFill>
            <a:miter lim="800000"/>
            <a:headEnd/>
            <a:tailEnd/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txBody>
          <a:bodyPr lIns="457200" rIns="457200" anchor="ctr"/>
          <a:lstStyle>
            <a:defPPr>
              <a:defRPr lang="en-US"/>
            </a:defPPr>
            <a:lvl1pPr>
              <a:tabLst>
                <a:tab pos="1206500" algn="l"/>
              </a:tabLst>
              <a:defRPr sz="4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Dataset Challenges</a:t>
            </a:r>
          </a:p>
        </p:txBody>
      </p:sp>
      <p:sp>
        <p:nvSpPr>
          <p:cNvPr id="26" name="Rectangle 535" descr="&quot;&quot;">
            <a:extLst>
              <a:ext uri="{FF2B5EF4-FFF2-40B4-BE49-F238E27FC236}">
                <a16:creationId xmlns:a16="http://schemas.microsoft.com/office/drawing/2014/main" id="{0A0361A8-970E-4F52-79CE-75203FAC2E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5224" y="7361540"/>
            <a:ext cx="10972800" cy="6106769"/>
          </a:xfrm>
          <a:prstGeom prst="rect">
            <a:avLst/>
          </a:prstGeom>
          <a:solidFill>
            <a:srgbClr val="FFFFFF"/>
          </a:solidFill>
          <a:ln w="19050">
            <a:solidFill>
              <a:srgbClr val="092038"/>
            </a:solidFill>
            <a:miter lim="800000"/>
            <a:headEnd/>
            <a:tailEnd/>
          </a:ln>
          <a:effectLst>
            <a:outerShdw blurRad="127000" dist="127000" dir="2700000" algn="tl" rotWithShape="0">
              <a:prstClr val="black">
                <a:alpha val="40000"/>
              </a:prstClr>
            </a:outerShdw>
          </a:effectLst>
        </p:spPr>
        <p:txBody>
          <a:bodyPr wrap="square" lIns="457200" tIns="365760" rIns="457200" bIns="45720" anchor="t"/>
          <a:lstStyle/>
          <a:p>
            <a:pPr indent="-457200"/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1. Sparsity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in both space and time: few sites, most not sampled daily</a:t>
            </a:r>
          </a:p>
          <a:p>
            <a:pPr indent="-457200"/>
            <a:r>
              <a:rPr lang="en-US" sz="320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2. Inhomogeneous sampling methods </a:t>
            </a:r>
            <a:r>
              <a:rPr lang="en-US" sz="32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and frequency: data combined from different agencies</a:t>
            </a:r>
          </a:p>
          <a:p>
            <a:pPr indent="-457200"/>
            <a:r>
              <a:rPr lang="en-US" sz="32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3. </a:t>
            </a:r>
            <a:r>
              <a:rPr lang="en-US" sz="320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Censored data </a:t>
            </a:r>
            <a:r>
              <a:rPr lang="en-US" sz="320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at sub-daily measurement scales: </a:t>
            </a:r>
            <a:r>
              <a:rPr lang="en-US" sz="32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need special considerations for daily average computation (censored MLE)</a:t>
            </a:r>
          </a:p>
          <a:p>
            <a:pPr indent="-457200"/>
            <a:r>
              <a:rPr lang="en-US" sz="32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4. </a:t>
            </a:r>
            <a:r>
              <a:rPr lang="en-US" sz="320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Diversity of chemical classes: 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v</a:t>
            </a:r>
            <a:r>
              <a:rPr lang="en-US" sz="32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ariety of effects of chemistry, physics, sources, and health effects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indent="-457200"/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5. </a:t>
            </a:r>
            <a:r>
              <a:rPr lang="en-US" sz="3200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Computationally complex </a:t>
            </a:r>
            <a:r>
              <a:rPr lang="en-US" sz="3200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modeling: simultaneous fitting for multiple HAPs and a large number of covariates</a:t>
            </a: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913AFF23-6BAB-A95C-D597-5A035A8CAE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33339" y="19941345"/>
            <a:ext cx="10711563" cy="4363322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2F95E6CB-BC73-BC29-1B62-9CB59D020C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391805" y="15799473"/>
            <a:ext cx="7772400" cy="2518431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600649E3-DCA4-7D55-DFB5-26A1864C81F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154400" y="32360413"/>
            <a:ext cx="7416800" cy="4178300"/>
          </a:xfrm>
          <a:prstGeom prst="rect">
            <a:avLst/>
          </a:prstGeom>
        </p:spPr>
      </p:pic>
      <p:grpSp>
        <p:nvGrpSpPr>
          <p:cNvPr id="80" name="Group 79">
            <a:extLst>
              <a:ext uri="{FF2B5EF4-FFF2-40B4-BE49-F238E27FC236}">
                <a16:creationId xmlns:a16="http://schemas.microsoft.com/office/drawing/2014/main" id="{073CA4FC-6DBF-C180-E9D0-3AABCB009AFE}"/>
              </a:ext>
            </a:extLst>
          </p:cNvPr>
          <p:cNvGrpSpPr/>
          <p:nvPr/>
        </p:nvGrpSpPr>
        <p:grpSpPr>
          <a:xfrm>
            <a:off x="23890788" y="6552756"/>
            <a:ext cx="15902725" cy="15877354"/>
            <a:chOff x="23766420" y="22146445"/>
            <a:chExt cx="15902725" cy="15877354"/>
          </a:xfrm>
        </p:grpSpPr>
        <p:sp>
          <p:nvSpPr>
            <p:cNvPr id="79" name="Text Box 539"/>
            <p:cNvSpPr txBox="1">
              <a:spLocks noChangeArrowheads="1"/>
            </p:cNvSpPr>
            <p:nvPr/>
          </p:nvSpPr>
          <p:spPr bwMode="auto">
            <a:xfrm>
              <a:off x="26171645" y="22146445"/>
              <a:ext cx="10972800" cy="822960"/>
            </a:xfrm>
            <a:prstGeom prst="rect">
              <a:avLst/>
            </a:prstGeom>
            <a:gradFill rotWithShape="0">
              <a:gsLst>
                <a:gs pos="0">
                  <a:srgbClr val="134679"/>
                </a:gs>
                <a:gs pos="100000">
                  <a:srgbClr val="092038"/>
                </a:gs>
              </a:gsLst>
              <a:lin ang="0" scaled="1"/>
            </a:gradFill>
            <a:ln w="19050">
              <a:solidFill>
                <a:srgbClr val="092038"/>
              </a:solidFill>
              <a:miter lim="800000"/>
              <a:headEnd/>
              <a:tailEnd/>
            </a:ln>
            <a:effectLst>
              <a:outerShdw blurRad="127000" dist="1270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457200" rIns="457200" anchor="ctr"/>
            <a:lstStyle>
              <a:defPPr>
                <a:defRPr lang="en-US"/>
              </a:defPPr>
              <a:lvl1pPr>
                <a:tabLst>
                  <a:tab pos="1206500" algn="l"/>
                </a:tabLst>
                <a:defRPr sz="4000" b="1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Model equations</a:t>
              </a:r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5C1A6BDB-4E1E-5A4C-FB7F-64B1252A8AE6}"/>
                </a:ext>
              </a:extLst>
            </p:cNvPr>
            <p:cNvGrpSpPr/>
            <p:nvPr/>
          </p:nvGrpSpPr>
          <p:grpSpPr>
            <a:xfrm>
              <a:off x="23766420" y="22969405"/>
              <a:ext cx="15902725" cy="15054394"/>
              <a:chOff x="23926990" y="16949606"/>
              <a:chExt cx="15902725" cy="15054394"/>
            </a:xfrm>
          </p:grpSpPr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C0E393F7-FBAE-C557-225B-57E3FF66C04F}"/>
                  </a:ext>
                </a:extLst>
              </p:cNvPr>
              <p:cNvGrpSpPr/>
              <p:nvPr/>
            </p:nvGrpSpPr>
            <p:grpSpPr>
              <a:xfrm>
                <a:off x="23926990" y="16949606"/>
                <a:ext cx="15902725" cy="15054394"/>
                <a:chOff x="23922133" y="17552796"/>
                <a:chExt cx="15902725" cy="15054394"/>
              </a:xfrm>
            </p:grpSpPr>
            <p:sp>
              <p:nvSpPr>
                <p:cNvPr id="76" name="Rectangle 535" descr="&quot;&quot;"/>
                <p:cNvSpPr>
                  <a:spLocks noChangeArrowheads="1"/>
                </p:cNvSpPr>
                <p:nvPr/>
              </p:nvSpPr>
              <p:spPr bwMode="auto">
                <a:xfrm>
                  <a:off x="26323158" y="17552796"/>
                  <a:ext cx="10972800" cy="15054394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92038"/>
                  </a:solidFill>
                  <a:miter lim="800000"/>
                  <a:headEnd/>
                  <a:tailEnd/>
                </a:ln>
                <a:effectLst>
                  <a:outerShdw blurRad="127000" dist="1270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lIns="457200" tIns="365760" rIns="457200" bIns="45720" anchor="t"/>
                <a:lstStyle/>
                <a:p>
                  <a:pPr algn="just" defTabSz="5222875">
                    <a:spcBef>
                      <a:spcPts val="400"/>
                    </a:spcBef>
                  </a:pPr>
                  <a:endParaRPr lang="en-US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59211F2B-CAD0-5CCC-6547-13F9778C16CB}"/>
                    </a:ext>
                  </a:extLst>
                </p:cNvPr>
                <p:cNvSpPr txBox="1"/>
                <p:nvPr/>
              </p:nvSpPr>
              <p:spPr>
                <a:xfrm>
                  <a:off x="23922133" y="17882884"/>
                  <a:ext cx="15902725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defTabSz="4273356">
                    <a:spcBef>
                      <a:spcPts val="327"/>
                    </a:spcBef>
                  </a:pPr>
                  <a:r>
                    <a:rPr lang="en-US" sz="36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Multivariate, Penalized, Land-Use Regression Model </a:t>
                  </a:r>
                </a:p>
              </p:txBody>
            </p:sp>
            <p:pic>
              <p:nvPicPr>
                <p:cNvPr id="10" name="Picture 9" descr="A black and white symbol&#10;&#10;Description automatically generated with medium confidence">
                  <a:extLst>
                    <a:ext uri="{FF2B5EF4-FFF2-40B4-BE49-F238E27FC236}">
                      <a16:creationId xmlns:a16="http://schemas.microsoft.com/office/drawing/2014/main" id="{0C9FA813-7999-3985-508B-6EB3AF2F7BE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0651030" y="20697251"/>
                  <a:ext cx="5295660" cy="700564"/>
                </a:xfrm>
                <a:prstGeom prst="rect">
                  <a:avLst/>
                </a:prstGeom>
              </p:spPr>
            </p:pic>
            <p:pic>
              <p:nvPicPr>
                <p:cNvPr id="11" name="Picture 10" descr="A black letter e&#10;&#10;Description automatically generated">
                  <a:extLst>
                    <a:ext uri="{FF2B5EF4-FFF2-40B4-BE49-F238E27FC236}">
                      <a16:creationId xmlns:a16="http://schemas.microsoft.com/office/drawing/2014/main" id="{2F8E0BBC-611B-1C31-D484-FB4AE672F46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1049811" y="18936184"/>
                  <a:ext cx="5334000" cy="700564"/>
                </a:xfrm>
                <a:prstGeom prst="rect">
                  <a:avLst/>
                </a:prstGeom>
              </p:spPr>
            </p:pic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8A8E80DB-9D36-E7F1-A579-BB1336954200}"/>
                    </a:ext>
                  </a:extLst>
                </p:cNvPr>
                <p:cNvSpPr txBox="1"/>
                <p:nvPr/>
              </p:nvSpPr>
              <p:spPr>
                <a:xfrm>
                  <a:off x="26570164" y="18840794"/>
                  <a:ext cx="4205427" cy="92333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defTabSz="4273356">
                    <a:spcBef>
                      <a:spcPts val="327"/>
                    </a:spcBef>
                  </a:pPr>
                  <a:r>
                    <a:rPr lang="en-US" sz="26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Land-use regression between pollutants </a:t>
                  </a:r>
                  <a:r>
                    <a:rPr lang="en-US" sz="2800" b="1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z</a:t>
                  </a:r>
                  <a:r>
                    <a:rPr lang="en-US" sz="26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and covariates </a:t>
                  </a:r>
                  <a:r>
                    <a:rPr lang="en-US" sz="2800" b="1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X</a:t>
                  </a:r>
                  <a:r>
                    <a:rPr lang="en-US" sz="2800" dirty="0"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:</a:t>
                  </a:r>
                  <a:r>
                    <a:rPr lang="en-US" sz="26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  </a:t>
                  </a: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07341BA-30F8-5766-B9D0-9890EF320EB6}"/>
                    </a:ext>
                  </a:extLst>
                </p:cNvPr>
                <p:cNvSpPr txBox="1"/>
                <p:nvPr/>
              </p:nvSpPr>
              <p:spPr>
                <a:xfrm>
                  <a:off x="34725229" y="19689774"/>
                  <a:ext cx="2324115" cy="70788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defTabSz="457200" fontAlgn="auto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2000" dirty="0">
                      <a:solidFill>
                        <a:srgbClr val="C0000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Spatiotemporally correlated residuals</a:t>
                  </a:r>
                  <a:endParaRPr lang="en-US" sz="2000" kern="0" dirty="0">
                    <a:solidFill>
                      <a:srgbClr val="C00000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641C80C1-25F7-1F7A-4768-5A381FB02ACC}"/>
                    </a:ext>
                  </a:extLst>
                </p:cNvPr>
                <p:cNvSpPr txBox="1"/>
                <p:nvPr/>
              </p:nvSpPr>
              <p:spPr>
                <a:xfrm>
                  <a:off x="26743762" y="20675980"/>
                  <a:ext cx="4205427" cy="89255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defTabSz="4273356">
                    <a:spcBef>
                      <a:spcPts val="327"/>
                    </a:spcBef>
                  </a:pPr>
                  <a:r>
                    <a:rPr lang="en-US" sz="26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Expressed as Multivariate Gaussian density:</a:t>
                  </a:r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0619551C-8F57-D447-DCD4-24904AA1BE7B}"/>
                    </a:ext>
                  </a:extLst>
                </p:cNvPr>
                <p:cNvSpPr txBox="1"/>
                <p:nvPr/>
              </p:nvSpPr>
              <p:spPr>
                <a:xfrm>
                  <a:off x="26743762" y="22258851"/>
                  <a:ext cx="11071654" cy="49244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defTabSz="4273356">
                    <a:spcBef>
                      <a:spcPts val="327"/>
                    </a:spcBef>
                  </a:pPr>
                  <a:r>
                    <a:rPr lang="en-US" sz="26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To solve, we need to optimize the objective function:</a:t>
                  </a:r>
                </a:p>
              </p:txBody>
            </p:sp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EAD6E4E4-5DA3-7185-F700-823C164AA9A1}"/>
                    </a:ext>
                  </a:extLst>
                </p:cNvPr>
                <p:cNvGrpSpPr/>
                <p:nvPr/>
              </p:nvGrpSpPr>
              <p:grpSpPr>
                <a:xfrm>
                  <a:off x="27838605" y="22985000"/>
                  <a:ext cx="7315200" cy="1179334"/>
                  <a:chOff x="14371330" y="27663144"/>
                  <a:chExt cx="7315200" cy="1179334"/>
                </a:xfrm>
              </p:grpSpPr>
              <p:pic>
                <p:nvPicPr>
                  <p:cNvPr id="19" name="Picture 18">
                    <a:extLst>
                      <a:ext uri="{FF2B5EF4-FFF2-40B4-BE49-F238E27FC236}">
                        <a16:creationId xmlns:a16="http://schemas.microsoft.com/office/drawing/2014/main" id="{F526B21B-2A7F-2A21-0D6B-DA6AD685C6A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1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r="52000"/>
                  <a:stretch/>
                </p:blipFill>
                <p:spPr>
                  <a:xfrm>
                    <a:off x="14371330" y="27663144"/>
                    <a:ext cx="7315200" cy="822261"/>
                  </a:xfrm>
                  <a:prstGeom prst="rect">
                    <a:avLst/>
                  </a:prstGeom>
                </p:spPr>
              </p:pic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C7D93BEF-DF63-133E-FC8C-D02535775CC0}"/>
                      </a:ext>
                    </a:extLst>
                  </p:cNvPr>
                  <p:cNvSpPr txBox="1"/>
                  <p:nvPr/>
                </p:nvSpPr>
                <p:spPr>
                  <a:xfrm>
                    <a:off x="17457460" y="28349821"/>
                    <a:ext cx="1279513" cy="492443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defTabSz="4273356">
                      <a:spcBef>
                        <a:spcPts val="327"/>
                      </a:spcBef>
                    </a:pPr>
                    <a:r>
                      <a:rPr lang="en-US" sz="2600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density</a:t>
                    </a:r>
                  </a:p>
                </p:txBody>
              </p:sp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FD8E7990-2097-5C20-497E-956F089E621E}"/>
                      </a:ext>
                    </a:extLst>
                  </p:cNvPr>
                  <p:cNvSpPr txBox="1"/>
                  <p:nvPr/>
                </p:nvSpPr>
                <p:spPr>
                  <a:xfrm>
                    <a:off x="20026331" y="28350035"/>
                    <a:ext cx="1279513" cy="492443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defTabSz="4273356">
                      <a:spcBef>
                        <a:spcPts val="327"/>
                      </a:spcBef>
                    </a:pPr>
                    <a:r>
                      <a:rPr lang="en-US" sz="2600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penalty</a:t>
                    </a:r>
                  </a:p>
                </p:txBody>
              </p:sp>
            </p:grp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0B59B48E-90D9-73CE-248D-CA1B58FCD4C8}"/>
                    </a:ext>
                  </a:extLst>
                </p:cNvPr>
                <p:cNvSpPr/>
                <p:nvPr/>
              </p:nvSpPr>
              <p:spPr>
                <a:xfrm>
                  <a:off x="35614166" y="18929608"/>
                  <a:ext cx="567804" cy="741940"/>
                </a:xfrm>
                <a:prstGeom prst="ellipse">
                  <a:avLst/>
                </a:prstGeom>
                <a:noFill/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49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" name="TextBox 22">
                      <a:extLst>
                        <a:ext uri="{FF2B5EF4-FFF2-40B4-BE49-F238E27FC236}">
                          <a16:creationId xmlns:a16="http://schemas.microsoft.com/office/drawing/2014/main" id="{CA47F083-60BF-2A1C-9B8B-E166E6875E8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200873" y="25782519"/>
                      <a:ext cx="9451328" cy="2906501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r>
                        <a:rPr lang="en-US" sz="2600" b="1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Problem</a:t>
                      </a:r>
                      <a:r>
                        <a:rPr lang="en-US" sz="2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2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evaluation of </a:t>
                      </a:r>
                      <a14:m>
                        <m:oMath xmlns:m="http://schemas.openxmlformats.org/officeDocument/2006/math">
                          <m:r>
                            <a:rPr lang="en-US" sz="26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𝑛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×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𝑛</m:t>
                          </m:r>
                        </m:oMath>
                      </a14:m>
                      <a:r>
                        <a:rPr lang="en-US" sz="2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covariance matrix 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sz="2600" b="1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2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𝚺</m:t>
                              </m:r>
                            </m:e>
                            <m:sub>
                              <m:r>
                                <a:rPr lang="en-US" sz="2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𝜽</m:t>
                              </m:r>
                            </m:sub>
                          </m:sSub>
                        </m:oMath>
                      </a14:m>
                      <a:r>
                        <a:rPr lang="en-US" sz="2600" i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takes </a:t>
                      </a:r>
                      <a14:m>
                        <m:oMath xmlns:m="http://schemas.openxmlformats.org/officeDocument/2006/math">
                          <m:r>
                            <a:rPr lang="en-US" sz="2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𝒪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oMath>
                      </a14:m>
                      <a:r>
                        <a:rPr lang="en-US" sz="2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time for each</a:t>
                      </a:r>
                      <a:r>
                        <a:rPr lang="en-US" sz="2600" b="1" dirty="0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 </a:t>
                      </a:r>
                      <a14:m>
                        <m:oMath xmlns:m="http://schemas.openxmlformats.org/officeDocument/2006/math">
                          <m:r>
                            <a:rPr lang="en-US" sz="2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𝜽</m:t>
                          </m:r>
                        </m:oMath>
                      </a14:m>
                      <a:r>
                        <a:rPr lang="en-US" sz="2600" b="1" dirty="0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600" dirty="0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Wingdings" pitchFamily="2" charset="2"/>
                        </a:rPr>
                        <a:t></a:t>
                      </a:r>
                      <a:r>
                        <a:rPr lang="en-US" sz="2600" b="1" dirty="0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Wingdings" pitchFamily="2" charset="2"/>
                        </a:rPr>
                        <a:t> </a:t>
                      </a:r>
                      <a:r>
                        <a:rPr lang="en-US" sz="2600" dirty="0">
                          <a:latin typeface="Calibri" panose="020F0502020204030204" pitchFamily="34" charset="0"/>
                          <a:ea typeface="Cambria Math" panose="02040503050406030204" pitchFamily="18" charset="0"/>
                          <a:cs typeface="Calibri" panose="020F0502020204030204" pitchFamily="34" charset="0"/>
                          <a:sym typeface="Wingdings" pitchFamily="2" charset="2"/>
                        </a:rPr>
                        <a:t>computationally infeasible</a:t>
                      </a:r>
                      <a:endParaRPr lang="en-US" sz="2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endParaRPr lang="en-US" sz="2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n-US" sz="2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Solution: </a:t>
                      </a:r>
                      <a:r>
                        <a:rPr lang="en-US" sz="2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use sparse approximation</a:t>
                      </a:r>
                      <a:r>
                        <a:rPr lang="en-US" sz="2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14:m>
                        <m:oMath xmlns:m="http://schemas.openxmlformats.org/officeDocument/2006/math">
                          <m:acc>
                            <m:accPr>
                              <m:chr m:val="̂"/>
                              <m:ctrlPr>
                                <a:rPr lang="en-US" sz="2600" b="1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accPr>
                            <m:e>
                              <m:r>
                                <a:rPr lang="en-US" sz="2600" b="1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𝑸</m:t>
                              </m:r>
                            </m:e>
                          </m:acc>
                          <m:r>
                            <a:rPr lang="en-US" sz="26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(</m:t>
                          </m:r>
                          <m:r>
                            <a:rPr lang="en-US" sz="2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𝜷</m:t>
                          </m:r>
                          <m:r>
                            <a:rPr lang="en-US" sz="2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,</m:t>
                          </m:r>
                          <m:r>
                            <a:rPr lang="en-US" sz="2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𝜽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)</m:t>
                          </m:r>
                        </m:oMath>
                      </a14:m>
                      <a:r>
                        <a:rPr lang="en-US" sz="2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obtained through </a:t>
                      </a:r>
                      <a:r>
                        <a:rPr lang="en-US" sz="2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Sparse General </a:t>
                      </a:r>
                      <a:r>
                        <a:rPr lang="en-US" sz="2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Vecchia</a:t>
                      </a:r>
                      <a:r>
                        <a:rPr lang="en-US" sz="2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Approximation</a:t>
                      </a:r>
                    </a:p>
                    <a:p>
                      <a:r>
                        <a:rPr lang="en-US" sz="2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(Messier and </a:t>
                      </a:r>
                      <a:r>
                        <a:rPr lang="en-US" sz="26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Katzfuss</a:t>
                      </a:r>
                      <a:r>
                        <a:rPr lang="en-US" sz="2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 2021)</a:t>
                      </a:r>
                    </a:p>
                    <a:p>
                      <a:pPr algn="ctr" defTabSz="457200" fontAlgn="auto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600" b="1" kern="0" dirty="0"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23" name="TextBox 22">
                      <a:extLst>
                        <a:ext uri="{FF2B5EF4-FFF2-40B4-BE49-F238E27FC236}">
                          <a16:creationId xmlns:a16="http://schemas.microsoft.com/office/drawing/2014/main" id="{CA47F083-60BF-2A1C-9B8B-E166E6875E8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7200873" y="25782519"/>
                      <a:ext cx="9451328" cy="2906501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 l="-1208" t="-130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pic>
              <p:nvPicPr>
                <p:cNvPr id="24" name="Picture 23">
                  <a:extLst>
                    <a:ext uri="{FF2B5EF4-FFF2-40B4-BE49-F238E27FC236}">
                      <a16:creationId xmlns:a16="http://schemas.microsoft.com/office/drawing/2014/main" id="{63F03020-FD05-FC00-9D7F-76DE9ACAC1D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8000" t="1" b="-3876"/>
                <a:stretch/>
              </p:blipFill>
              <p:spPr>
                <a:xfrm>
                  <a:off x="28021890" y="24321165"/>
                  <a:ext cx="7924800" cy="854127"/>
                </a:xfrm>
                <a:prstGeom prst="rect">
                  <a:avLst/>
                </a:prstGeom>
              </p:spPr>
            </p:pic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900C0F63-40F1-8DE2-66AE-079607D8988A}"/>
                    </a:ext>
                  </a:extLst>
                </p:cNvPr>
                <p:cNvSpPr/>
                <p:nvPr/>
              </p:nvSpPr>
              <p:spPr>
                <a:xfrm>
                  <a:off x="29754160" y="24153576"/>
                  <a:ext cx="838170" cy="1103647"/>
                </a:xfrm>
                <a:prstGeom prst="ellipse">
                  <a:avLst/>
                </a:prstGeom>
                <a:noFill/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49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099DDCE8-EE7E-12DF-EB72-FDA17A473421}"/>
                  </a:ext>
                </a:extLst>
              </p:cNvPr>
              <p:cNvSpPr txBox="1"/>
              <p:nvPr/>
            </p:nvSpPr>
            <p:spPr>
              <a:xfrm>
                <a:off x="26828860" y="28118296"/>
                <a:ext cx="9929069" cy="34778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 defTabSz="4273356">
                  <a:spcBef>
                    <a:spcPts val="327"/>
                  </a:spcBef>
                </a:pPr>
                <a:r>
                  <a:rPr lang="en-US" sz="28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Covariates used in first phase:</a:t>
                </a:r>
              </a:p>
              <a:p>
                <a:pPr marL="342900" indent="-342900" algn="just" defTabSz="4273356">
                  <a:spcBef>
                    <a:spcPts val="327"/>
                  </a:spcBef>
                  <a:buFont typeface="Arial" panose="020B0604020202020204" pitchFamily="34" charset="0"/>
                  <a:buChar char="•"/>
                </a:pPr>
                <a:r>
                  <a:rPr lang="en-US" sz="2600" b="1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Gridmet</a:t>
                </a:r>
                <a:r>
                  <a:rPr lang="en-US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– daily, 4km resolution meteorology</a:t>
                </a:r>
                <a:r>
                  <a:rPr lang="en-US" sz="26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:r>
                  <a:rPr lang="en-US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wind speed and direction, temperature, precipitation, specific humidity, radiation</a:t>
                </a:r>
              </a:p>
              <a:p>
                <a:pPr marL="342900" indent="-342900" algn="just" defTabSz="4273356">
                  <a:spcBef>
                    <a:spcPts val="327"/>
                  </a:spcBef>
                  <a:buFont typeface="Arial" panose="020B0604020202020204" pitchFamily="34" charset="0"/>
                  <a:buChar char="•"/>
                </a:pPr>
                <a:r>
                  <a:rPr lang="en-US" sz="26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Toxic Release Inventory </a:t>
                </a:r>
                <a:r>
                  <a:rPr lang="en-US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(TRI) – yearly emissions of toxic pollutants</a:t>
                </a:r>
              </a:p>
              <a:p>
                <a:pPr marL="342900" indent="-342900" algn="just" defTabSz="4273356">
                  <a:spcBef>
                    <a:spcPts val="327"/>
                  </a:spcBef>
                  <a:buFont typeface="Arial" panose="020B0604020202020204" pitchFamily="34" charset="0"/>
                  <a:buChar char="•"/>
                </a:pPr>
                <a:r>
                  <a:rPr lang="en-US" sz="26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National Land Cover </a:t>
                </a:r>
                <a:r>
                  <a:rPr lang="en-US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Database (NLCD) – yearly land use classification</a:t>
                </a:r>
              </a:p>
              <a:p>
                <a:pPr algn="just" defTabSz="4273356">
                  <a:spcBef>
                    <a:spcPts val="327"/>
                  </a:spcBef>
                </a:pPr>
                <a:r>
                  <a:rPr lang="en-US" sz="2600" u="sng" dirty="0">
                    <a:latin typeface="Calibri" panose="020F0502020204030204" pitchFamily="34" charset="0"/>
                    <a:cs typeface="Calibri" panose="020F0502020204030204" pitchFamily="34" charset="0"/>
                  </a:rPr>
                  <a:t>Future covariates</a:t>
                </a:r>
                <a:r>
                  <a:rPr lang="en-US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National Emissions Inventory, satellite-based meteorology and emissions (MODIS), population, road density, reanalysis meteorology (NARR)</a:t>
                </a:r>
              </a:p>
            </p:txBody>
          </p:sp>
        </p:grp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C5DFF1C2-8D09-3E15-2329-C00A7844A44F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r="3174"/>
          <a:stretch/>
        </p:blipFill>
        <p:spPr>
          <a:xfrm>
            <a:off x="26316197" y="31094363"/>
            <a:ext cx="10738933" cy="42620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B2B2B2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D5D5D5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21572</TotalTime>
  <Words>1343</Words>
  <Application>Microsoft Macintosh PowerPoint</Application>
  <PresentationFormat>Custom</PresentationFormat>
  <Paragraphs>147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Cambria Math</vt:lpstr>
      <vt:lpstr>Times New Roman</vt:lpstr>
      <vt:lpstr>Default Design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Dark Blue Poster Presentation Example</dc:title>
  <dc:creator>Green, David (NIH/NIEHS) [C]</dc:creator>
  <cp:keywords>Dark Blue Poster Presentation Example</cp:keywords>
  <cp:lastModifiedBy>Kassien, Mariana (NIH/NIEHS) [F]</cp:lastModifiedBy>
  <cp:revision>348</cp:revision>
  <cp:lastPrinted>2012-07-20T15:29:25Z</cp:lastPrinted>
  <dcterms:created xsi:type="dcterms:W3CDTF">2003-10-13T17:00:32Z</dcterms:created>
  <dcterms:modified xsi:type="dcterms:W3CDTF">2025-04-30T14:08:55Z</dcterms:modified>
  <cp:category>Dark Blue Poster Presentation Example</cp:category>
</cp:coreProperties>
</file>